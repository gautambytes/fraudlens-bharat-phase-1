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0d9122577141f1" /><Relationship Type="http://schemas.openxmlformats.org/officeDocument/2006/relationships/extended-properties" Target="/docProps/app.xml" Id="Rc533637a67ec4c7d" /><Relationship Type="http://schemas.openxmlformats.org/officeDocument/2006/relationships/officeDocument" Target="/ppt/presentation.xml" Id="R3d4c5939e63646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66397a43514252"/>
  </p:sldMasterIdLst>
  <p:notesMasterIdLst>
    <p:notesMasterId xmlns:r="http://schemas.openxmlformats.org/officeDocument/2006/relationships" r:id="R6b14b101e34d47d2"/>
  </p:notesMasterIdLst>
  <p:sldIdLst>
    <p:sldId xmlns:r="http://schemas.openxmlformats.org/officeDocument/2006/relationships" id="256" r:id="Rcf52a19b607e48d0"/>
    <p:sldId xmlns:r="http://schemas.openxmlformats.org/officeDocument/2006/relationships" id="257" r:id="Rcd3acaf4649c47a6"/>
    <p:sldId xmlns:r="http://schemas.openxmlformats.org/officeDocument/2006/relationships" id="258" r:id="R6387b04f5dc1445a"/>
    <p:sldId xmlns:r="http://schemas.openxmlformats.org/officeDocument/2006/relationships" id="259" r:id="Rc4c2e5806c344863"/>
    <p:sldId xmlns:r="http://schemas.openxmlformats.org/officeDocument/2006/relationships" id="260" r:id="Rc54f5790216e4c23"/>
    <p:sldId xmlns:r="http://schemas.openxmlformats.org/officeDocument/2006/relationships" id="261" r:id="R5e514ef195ab4e6f"/>
    <p:sldId xmlns:r="http://schemas.openxmlformats.org/officeDocument/2006/relationships" id="262" r:id="R018c3cb50fdc429b"/>
    <p:sldId xmlns:r="http://schemas.openxmlformats.org/officeDocument/2006/relationships" id="263" r:id="R89ed1b1221dd4ea6"/>
    <p:sldId xmlns:r="http://schemas.openxmlformats.org/officeDocument/2006/relationships" id="264" r:id="Rffe298636d3d4fdc"/>
    <p:sldId xmlns:r="http://schemas.openxmlformats.org/officeDocument/2006/relationships" id="265" r:id="Rd1c041cfd4164a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d2517364ee4665" /><Relationship Type="http://schemas.openxmlformats.org/officeDocument/2006/relationships/slideMaster" Target="/ppt/slideMasters/slideMaster1.xml" Id="Rf766397a43514252" /><Relationship Type="http://schemas.openxmlformats.org/officeDocument/2006/relationships/notesMaster" Target="/ppt/notesMasters/notesMaster1.xml" Id="R6b14b101e34d47d2" /><Relationship Type="http://schemas.openxmlformats.org/officeDocument/2006/relationships/presProps" Target="/ppt/presProps.xml" Id="Rb2a34982ca704b42" /><Relationship Type="http://schemas.openxmlformats.org/officeDocument/2006/relationships/viewProps" Target="/ppt/viewProps.xml" Id="R1c2df6c1233b4367" /><Relationship Type="http://schemas.openxmlformats.org/officeDocument/2006/relationships/tableStyles" Target="/ppt/tableStyles.xml" Id="Rf5f772093b5f42df" /><Relationship Type="http://schemas.openxmlformats.org/officeDocument/2006/relationships/slide" Target="/ppt/slides/slide1.xml" Id="Rcf52a19b607e48d0" /><Relationship Type="http://schemas.openxmlformats.org/officeDocument/2006/relationships/slide" Target="/ppt/slides/slide2.xml" Id="Rcd3acaf4649c47a6" /><Relationship Type="http://schemas.openxmlformats.org/officeDocument/2006/relationships/slide" Target="/ppt/slides/slide3.xml" Id="R6387b04f5dc1445a" /><Relationship Type="http://schemas.openxmlformats.org/officeDocument/2006/relationships/slide" Target="/ppt/slides/slide4.xml" Id="Rc4c2e5806c344863" /><Relationship Type="http://schemas.openxmlformats.org/officeDocument/2006/relationships/slide" Target="/ppt/slides/slide5.xml" Id="Rc54f5790216e4c23" /><Relationship Type="http://schemas.openxmlformats.org/officeDocument/2006/relationships/slide" Target="/ppt/slides/slide6.xml" Id="R5e514ef195ab4e6f" /><Relationship Type="http://schemas.openxmlformats.org/officeDocument/2006/relationships/slide" Target="/ppt/slides/slide7.xml" Id="R018c3cb50fdc429b" /><Relationship Type="http://schemas.openxmlformats.org/officeDocument/2006/relationships/slide" Target="/ppt/slides/slide8.xml" Id="R89ed1b1221dd4ea6" /><Relationship Type="http://schemas.openxmlformats.org/officeDocument/2006/relationships/slide" Target="/ppt/slides/slide9.xml" Id="Rffe298636d3d4fdc" /><Relationship Type="http://schemas.openxmlformats.org/officeDocument/2006/relationships/slide" Target="/ppt/slides/slide10.xml" Id="Rd1c041cfd4164a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a8e30c3f9f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3f28f5d22244a1" /><Relationship Type="http://schemas.openxmlformats.org/officeDocument/2006/relationships/notesMaster" Target="/ppt/notesMasters/notesMaster1.xml" Id="R1956e69c70004e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f16efd348b4173" /><Relationship Type="http://schemas.openxmlformats.org/officeDocument/2006/relationships/notesMaster" Target="/ppt/notesMasters/notesMaster1.xml" Id="R0448fbd9af704c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842eaeb17f4fdb" /><Relationship Type="http://schemas.openxmlformats.org/officeDocument/2006/relationships/notesMaster" Target="/ppt/notesMasters/notesMaster1.xml" Id="R9cf7b1ab2dcc4d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08b439a54a4611" /><Relationship Type="http://schemas.openxmlformats.org/officeDocument/2006/relationships/notesMaster" Target="/ppt/notesMasters/notesMaster1.xml" Id="R14875db678fd49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2ec18b7fc14ab8" /><Relationship Type="http://schemas.openxmlformats.org/officeDocument/2006/relationships/notesMaster" Target="/ppt/notesMasters/notesMaster1.xml" Id="Re98e10b3ba4b40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0d047dfd9b4994" /><Relationship Type="http://schemas.openxmlformats.org/officeDocument/2006/relationships/notesMaster" Target="/ppt/notesMasters/notesMaster1.xml" Id="R7a295441980b45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2ed21d67554f25" /><Relationship Type="http://schemas.openxmlformats.org/officeDocument/2006/relationships/notesMaster" Target="/ppt/notesMasters/notesMaster1.xml" Id="R17ea153e75704c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e73c897cd44eeb" /><Relationship Type="http://schemas.openxmlformats.org/officeDocument/2006/relationships/notesMaster" Target="/ppt/notesMasters/notesMaster1.xml" Id="Ra5e4daa36bde49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b2adafb86b4406" /><Relationship Type="http://schemas.openxmlformats.org/officeDocument/2006/relationships/notesMaster" Target="/ppt/notesMasters/notesMaster1.xml" Id="R4d4058f20efd4b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65a7f008794ea2" /><Relationship Type="http://schemas.openxmlformats.org/officeDocument/2006/relationships/notesMaster" Target="/ppt/notesMasters/notesMaster1.xml" Id="R6c1463d75b9048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4f955f41244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44b10fd7de406f" /><Relationship Type="http://schemas.openxmlformats.org/officeDocument/2006/relationships/slideLayout" Target="/ppt/slideLayouts/slideLayout1.xml" Id="R0977482157934b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77482157934b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def6bcc3b4ebf" /><Relationship Type="http://schemas.openxmlformats.org/officeDocument/2006/relationships/notesSlide" Target="/ppt/notesSlides/notesSlide1.xml" Id="Rb7a81509a84340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e12c2f62d4a4d" /><Relationship Type="http://schemas.openxmlformats.org/officeDocument/2006/relationships/notesSlide" Target="/ppt/notesSlides/notesSlide2.xml" Id="Rfbb1805f80ad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62dc7a39e4955" /><Relationship Type="http://schemas.openxmlformats.org/officeDocument/2006/relationships/notesSlide" Target="/ppt/notesSlides/notesSlide3.xml" Id="R9a797cc647bb4c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fc05c9ba84b8c" /><Relationship Type="http://schemas.openxmlformats.org/officeDocument/2006/relationships/notesSlide" Target="/ppt/notesSlides/notesSlide4.xml" Id="R0280f8e18ee745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ffbb649544ba2" /><Relationship Type="http://schemas.openxmlformats.org/officeDocument/2006/relationships/notesSlide" Target="/ppt/notesSlides/notesSlide5.xml" Id="R2944e3d357a04b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2da3966b347f4" /><Relationship Type="http://schemas.openxmlformats.org/officeDocument/2006/relationships/image" Target="/ppt/media/image.jpeg" Id="R6a71937d0ad14327" /><Relationship Type="http://schemas.openxmlformats.org/officeDocument/2006/relationships/notesSlide" Target="/ppt/notesSlides/notesSlide6.xml" Id="R446ee79421154c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2e60c633241d4" /><Relationship Type="http://schemas.openxmlformats.org/officeDocument/2006/relationships/image" Target="/ppt/media/image.png" Id="Reed47edfc5924d7b" /><Relationship Type="http://schemas.openxmlformats.org/officeDocument/2006/relationships/notesSlide" Target="/ppt/notesSlides/notesSlide7.xml" Id="Re0bf65bea3ee48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c4d39c85846d6" /><Relationship Type="http://schemas.openxmlformats.org/officeDocument/2006/relationships/image" Target="/ppt/media/image2.png" Id="R2032cc2e92fa4f98" /><Relationship Type="http://schemas.openxmlformats.org/officeDocument/2006/relationships/image" Target="/ppt/media/image2.jpeg" Id="R4ba830a49be744c5" /><Relationship Type="http://schemas.openxmlformats.org/officeDocument/2006/relationships/notesSlide" Target="/ppt/notesSlides/notesSlide8.xml" Id="Rc0406193780b41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b827a98ca4e32" /><Relationship Type="http://schemas.openxmlformats.org/officeDocument/2006/relationships/notesSlide" Target="/ppt/notesSlides/notesSlide9.xml" Id="Raa0d6d5d75454f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3f21a4aad414b" /><Relationship Type="http://schemas.openxmlformats.org/officeDocument/2006/relationships/notesSlide" Target="/ppt/notesSlides/notesSlide10.xml" Id="R7e640adf4dd142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4E8279-54C2-4D1E-96F6-F41C957E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F5F5D-EE4B-4A63-8C97-99A8DE94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A1136-B159-4AAD-86D2-6CA3E51E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4F899-00C6-48A8-A089-EFC210A1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CAPSTONE PHASE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2896B-3C25-4816-B063-9242F723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76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FraudLens Bharat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F3402-41AD-42B8-AD18-8CB96680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8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9E8FF"/>
                </a:solidFill>
                <a:latin typeface="Aptos"/>
                <a:ea typeface="Aptos"/>
                <a:cs typeface="Aptos"/>
              </a:rPr>
              <a:t>AI-based Hinglish cyber-fraud detection and complaint triage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CDA9C-67C7-4F37-89A5-21244D8A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609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4D2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4D2E1"/>
                </a:solidFill>
                <a:latin typeface="Aptos"/>
                <a:ea typeface="Aptos"/>
                <a:cs typeface="Aptos"/>
              </a:rPr>
              <a:t>Phase 1 proves the core software loop: paste suspicious text, classify scam type, extract evidence, score risk, and generate a complaint-ready summary.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08F1A-66D8-40D9-AFF2-34B8DB58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19150"/>
            <a:ext cx="1695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AF10D-C963-4786-8234-2E83CE8E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191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44A66-D73D-4CEA-BB5B-D21BCF2D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90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93AE7-D9ED-4E0E-A641-45CB31B3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097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fraud classes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E5AF8-3B7F-4D5A-A885-BC3E8F27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335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KYC, OTP, fake job, loan, courier, digital arrest and more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A53E4-9A45-41B5-A860-84516001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19150"/>
            <a:ext cx="1695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0630C-00DB-4FC1-9E86-F8E2CE35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191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19235-4F19-4602-A28B-50303D7F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90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58C05-05D6-43CB-8F23-718E6FE6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097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macro-F1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73A24-6F45-45A6-9E95-AAF23B17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7335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hybrid baseline on synthetic split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EC0E6-977E-411C-B356-E7594F88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1695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1F8A6-5040-4E0C-9A3E-70DC081F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AF006-FD79-4BE7-AA1A-A75E24D2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384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C3B9D-0DC0-40E4-A4E5-5068F3C8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tests passed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AF413-75F4-4B95-BA53-539F5F18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813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unit and API test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50742-12EA-48CA-A3C5-B602F3CB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695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46C9B-BD02-40C6-87CF-6F48F940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321216-36F5-4BB5-8638-6A53431B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384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D818C-6D8A-4909-B5E9-AABC5627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interfaces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92184-CF07-4FC5-8024-0BAB6709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813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FastAPI backend plus Streamlit 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96818-12DF-49AE-B569-6570BC36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9742C1-78A5-47DB-BD1A-E86671A2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8FF"/>
                </a:solidFill>
                <a:latin typeface="Aptos"/>
                <a:ea typeface="Aptos"/>
                <a:cs typeface="Aptos"/>
              </a:rPr>
              <a:t>Gautam Manchandani | Student ID: 2023EBCS209</a:t>
            </a:r>
          </a:p>
          <a:p xmlns:a="http://schemas.openxmlformats.org/drawingml/2006/main">
            <a:pPr algn="l">
              <a:defRPr sz="1200" b="0">
                <a:solidFill>
                  <a:srgbClr val="D9E8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8FF"/>
                </a:solidFill>
                <a:latin typeface="Aptos"/>
                <a:ea typeface="Aptos"/>
                <a:cs typeface="Aptos"/>
              </a:rPr>
              <a:t>BITS Pilani | Supervisor: Dr. Ashok Yemineni | Academic Year 2025-2026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3B9F73-03C4-4642-9B06-C4C653DA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76875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3C5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3C5FF"/>
                </a:solidFill>
                <a:latin typeface="Aptos"/>
                <a:ea typeface="Aptos"/>
                <a:cs typeface="Aptos"/>
              </a:rPr>
              <a:t>github.com/GautamBytes/fraudlens-bharat-phase-1</a:t>
            </a:r>
          </a:p>
        </p:txBody>
      </p:sp>
    </p:spTree>
    <p:extLst>
      <p:ext uri="{BB962C8B-B14F-4D97-AF65-F5344CB8AC3E}">
        <p14:creationId xmlns:p14="http://schemas.microsoft.com/office/powerpoint/2010/main" val="18228331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ECE89C-9193-4D95-9DBE-8E0672D2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57998-B9EB-4E26-936A-3AEC0770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AB653-8201-45F3-B423-04BA43F1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Problem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0DCAD-AB2E-4056-A4F6-204A6B69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96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github.com/GautamBytes/fraudlens-bharat-phase-1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493F2-FC6D-46E8-9866-288FFDC0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511AA-7CE2-4688-96F7-911DA3C9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Indian cyber-fraud evidence is messy before it becomes a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22DF8-747E-4082-9BD9-5E120A85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user usually has a mixed-language message, a phone number or URL, and fear-driven urgency - not a clean English complaint.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4574F-026D-4DAC-B4A0-D2D950B9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3295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1E392-3178-430C-8B7E-F89429EE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3295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7E8C0-1A07-47ED-A251-37E32BC8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Mixed-language NLP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180AD-8756-49EB-A883-D60DE558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Scam messages often combine Hindi, English, Hinglish slang, abbreviations, and intentional spelling mistakes.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89999-9F55-494B-8183-B42E1AD7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62150"/>
            <a:ext cx="3295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B4225-B0DC-44F7-94C1-4C067FEA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62150"/>
            <a:ext cx="3295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4AD91-3BDB-44A6-A688-1D61DDA3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Evidence gets lost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6D12A-2326-4B36-9832-F01E0E0B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Victims may miss phone numbers, UPI IDs, URLs, email IDs, OTP-like codes, amounts, threats, and urgency signals.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C742D-E655-4CA5-BFBA-343397F1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295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DDD09-A060-4A4E-A7F6-BDE6D80B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295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3E28E-9207-475C-9495-1136CEC7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Reporting friction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42B12-BA2A-4D72-98C2-46B2A098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Before filing, users need a structured summary that explains what happened and what identifiers were present.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A99D7-8A44-4CD0-B1F9-799DDFDB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1A321-6618-4E5A-9C92-82D794F0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Typical raw 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A9E37-2397-431E-9B80-8CC3DD71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Dear customer, aapka KYC expire ho gaya. Account block hone se bachne ke liye abhi http://bit.ly/kycfast par verify karein. OTP share mat karo bolke phir call pe code maangte hain.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0D254-A168-4AE5-AD1D-730F1732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495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664CB3-373A-4158-9EB6-DED415B2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672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What Phase 1 turns it into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47552-1E4A-4F69-AB2D-E1AF89CF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8C3B5-75C6-4478-B189-2E9D18AC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9625"/>
            <a:ext cx="3733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Scam type: KYC scam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9104C-826C-4BF8-8C50-BE6E281D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3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A7843-62F6-4F76-9F87-AA2A048A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86325"/>
            <a:ext cx="3733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Entities: URL + urgency + account threat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213627-F6F5-417A-8EBA-E0EC40A3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19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2491A9-3E22-44BC-ADA4-9C2CDBD6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53025"/>
            <a:ext cx="3733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Risk: high, with explanation reasons</a:t>
            </a:r>
          </a:p>
        </p:txBody>
      </p:sp>
    </p:spTree>
    <p:extLst>
      <p:ext uri="{BB962C8B-B14F-4D97-AF65-F5344CB8AC3E}">
        <p14:creationId xmlns:p14="http://schemas.microsoft.com/office/powerpoint/2010/main" val="11230639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D8004-9464-41ED-9486-7DF16EEA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F5B6D-85D2-434F-9793-43B789E8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FC6E7-A4D5-48F2-8086-960A7F48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Research grounding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F05F4-3BE2-43D5-8F8D-4F6CE7B6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96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github.com/GautamBytes/fraudlens-bharat-phase-1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C8ADA-AEDD-49BA-9E5B-8A2C8D6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RESEARCH BASIS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3C167-A10C-46F1-9FED-55ED006B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project is framed as a research-backed software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F246D-7E7D-40E7-B72C-890D11A5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Phase 1 converts published motivation into measurable baseline modules rather than attempting a flashy but unstable demo.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C6C1E-6A00-4645-B0D9-6E9E9C8A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2291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B596B-9C9E-44F0-8B51-073B9360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22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99E0C-B42B-4FC0-AA20-971D9308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Design choices backed by literature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692B4-C2D0-463F-877D-F1A63919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384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B5061-0FA5-4288-A640-BBBC8EF1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1D5BC-137B-4AEE-A98A-ED450C91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28925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it shapes Phase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0651A-27E4-4FD6-856F-958EC621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384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5BD60-E569-4B09-8B6A-F5A10C67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99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NCRP / I4C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FE32E-844C-44CA-BFE8-BF50FA1D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09925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Focus on complaint triage and structured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E4118-D84E-4E11-BCD0-A9A133EA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384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8C08F-1062-41FF-A9B6-F9B33016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Hinglish cybercrime NLP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6CDB5-7882-485E-A4AF-CF2AD9CF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90925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Support Hinglish/Hindi/English text, not only English.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A2BF6-E96E-4B46-A42D-02F5EAF6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384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C542B-19FF-43CC-97F3-C27F8882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Phishing URL detection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0CD7E-1506-4979-9A47-A23C5848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71925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Add URL heuristics alongside text classification.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02E03-A6F9-42CD-A676-30C78DCE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384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E69BC-4AA3-4DCA-8809-F329CB2A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Explainable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F1A7F-D032-4217-B95F-D8AD9B80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52925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Return reasons, not only a label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F1100-95F0-4781-B400-460F4A2B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53149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6344B-239A-4793-A53E-36474CFE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5314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6BC4B4-28CE-41C0-850F-B03CFE17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098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Phase 1 research question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09C923-DB89-4B6B-920E-76FC672E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24150"/>
            <a:ext cx="457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Can a lightweight, explainable software pipeline classify common Indian cyber-fraud messages and extract complaint-ready evidence from mixed-language text?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B0A840-3248-4E13-BF22-448B2E7F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909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33359E-EFED-4E71-86D3-83E2117E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38600"/>
            <a:ext cx="453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Success is measured through classifier metrics, entity extraction behavior, URL risk reasons, API reliability, dashboard usability, and reproducible demo cases.</a:t>
            </a:r>
          </a:p>
        </p:txBody>
      </p:sp>
    </p:spTree>
    <p:extLst>
      <p:ext uri="{BB962C8B-B14F-4D97-AF65-F5344CB8AC3E}">
        <p14:creationId xmlns:p14="http://schemas.microsoft.com/office/powerpoint/2010/main" val="12149055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4D08C7-D98A-4ABE-BCA7-4BBBDACA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C68CC-6498-4934-B7DE-02FF2C00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F187C-FC19-40CA-A919-93378C2C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E94C8-6781-4FB3-B381-A6912FDE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96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github.com/GautamBytes/fraudlens-bharat-phase-1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B5ADD-C2FB-4E51-8D29-6B07C0C2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CEA16-746A-417B-9185-CE1DAD3A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Phase 1 is a complete end-to-end software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2F636-81EF-491C-AC5D-2F189264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dashboard and API call the same analysis pipeline, so demo behavior is reproducible across UI and backend.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FED71-AB77-4A5D-9F8A-675A2530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581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37AFD-2D26-4295-A5F1-EE234B77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40E06-7298-4E32-9D84-6BB68E35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User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22D93-C01A-4705-A331-54D0DF5E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Pasted SMS, WhatsApp, email, or suspicious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A3ACB-37A7-4193-B98D-0195316F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1657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73136-098D-4FA4-A2B8-7F3C1825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1657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F4565-9D4F-4067-B961-B05D0CC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907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0AF8F-B06A-4C62-9073-D9AF9E3E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Normalize whitespace, lowercase, preserve URLs, UPI IDs, phones.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79403-F494-496D-82A4-FA8D32A3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1657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B58E2-86FD-434A-88D0-A5B1F94D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1657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5483E-8BAC-4F4C-B7AF-1F772CF3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907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Parallel signals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8EA85-E964-4576-ADC5-3459CB34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TF-IDF classifier, entity extraction, URL heuristics.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5A7F3-1821-4371-BCB4-632C1094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1657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EAA23-D145-4CBD-841D-1E7F4632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1657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F1A310-C3E0-4637-AA0B-59182063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Risk scoring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4605B-0DA2-48FE-B8A2-3190A07D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955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Combine confidence, URL risk, entity and urgency signals.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C252D-D93A-4DB0-8A66-9723519A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1847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A4341-5767-4B10-97B2-31A94D05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F76C24-ECAC-45DF-BED7-ECC3C684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204742-EB00-4A29-88AB-485C898A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95550"/>
            <a:ext cx="1581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Risk, label, entities, reasons, complaint draft, case history.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1D3A9C-4747-407E-A78F-E9AB375F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622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9E9786-3C25-4BEF-8C19-83FB655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479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F293E6-927D-485A-8895-B53660C9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622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95411B-091D-44F9-8E43-C92C4F10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479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5F8668-BEAC-4FDC-98EE-98E645AF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622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43DF90-9F26-4F97-9364-D10DF53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B67BDD-CB96-48A7-8859-48FE7CE3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622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4DCE10-155B-4B34-A124-5BDF221E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479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06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F919F3-35A7-47BB-9E04-66CDC40E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2247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391F36-8C3F-4690-8F08-9A7B783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2247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CCE9DB-DB9C-44A3-8625-E392A962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576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FastAPI backend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5C1EA5-2989-4620-AEEB-341F055E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1981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GET /health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POST /analyze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GET /cases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GET /cases/{id}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D2C8F3-9B67-4243-ADF2-51DD36F2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05250"/>
            <a:ext cx="2247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9B9A0A-A789-4252-9EEA-2E185C1E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05250"/>
            <a:ext cx="2247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D4D489-A339-4BB4-8A10-EA4EE598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576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SQLite storage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8EA148-9E4B-439F-8FE3-761A92D3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62450"/>
            <a:ext cx="1981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Stores analyzed cases, prediction, risk level, extracted entities, timestamp.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C53B32-385D-4997-8F39-A76BCC9E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2819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9CF7B8-D173-40FF-B729-5E97266E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2819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BE768D-20C8-48C7-87B3-B46163EF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57650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Streamlit dashboard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586670-9167-4254-BDBD-FE8B7462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62450"/>
            <a:ext cx="2552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Demo buttons, message analysis, entity table, reasons, recent history, complaint-ready summary.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E13C3E-EC19-4C77-BE6F-31D90B29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Phase 1 deliberately excludes OCR, transformer fine-tuning, graph analytics, and screenshot analysis; those are Phase 2 extensions after the core loop is stable.</a:t>
            </a:r>
          </a:p>
        </p:txBody>
      </p:sp>
    </p:spTree>
    <p:extLst>
      <p:ext uri="{BB962C8B-B14F-4D97-AF65-F5344CB8AC3E}">
        <p14:creationId xmlns:p14="http://schemas.microsoft.com/office/powerpoint/2010/main" val="16314270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0CDD0E-5EAE-4637-8FDF-FC32700E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F9159-50C5-44E6-9685-21E8978F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669DF-1B95-4FE4-8B0F-BBE276BD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Implementation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A880C-00ED-4F33-92EB-ADF1F80E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96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github.com/GautamBytes/fraudlens-bharat-phase-1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9483E-260E-41E5-B0D6-000C22DE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IMPLEMENTED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BBA0B-DC1F-4FBC-9080-3EFE71CA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Phase 1 is not only UI - it includes data, ML, API, storage, tests, and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1E9A4-856F-4FB5-9343-8311035B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repo is structured so every claimed capability maps to a module or reproducible artifact.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43597-5BA3-4813-B738-127A8A84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A1C52-86AE-4205-98DB-78594F01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177AE-D213-451E-A030-2C7411E9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308F9-2265-42E1-B568-C8CFF2B3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seed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6AA91-C378-4E2C-80BB-9F56E22D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Runs full training and demo 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96333-7D7B-46A7-8FC8-96DD679A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859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808AE-7C55-4447-8404-81B6A99D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859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0E9CE-17F9-4404-821C-96A09083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574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660BA-E097-4466-AEB5-46B8B014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label taxonomy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D93BA-9326-45BD-83C4-E0AD2173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003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Common Indian cyber-fraud categories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1C524-E0B3-456E-87BE-10E1E045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859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9B389-EC44-422C-8A00-9918959F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859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5B6E8-4F62-467F-9922-C749E72D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574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D288B-470F-4461-9EE9-E9E85415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demo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9420F-5DE9-4890-80F1-26777CFE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03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Saved JSON outputs for repeatability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6EC65-6BB1-4FB7-8675-AB54CC5A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50B89A-BFF7-4C49-B873-FAFE89E6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10BA7-F8F1-499B-9617-AC5B9845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574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CDF69-1847-4EB5-99BD-27664348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test areas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4543CF-44E0-4745-97C9-5D124F2E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03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Preprocess, entities, URL, risk,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AE8E8D-8A7F-4420-BBD4-826ED97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859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62AC9F-02CD-42B9-800F-CE976628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859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132724-D013-4381-83BB-5CD892C0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574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C8D06-F80B-483B-A704-3F333831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runnable apps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4C65C0-3CA7-452F-9C63-00390F68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API service and dashboard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76B286-636E-4194-B836-2017B60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47625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A947C4-02C7-45D7-9276-C158A0F5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766AE5-B22C-4D33-B904-AF3D7B7F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Core modules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D5E776-6CF9-4FAF-B84D-887D75EA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B59E07-6C38-4391-9BE8-41DFDCF2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481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Module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A511C8-0876-411E-848C-2084FA4F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48175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2B79AE-98CA-43B0-9ED6-3E6B155F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49F83F-C68A-4B5B-A52F-5638067A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20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model_training.py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544BAC-E422-417E-AE37-125EED06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72025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Train TF-IDF + Logistic Regression baseline.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C63787-47C1-4D17-AE24-60B13703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018944-FB67-48C8-B9AA-0EA2ECD3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model_inference.py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9C4A29-550F-4880-AB75-47E00839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95875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Load model and provide rule fallback.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210495-84BD-49EC-9A97-FF8E04FE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02FF70-B506-4DA4-8B9C-D1A81CAE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97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entity_extraction.py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FBCAD7-C81E-4048-A8E2-3549F90B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19725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Extract URLs, phones, UPI, email, amount, OTP.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D71BFC-78E4-4F9F-8017-1BF62AF1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5785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BB60D1-F4BD-4FC0-8FD5-554F7F85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435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risk_scoring.py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369DAB-550B-4B6F-847C-40439DE1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43575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Convert signals into low/medium/high risk.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FAFE3F-2000-4F77-9F4E-B7FC8902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40005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2B990A-1FDE-4581-8270-39311C7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CE2BFA-36DB-44BD-A10C-E5C54C3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Runnable commands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75F7F7-C7AB-46FC-88CC-9A75CAA9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python -m fraudlens.model_training</a:t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uvicorn fraudlens.api:app --reload</a:t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streamlit run src/fraudlens/dashboard.py</a:t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pytest</a:t>
            </a:r>
          </a:p>
        </p:txBody>
      </p:sp>
    </p:spTree>
    <p:extLst>
      <p:ext uri="{BB962C8B-B14F-4D97-AF65-F5344CB8AC3E}">
        <p14:creationId xmlns:p14="http://schemas.microsoft.com/office/powerpoint/2010/main" val="18714937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83A23B-418D-46EA-B21E-86753627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E6CEA-66E4-4649-AD43-779D76AA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F04A9-393B-453A-88AC-8A2DDF74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Product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C00B0-0717-4245-B5FF-3B72F8A6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96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github.com/GautamBytes/fraudlens-bharat-phase-1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0EF90-188A-463B-8D5A-3C32946B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DEMO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E2E87-D677-43B4-B4C0-2BD1EE87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dashboard converts suspicious text into an analyst-style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D107D-5831-466C-B2B7-246517D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This is the professor-facing demo: input, predicted scam type, risk score, extracted evidence, reasons, and complaint draft.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DB364-DEB2-4904-970B-F69AC88B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3528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552E6-AAD7-487D-81A7-A457F93E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Streamlit dashboard analysis result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1937d0ad14327"/>
          <a:stretch xmlns:a="http://schemas.openxmlformats.org/drawingml/2006/main"/>
        </p:blipFill>
        <p:spPr>
          <a:xfrm xmlns:a="http://schemas.openxmlformats.org/drawingml/2006/main">
            <a:off x="1277407" y="1943100"/>
            <a:ext cx="2169586" cy="3562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B2A21-E83D-4AB2-80DE-BE55B56A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2150"/>
            <a:ext cx="523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the demo proves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5AAD6-F292-421D-BA20-EA219529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0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DCB56-8ABF-471D-8E63-D15E255D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33650"/>
            <a:ext cx="535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End-to-end analysis works without external APIs or paid services.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B314E-0043-426B-B1F7-712B5E04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D2571-572F-4D6A-A677-59739E3B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535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same scam text produces a label, confidence, risk level, entities, and explanations.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8DAE0-204B-40AE-8197-1113B41C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66C36-CC08-4C4D-BA37-1205D6F5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535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Recent case history is stored locally through SQLite for repeatable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961BF-E363-422F-A096-C4C288EB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43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E3CCC-CA0F-4B7B-A922-4F55FE73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535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Demo buttons cover fake KYC, OTP phishing, fake job, and investment scam examples.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4EE0D-9A81-419B-B4B4-42E1F736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91100"/>
            <a:ext cx="533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FBDD9-D3D6-417A-801E-1B3ACA5A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625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Pitch line: FraudLens Bharat does not just classify a message; it turns unstructured scam text into structured, complaint-ready evidence.</a:t>
            </a:r>
          </a:p>
        </p:txBody>
      </p:sp>
    </p:spTree>
    <p:extLst>
      <p:ext uri="{BB962C8B-B14F-4D97-AF65-F5344CB8AC3E}">
        <p14:creationId xmlns:p14="http://schemas.microsoft.com/office/powerpoint/2010/main" val="2883681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BB4AED-3011-4DC6-90B6-4E51B682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91E03-D52F-47AD-9FC5-D9A804C2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33F6E-DE00-4F7C-9B27-7EC42CFE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8367A-DFF2-4C83-AB47-48E91A51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96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github.com/GautamBytes/fraudlens-bharat-phase-1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71A8D-031F-40E6-80F0-06113526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BASELINE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B705E-F01E-4848-83B6-2E0A28AD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first model is intentionally simple, measurable, and explainable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BC1B1-92E8-4901-8385-E6E3EB97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TF-IDF + Logistic Regression provides a stable benchmark before Phase 2 transformer experiments.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ECFA7-2151-4013-8F04-7CB278D6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CD030-9356-4BFD-8A9A-78E39398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1FBB4-C941-4D5C-8F56-57210CDF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8B4B4-1C75-4F4C-93E1-006C5725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36326-9C17-4559-A455-35947D0F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669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E13DB-CADC-4DD1-A724-5ABA5069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669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77321-0A4A-4C4B-BF97-0BC0D246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383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6BE99-CD31-4123-A99C-5ED74289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574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macro-F1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C9D69-9411-4AAD-B595-AD364075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669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29E74-94CA-4A39-9907-C6465A8D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669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B4811-122B-457C-9562-6E3F81A2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79B27-5DF6-4E92-9F7A-18905430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test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6EFCE-BA9E-4114-8D7F-7D5D5AC9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Per-class F1 highlights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87853-F8B5-4F64-B619-1E233DB9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fake_job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F45B7-DEDF-4CF8-9CDB-9D7E69AC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ACD1F-51A1-4D41-9989-E0F1E75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7B7DD-C822-4CF5-9426-4E8CF8D7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481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A5BAA9-CB61-4A8D-9E65-EDB267B2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814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investment_scam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135D5-F4E3-492E-A82D-CDFCDB13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0249A-1242-4063-BD87-54F918DD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6412C1-E6E2-43DA-ABBD-A694BE68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71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CF27F6-E652-41F7-8897-76FB48AA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053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otp_phishing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5D30D-C807-4D93-96EC-EE33B0C6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339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591C42-A875-498A-9A45-060083B8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339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708B62-FD8B-4704-84C2-CE779FF7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95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082BE6-A36E-4BC2-8937-4376E62D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291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upi_refund_scam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C4FED2-FA70-4A00-8E77-16A9396D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196056-5F43-435C-920E-7B1AD7F7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812E94-EB1D-4D26-AFE4-5CA9BA32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96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3EC935-3900-4853-8141-88E1BC7F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courier_scam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5B6667-77C1-4850-B8C9-6C642037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816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BC02BC-86F4-4F5C-9758-636FC65B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81600"/>
            <a:ext cx="1190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608B4D-5A40-4E45-9FBF-6459EB1E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1435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E982C4-89E6-4ED1-8950-98FABE29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00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8C2EC6-E0DB-4C6E-A6D6-A269EA73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81650"/>
            <a:ext cx="377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Confusion matrix generated by model_training.py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47edfc5924d7b"/>
          <a:stretch xmlns:a="http://schemas.openxmlformats.org/drawingml/2006/main"/>
        </p:blipFill>
        <p:spPr>
          <a:xfrm xmlns:a="http://schemas.openxmlformats.org/drawingml/2006/main">
            <a:off x="6705600" y="2388177"/>
            <a:ext cx="3543300" cy="2576945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B3DBE3-B2A1-40E5-8FC0-0C30F329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Interpretation: synthetic split is clean after marker fixes; treat as internal Phase 1 evidence, not production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21125744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8CAA7-38B9-4CDF-B116-0A999800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C8266-E146-4C53-BBF4-0FEED273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04397-2B80-4950-8851-DCBD64BA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Validation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2BCBA-C902-4362-A708-618A45EA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96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github.com/GautamBytes/fraudlens-bharat-phase-1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B1F42-BAA5-4964-9CA2-08CFBB44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TESTING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A1BD4-C6AF-4705-8698-B32E598C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Phase 1 includes automated checks plus runnable service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A3C2E-68D5-4B9F-B7BA-8BC3C823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goal is to show controlled progress: the core modules can be executed, tested, and defended in viva.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C85FA-F2B4-483E-AC08-4F0959F8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048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CAAB7-C9C7-4292-A189-25786C12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Pytest result screenshot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2cc2e92fa4f98"/>
          <a:stretch xmlns:a="http://schemas.openxmlformats.org/drawingml/2006/main"/>
        </p:blipFill>
        <p:spPr>
          <a:xfrm xmlns:a="http://schemas.openxmlformats.org/drawingml/2006/main">
            <a:off x="1206807" y="2038350"/>
            <a:ext cx="3891935" cy="1809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145BF-AFE2-4A8D-86DA-51BC88BF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4003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F3774-95C0-48A4-9B72-3572E01A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API health endpoint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830a49be744c5"/>
          <a:stretch xmlns:a="http://schemas.openxmlformats.org/drawingml/2006/main"/>
        </p:blipFill>
        <p:spPr>
          <a:xfrm xmlns:a="http://schemas.openxmlformats.org/drawingml/2006/main">
            <a:off x="6859352" y="2038350"/>
            <a:ext cx="1102196" cy="1809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E6EFA-4011-46BB-B67D-67A8DCC4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47850"/>
            <a:ext cx="19621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8640C-A923-47C5-85F5-D4BD6EE2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47850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FB1AA-9AAA-4AF3-99CB-18823A4C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Test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7524F-19AC-442C-A034-8365AC47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05050"/>
            <a:ext cx="16954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preprocessing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entity extraction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URL risk scoring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risk scoring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FastAPI analyze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ABC41-5BBB-4684-AD40-9B7EE4E0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Acceptance criteria already met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FD151-48A8-4479-8D43-A8ED14C0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CBB97-8453-464F-8388-48BE4B9C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897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API runs locally and /analyze returns fraud type, risk level, entities, reasons, and stored case ID.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590AD-21B8-4109-A064-415AE91E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1A71E-011F-4976-B28C-1DF9A157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05450"/>
            <a:ext cx="897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Dashboard runs locally with 4 demo buttons and recent analysis history.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A4E56-C123-4738-8B65-316E9850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61D74-0992-41D1-AF9C-44D2272D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10250"/>
            <a:ext cx="897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Training produces model artifacts, metrics JSON, classification report, and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658743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C2431-C9C0-4097-A4E9-7D85B829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7983A-04CE-4D94-B4DB-B2EC2954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8264B-DE8F-4263-BA7F-40884E44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Controls and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94238-2726-45F2-B460-F6DC679A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96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github.com/GautamBytes/fraudlens-bharat-phase-1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B8D94-6EE6-43BD-9974-7090A857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C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5CD3"/>
                </a:solidFill>
                <a:latin typeface="Aptos"/>
                <a:ea typeface="Aptos"/>
                <a:cs typeface="Aptos"/>
              </a:rPr>
              <a:t>RISK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C8AFD-EC62-47BB-A5BB-F8AF0A68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prototype is scoped to be useful without becoming unsafe or overclaimed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04246-5BD2-49B1-9009-8B17BE8A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strongest capstone pitch is honest about boundaries while showing a credible path to improvement.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AFAD6-9A0C-44AF-A489-36481F83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14894-230A-439A-A28C-BA0B7B55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EDB8B-10B7-4476-B266-D625BAE4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Ethical guardrails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01F19-BDE2-4B67-92B0-59A959F7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686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Synthetic educational dataset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No real victim PII required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No automatic government submission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Complaint summary remains assistive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3CDEF-69BD-4083-8994-BE350090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859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40C9A-3823-4622-AE7A-0C4D4161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859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C9EE1-A53C-4FA0-B9CF-F25CB359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Reliability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217B7-C154-4721-91B7-D0A43891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2686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Rule-based fallback if model files are missing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Local SQLite storage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No paid APIs needed for Phase 1 demo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Explainable risk reasons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C53AE-4738-47BA-999B-0FEA958E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0C6B5-0C5B-4096-9944-751EAE24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86B8E-DDE9-441F-A1BD-ED8FD88B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Known limitations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9FC8A-1E32-4895-A59A-13449DE2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2686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Small seed dataset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No OCR in Phase 1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No transformer fine-tuning yet</a:t>
            </a:r>
          </a:p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Courier/digital arrest overlap needs more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8E156-89A8-45F5-9B55-4AF42025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857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E810F-C9EE-481A-AD9C-862F92D4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857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81778-3315-49AF-87BC-65762361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48150"/>
            <a:ext cx="7953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I will defend this in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83928-8FE0-471B-8C0D-D964566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0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88405-FE8F-4EE1-8F0E-939B90F7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43450"/>
            <a:ext cx="725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Phase 1 is a baseline prototype, not a production fraud detector.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A1DCB-5D17-4A49-A8B5-462B681D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95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5CEE99-C5CD-48E8-8C15-5BE92F76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29200"/>
            <a:ext cx="725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value is in the integrated pipeline, documentation, measurable evaluation, and reproducible demo evidence.</a:t>
            </a:r>
          </a:p>
        </p:txBody>
      </p:sp>
    </p:spTree>
    <p:extLst>
      <p:ext uri="{BB962C8B-B14F-4D97-AF65-F5344CB8AC3E}">
        <p14:creationId xmlns:p14="http://schemas.microsoft.com/office/powerpoint/2010/main" val="13549105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7AE69-20C6-486F-9A49-F05F97E0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35D5F-8C19-4FF7-84D4-83270E59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953CF-71FE-43DE-B0EE-12FB0A86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3C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3C5FF"/>
                </a:solidFill>
                <a:latin typeface="Aptos"/>
                <a:ea typeface="Aptos"/>
                <a:cs typeface="Aptos"/>
              </a:rPr>
              <a:t>NEXT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5BA29-7FB8-489C-8261-05067D23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2 turns the baseline into a stronger 6-month capstone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331DB-8F2D-4988-8499-00D53D5B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2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4D2E1"/>
                </a:solidFill>
                <a:latin typeface="Aptos"/>
                <a:ea typeface="Aptos"/>
                <a:cs typeface="Aptos"/>
              </a:rPr>
              <a:t>The second half should improve input coverage, model quality, network intelligence, and final presentation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1CC14-873A-4A62-841F-2F7B0A7B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2669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948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56FFA-F251-4CA6-9F1C-0953DB3F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196D4-0FB9-411F-9A67-233DF2DF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5FBA7-02FD-4331-8D40-FA0C813F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61E39-7845-4E37-A186-5B4AADE1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OCR + screenshot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5A9FA-C382-4378-B84C-5235FBC0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D2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4D2E1"/>
                </a:solidFill>
                <a:latin typeface="Aptos"/>
                <a:ea typeface="Aptos"/>
                <a:cs typeface="Aptos"/>
              </a:rPr>
              <a:t>Extract text from WhatsApp/SMS screenshots and route it through the same pipeline.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308D5-4832-4560-A300-14E8AECC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76450"/>
            <a:ext cx="22669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948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A9CB9-A4B2-4705-9FCA-B4311AC0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7645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4D5F0-E6EE-479C-81EC-1407BA82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431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BE141-E329-4FEC-A3E7-75B3C325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907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DEDAA-CBDD-4854-821E-408EF862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146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Transformer experiment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7691C-E044-40A9-AF48-6AFF6B5B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623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D2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4D2E1"/>
                </a:solidFill>
                <a:latin typeface="Aptos"/>
                <a:ea typeface="Aptos"/>
                <a:cs typeface="Aptos"/>
              </a:rPr>
              <a:t>Compare baseline with Indic/Hinglish-capable transformer model and report macro-F1 lift.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367C7-BAFD-4E7A-AF4B-2BF61CA2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2669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948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44ADA-E40D-49B7-9F91-2489DBE6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9957D2-590F-4E08-BDF9-EFFAB4B5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B1FB6-BE9E-4771-9B04-C15E6F24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907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B0013-8F84-43EA-AB49-DD6C6CC2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Graph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A49A0-E02A-4305-96C3-0D3B403F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D2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4D2E1"/>
                </a:solidFill>
                <a:latin typeface="Aptos"/>
                <a:ea typeface="Aptos"/>
                <a:cs typeface="Aptos"/>
              </a:rPr>
              <a:t>Connect repeated phone, UPI, URL, and scam-category identifiers to expose clusters.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64B18A-3929-433B-95B5-79E123DB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22669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948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C2305-B6D7-4390-9C06-26D5E8CF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8F4FB0-425D-4CD1-B4FB-5FD5CE8D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431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337244-308C-42BF-98D5-CB1976D3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907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 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FDE36A-66B6-4E5D-9282-3F5D7B07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hardening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23802-58BF-4B77-9539-D3B36EE7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623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D2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4D2E1"/>
                </a:solidFill>
                <a:latin typeface="Aptos"/>
                <a:ea typeface="Aptos"/>
                <a:cs typeface="Aptos"/>
              </a:rPr>
              <a:t>Larger dataset, stronger tests, final report, video demo, and viva-ready evaluation.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420A7D-5DFA-405C-B74A-75FB0E6A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3"/>
          </a:solidFill>
          <a:ln xmlns:a="http://schemas.openxmlformats.org/drawingml/2006/main" w="9525">
            <a:solidFill>
              <a:srgbClr val="2948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DFFAC-DCD8-4CEA-AA73-1EFC9F8A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E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E8FF"/>
                </a:solidFill>
                <a:latin typeface="Aptos"/>
                <a:ea typeface="Aptos"/>
                <a:cs typeface="Aptos"/>
              </a:rPr>
              <a:t>Feedback requested: validate the Phase 2 scope, dataset plan, evaluation metrics, and whether the current Phase 1 evidence is sufficient for the progress review.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FE0AE3-F236-4808-8F58-EF9D95F0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C8"/>
                </a:solidFill>
                <a:latin typeface="Aptos"/>
                <a:ea typeface="Aptos"/>
                <a:cs typeface="Aptos"/>
              </a:rPr>
              <a:t>Gautam Manchandani | 2023EBCS209 | BITS Pilani | Supervisor: Dr. Ashok Yemineni</a:t>
            </a:r>
          </a:p>
        </p:txBody>
      </p:sp>
    </p:spTree>
    <p:extLst>
      <p:ext uri="{BB962C8B-B14F-4D97-AF65-F5344CB8AC3E}">
        <p14:creationId xmlns:p14="http://schemas.microsoft.com/office/powerpoint/2010/main" val="1630537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2026-06-06T08:58:51.0280000Z</dcterms:created>
  <dcterms:modified xsi:type="dcterms:W3CDTF">2026-06-06T08:58:51.0280000Z</dcterms:modified>
</coreProperties>
</file>