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5" r:id="rId1"/>
  </p:sldMasterIdLst>
  <p:notesMasterIdLst>
    <p:notesMasterId r:id="rId12"/>
  </p:notesMasterIdLst>
  <p:sldIdLst>
    <p:sldId id="267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33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67" d="100"/>
          <a:sy n="67" d="100"/>
        </p:scale>
        <p:origin x="492" y="4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459165C-6148-4912-9C46-75FE6B9EA871}" type="datetimeFigureOut">
              <a:rPr lang="en-IN" smtClean="0"/>
              <a:t>10-02-2026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7CDE88F-770C-4B59-A1C0-CD1D8058F94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685212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B186C9-2BBA-55D0-BD4B-F8B71E2ECF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54DE6BA-4AE7-822A-85CC-92BCCD9D6A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07BC8C-59D5-7186-B66E-4FCA965220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F99DD2-136E-B005-965D-33285448D7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DD1715-6A40-FAAC-BD2C-F7BE86FD89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B46724B-C345-9FA0-667D-03555D2E5C7D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-2" y="6466115"/>
            <a:ext cx="9153000" cy="10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92574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E8838B-2600-6588-AFF2-968994DAE8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1470" y="349886"/>
            <a:ext cx="6995160" cy="930665"/>
          </a:xfrm>
        </p:spPr>
        <p:txBody>
          <a:bodyPr/>
          <a:lstStyle>
            <a:lvl1pPr>
              <a:defRPr b="1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7DF390-C3B8-3F09-F40D-85696C04CD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0050" y="1825625"/>
            <a:ext cx="8492490" cy="43513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7B22D00-115B-264C-C896-345894A04A0E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-2" y="6466115"/>
            <a:ext cx="9153000" cy="1080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C5B671F-CF2E-7C44-EADA-4E56CCF35C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" y="1295791"/>
            <a:ext cx="3348990" cy="10352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9D85C2F-C4CC-B3E8-DC0D-F4312B489C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59040" y="405951"/>
            <a:ext cx="1333500" cy="679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10426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468431-87F8-377B-002F-8008220780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CB87CB-EC0D-AC03-913E-540103ABA3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B777A5-783A-D063-67E6-8CB761EE53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378A05-536D-01B1-B02E-017A1923F4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4BE06D-95DC-C9AA-9F94-50F934BDD5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02904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372BEB-1201-DD36-5A62-6C8322CBC4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0EC01D-6BFB-5359-E1CB-F8393053EA1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1294D6-52BE-8815-B5BE-B9B6426957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ABC93A-F94E-2DCF-1576-F9D87AD02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8D2396-B2FC-F8D4-BB47-05AFB0AB2D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562123-4901-0C6F-544E-F6AA6832F5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45555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7CA608-63E2-19B2-AE4D-57CF441C1B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FF64A4-C3C4-ACA3-1D1F-D208F76786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7ACB0F-31D6-4E31-9EF4-FAEE2ECF2D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B8E2D7D-E306-0374-7D3C-62E8D219AEE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2BEC196-EF39-B64C-5B82-DC01BD71130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0B66E0-B7D7-BF74-CC5D-317C5567ED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8C2566B-2AE2-3440-B5E5-557FA335D5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5C1E798-0C77-EC9C-37B4-4B7560BDB4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79932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068898-CA2D-FC1D-F85A-F4B614981F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BC0DC15-F701-899A-1878-CE763E8256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092D74A-4601-E794-8FA7-BB76057027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B1FF0C-0D43-1690-F1D9-BD21A78463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23975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4575516-D291-7DF6-999B-D956266833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66BCA8A-5542-72D5-4D01-7901049E96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6685FB-F8C4-60A1-F7B2-63C03C8248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8196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904FAF-C8EA-6C50-C03C-6BE244FB33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237747-0EAE-BF6C-0F71-1239CCED5C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EA81633-599E-0C57-85A4-85AF2FB3ED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CC1136-1C3C-B33A-D05E-2A6D49A0B7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CF106D-088F-C9E1-A0D5-22F8B83BAE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7A12DD-DCE1-05C2-B9F7-010563020E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44291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BEF12A-BEE5-D30E-A3A1-942D5B5C0E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12D5563-6459-67DE-4D69-30053A9D0AC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77B9A17-FD7C-16CA-4EFC-03BD86855F8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DC6D420-EC2E-8ABC-B2F2-CA9F497223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DA5612-CD5C-0B26-0604-34950D11FD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C7A36B-AF9A-508A-1438-B7C8B1597F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74279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2C38F9-C26A-A887-8868-A89E5C7C28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3923C57-B3EA-971D-87BC-DF8B8D3CA15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88FFD4-A931-751C-7707-99B41CCD90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56FB5B-4974-F079-60B2-005270B274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2AA4EC-E107-73DE-0D25-2B1868B40D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32748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FB63CB0-1DDE-C006-45DD-C4E5E49429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3815BB5-31FC-01A3-455F-2FCDAC103C1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94DB4B-80C3-F444-BB89-BAB7C213FD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BFC3CA-91F1-49B3-33BE-B13C2112EB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199E0A-B830-F842-ADDC-5FD15C9935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0932461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4938481-3E3D-E956-CD00-8CB791685C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8BA1C8-6503-E09A-694B-6C359C0BA8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A84468-691A-BB42-58A0-82A6AA10D1C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5BE529-10D3-2454-82D4-495C91F7719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CC2B87-66F7-C8F0-A8BC-5A8446D4BBA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31994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6" r:id="rId1"/>
    <p:sldLayoutId id="2147483697" r:id="rId2"/>
    <p:sldLayoutId id="2147483698" r:id="rId3"/>
    <p:sldLayoutId id="2147483699" r:id="rId4"/>
    <p:sldLayoutId id="2147483700" r:id="rId5"/>
    <p:sldLayoutId id="2147483701" r:id="rId6"/>
    <p:sldLayoutId id="2147483702" r:id="rId7"/>
    <p:sldLayoutId id="2147483703" r:id="rId8"/>
    <p:sldLayoutId id="2147483704" r:id="rId9"/>
    <p:sldLayoutId id="2147483705" r:id="rId10"/>
    <p:sldLayoutId id="2147483706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49806C-DE76-F844-DADC-8CEF0CA4E8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8DB0453-4AD2-5D01-DB88-163762890C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75" y="1743795"/>
            <a:ext cx="3290488" cy="1254499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07AD43B1-8B94-26CD-2746-B4F4D815FE52}"/>
              </a:ext>
            </a:extLst>
          </p:cNvPr>
          <p:cNvSpPr/>
          <p:nvPr/>
        </p:nvSpPr>
        <p:spPr>
          <a:xfrm>
            <a:off x="4415831" y="1743795"/>
            <a:ext cx="45639" cy="1388569"/>
          </a:xfrm>
          <a:prstGeom prst="rect">
            <a:avLst/>
          </a:prstGeom>
          <a:solidFill>
            <a:srgbClr val="9700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6" name="Rounded Rectangle 5"/>
          <p:cNvSpPr/>
          <p:nvPr/>
        </p:nvSpPr>
        <p:spPr>
          <a:xfrm>
            <a:off x="3182112" y="658368"/>
            <a:ext cx="2788920" cy="310896"/>
          </a:xfrm>
          <a:prstGeom prst="roundRect">
            <a:avLst/>
          </a:prstGeom>
          <a:solidFill>
            <a:srgbClr val="5B1D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0" y="672084"/>
            <a:ext cx="2752344" cy="2468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ptos"/>
              </a:rPr>
              <a:t>FINAL CAPSTONE | PHASE 1 + PHASE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36592" y="1874519"/>
            <a:ext cx="3337560" cy="256032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000" b="1" i="0">
                <a:solidFill>
                  <a:srgbClr val="5B1D8C"/>
                </a:solidFill>
                <a:latin typeface="Aptos"/>
              </a:rPr>
              <a:t>PRESENTED BY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36592" y="2176272"/>
            <a:ext cx="3337560" cy="640080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600" b="1" i="0">
                <a:solidFill>
                  <a:srgbClr val="1E293B"/>
                </a:solidFill>
                <a:latin typeface="Aptos"/>
              </a:rPr>
              <a:t>Gautam Manchandani
2023EBCS209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456432"/>
            <a:ext cx="7132320" cy="475488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ctr"/>
            <a:r>
              <a:rPr sz="2900" b="1" i="0">
                <a:solidFill>
                  <a:srgbClr val="5B1D8C"/>
                </a:solidFill>
                <a:latin typeface="Aptos"/>
              </a:rPr>
              <a:t>FraudLens Bharat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3995928"/>
            <a:ext cx="6766560" cy="384048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ctr"/>
            <a:r>
              <a:rPr sz="1350" b="0" i="0">
                <a:solidFill>
                  <a:srgbClr val="475569"/>
                </a:solidFill>
                <a:latin typeface="Aptos"/>
              </a:rPr>
              <a:t>Explainable local cyber-fraud triage for Indian messages and screenshots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626864"/>
            <a:ext cx="7132320" cy="292608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ctr"/>
            <a:r>
              <a:rPr sz="1150" b="1" i="0">
                <a:solidFill>
                  <a:srgbClr val="1E293B"/>
                </a:solidFill>
                <a:latin typeface="Aptos"/>
              </a:rPr>
              <a:t>BSc Computer Science  |  Academic Year 2025-2026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956048"/>
            <a:ext cx="7132320" cy="274320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ctr"/>
            <a:r>
              <a:rPr sz="1150" b="0" i="0">
                <a:solidFill>
                  <a:srgbClr val="1E293B"/>
                </a:solidFill>
                <a:latin typeface="Aptos"/>
              </a:rPr>
              <a:t>Under the guidance of Dr. Ashok Yemineni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0120" y="5687568"/>
            <a:ext cx="2057400" cy="749808"/>
          </a:xfrm>
          <a:prstGeom prst="roundRect">
            <a:avLst/>
          </a:prstGeom>
          <a:solidFill>
            <a:srgbClr val="E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33272" y="5760720"/>
            <a:ext cx="1911095" cy="329184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ctr"/>
            <a:r>
              <a:rPr sz="2000" b="1" i="0">
                <a:solidFill>
                  <a:srgbClr val="0097A7"/>
                </a:solidFill>
                <a:latin typeface="Aptos"/>
              </a:rPr>
              <a:t>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" y="6117336"/>
            <a:ext cx="1911095" cy="201168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ctr"/>
            <a:r>
              <a:rPr sz="919" b="0" i="0">
                <a:solidFill>
                  <a:srgbClr val="475569"/>
                </a:solidFill>
                <a:latin typeface="Aptos"/>
              </a:rPr>
              <a:t>fraud categories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20440" y="5687568"/>
            <a:ext cx="2057400" cy="749808"/>
          </a:xfrm>
          <a:prstGeom prst="roundRect">
            <a:avLst/>
          </a:prstGeom>
          <a:solidFill>
            <a:srgbClr val="F6E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93592" y="5760720"/>
            <a:ext cx="1911095" cy="329184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ctr"/>
            <a:r>
              <a:rPr sz="2000" b="1" i="0">
                <a:solidFill>
                  <a:srgbClr val="5B1D8C"/>
                </a:solidFill>
                <a:latin typeface="Aptos"/>
              </a:rPr>
              <a:t>355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93592" y="6117336"/>
            <a:ext cx="1911095" cy="201168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ctr"/>
            <a:r>
              <a:rPr sz="919" b="0" i="0">
                <a:solidFill>
                  <a:srgbClr val="475569"/>
                </a:solidFill>
                <a:latin typeface="Aptos"/>
              </a:rPr>
              <a:t>automated tests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80760" y="5687568"/>
            <a:ext cx="2057400" cy="749808"/>
          </a:xfrm>
          <a:prstGeom prst="roundRect">
            <a:avLst/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53912" y="5760720"/>
            <a:ext cx="1911095" cy="329184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ctr"/>
            <a:r>
              <a:rPr sz="2000" b="1" i="0">
                <a:solidFill>
                  <a:srgbClr val="E2B11F"/>
                </a:solidFill>
                <a:latin typeface="Aptos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53912" y="6117336"/>
            <a:ext cx="1911095" cy="201168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ctr"/>
            <a:r>
              <a:rPr sz="919" b="0" i="0">
                <a:solidFill>
                  <a:srgbClr val="475569"/>
                </a:solidFill>
                <a:latin typeface="Aptos"/>
              </a:rPr>
              <a:t>text + screenshot inputs</a:t>
            </a:r>
          </a:p>
        </p:txBody>
      </p:sp>
    </p:spTree>
    <p:extLst>
      <p:ext uri="{BB962C8B-B14F-4D97-AF65-F5344CB8AC3E}">
        <p14:creationId xmlns:p14="http://schemas.microsoft.com/office/powerpoint/2010/main" val="2835149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E293B"/>
                </a:solidFill>
                <a:latin typeface="Aptos Display"/>
              </a:rPr>
              <a:t>Problem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8001000" cy="320040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  <a:latin typeface="Aptos"/>
              </a:rPr>
              <a:t>From mixed-language scam evidence to a structured, reviewable complaint draft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2487168" cy="1207008"/>
          </a:xfrm>
          <a:prstGeom prst="roundRect">
            <a:avLst/>
          </a:prstGeom>
          <a:solidFill>
            <a:srgbClr val="F6EFFA"/>
          </a:solidFill>
          <a:ln w="8890">
            <a:solidFill>
              <a:srgbClr val="E1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417320"/>
            <a:ext cx="73152" cy="1207008"/>
          </a:xfrm>
          <a:prstGeom prst="rect">
            <a:avLst/>
          </a:prstGeom>
          <a:solidFill>
            <a:srgbClr val="5B1D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527048"/>
            <a:ext cx="2212848" cy="256032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500" b="1" i="0">
                <a:solidFill>
                  <a:srgbClr val="5B1D8C"/>
                </a:solidFill>
                <a:latin typeface="Aptos"/>
              </a:rPr>
              <a:t>Unstructured evidence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1856232"/>
            <a:ext cx="2212848" cy="694944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150" b="0" i="0">
                <a:solidFill>
                  <a:srgbClr val="1E293B"/>
                </a:solidFill>
                <a:latin typeface="Aptos"/>
              </a:rPr>
              <a:t>SMS, WhatsApp, email, URL, UPI ID or screenshot; English, Hindi and Romanized Hinglish.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788920"/>
            <a:ext cx="2487168" cy="1207008"/>
          </a:xfrm>
          <a:prstGeom prst="roundRect">
            <a:avLst/>
          </a:prstGeom>
          <a:solidFill>
            <a:srgbClr val="E7F7F7"/>
          </a:solidFill>
          <a:ln w="8890">
            <a:solidFill>
              <a:srgbClr val="E1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2788920"/>
            <a:ext cx="73152" cy="1207008"/>
          </a:xfrm>
          <a:prstGeom prst="rect">
            <a:avLst/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" y="2898648"/>
            <a:ext cx="2212848" cy="256032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500" b="1" i="0">
                <a:solidFill>
                  <a:srgbClr val="0097A7"/>
                </a:solidFill>
                <a:latin typeface="Aptos"/>
              </a:rPr>
              <a:t>Evidence loss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3227832"/>
            <a:ext cx="2212848" cy="694944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150" b="0" i="0">
                <a:solidFill>
                  <a:srgbClr val="1E293B"/>
                </a:solidFill>
                <a:latin typeface="Aptos"/>
              </a:rPr>
              <a:t>A category label alone can miss the phone, amount, URL, OTP request, threat and urgency.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160520"/>
            <a:ext cx="2487168" cy="1207008"/>
          </a:xfrm>
          <a:prstGeom prst="roundRect">
            <a:avLst/>
          </a:prstGeom>
          <a:solidFill>
            <a:srgbClr val="FDEEEF"/>
          </a:solidFill>
          <a:ln w="8890">
            <a:solidFill>
              <a:srgbClr val="E1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4160520"/>
            <a:ext cx="73152" cy="1207008"/>
          </a:xfrm>
          <a:prstGeom prst="rect">
            <a:avLst/>
          </a:prstGeom>
          <a:solidFill>
            <a:srgbClr val="A9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" y="4270248"/>
            <a:ext cx="2212848" cy="256032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500" b="1" i="0">
                <a:solidFill>
                  <a:srgbClr val="A92330"/>
                </a:solidFill>
                <a:latin typeface="Aptos"/>
              </a:rPr>
              <a:t>Unsafe automation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" y="4599431"/>
            <a:ext cx="2212848" cy="694944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150" b="0" i="0">
                <a:solidFill>
                  <a:srgbClr val="1E293B"/>
                </a:solidFill>
                <a:latin typeface="Aptos"/>
              </a:rPr>
              <a:t>Hidden uncertainty or silent storage can amplify harm when a prediction is wrong.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10128" y="1417320"/>
            <a:ext cx="5285232" cy="3950208"/>
          </a:xfrm>
          <a:prstGeom prst="roundRect">
            <a:avLst/>
          </a:prstGeom>
          <a:solidFill>
            <a:srgbClr val="F7F6FA"/>
          </a:solidFill>
          <a:ln w="12700">
            <a:solidFill>
              <a:srgbClr val="DEDA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228600" bIns="228600"/>
          <a:lstStyle/>
          <a:p>
            <a:pPr algn="l">
              <a:spcAft>
                <a:spcPts val="500"/>
              </a:spcAft>
              <a:defRPr sz="1100" b="1" i="0">
                <a:solidFill>
                  <a:srgbClr val="5B1D8C"/>
                </a:solidFill>
                <a:latin typeface="Aptos"/>
              </a:defRPr>
            </a:pPr>
            <a:r>
              <a:t>TYPICAL RAW INPUT</a:t>
            </a:r>
          </a:p>
          <a:p>
            <a:pPr algn="l">
              <a:spcAft>
                <a:spcPts val="1800"/>
              </a:spcAft>
              <a:defRPr sz="1700" b="1" i="0">
                <a:solidFill>
                  <a:srgbClr val="1E293B"/>
                </a:solidFill>
                <a:latin typeface="Aptos"/>
              </a:defRPr>
            </a:pPr>
            <a:r>
              <a:t>Your KYC expires today. Verify now at fraud-demo.example or your account will be blocked.</a:t>
            </a:r>
          </a:p>
          <a:p>
            <a:pPr algn="l">
              <a:spcAft>
                <a:spcPts val="500"/>
              </a:spcAft>
              <a:defRPr sz="1100" b="1" i="0">
                <a:solidFill>
                  <a:srgbClr val="0097A7"/>
                </a:solidFill>
                <a:latin typeface="Aptos"/>
              </a:defRPr>
            </a:pPr>
            <a:r>
              <a:t>FRAUDLENS OUTPUT</a:t>
            </a:r>
          </a:p>
          <a:p>
            <a:pPr algn="l">
              <a:spcAft>
                <a:spcPts val="500"/>
              </a:spcAft>
              <a:defRPr sz="1350" b="1" i="0">
                <a:solidFill>
                  <a:srgbClr val="1E293B"/>
                </a:solidFill>
                <a:latin typeface="Aptos"/>
              </a:defRPr>
            </a:pPr>
            <a:r>
              <a:t>Scam category + confidence / abstention</a:t>
            </a:r>
          </a:p>
          <a:p>
            <a:pPr algn="l">
              <a:spcAft>
                <a:spcPts val="500"/>
              </a:spcAft>
              <a:defRPr sz="1350" b="1" i="0">
                <a:solidFill>
                  <a:srgbClr val="1E293B"/>
                </a:solidFill>
                <a:latin typeface="Aptos"/>
              </a:defRPr>
            </a:pPr>
            <a:r>
              <a:t>Extracted evidence and URL signals</a:t>
            </a:r>
          </a:p>
          <a:p>
            <a:pPr algn="l">
              <a:spcAft>
                <a:spcPts val="500"/>
              </a:spcAft>
              <a:defRPr sz="1350" b="1" i="0">
                <a:solidFill>
                  <a:srgbClr val="1E293B"/>
                </a:solidFill>
                <a:latin typeface="Aptos"/>
              </a:defRPr>
            </a:pPr>
            <a:r>
              <a:t>Risk reasons and complaint-ready draft</a:t>
            </a:r>
          </a:p>
          <a:p>
            <a:pPr algn="l">
              <a:spcAft>
                <a:spcPts val="0"/>
              </a:spcAft>
              <a:defRPr sz="1150" b="1" i="0">
                <a:solidFill>
                  <a:srgbClr val="A92330"/>
                </a:solidFill>
                <a:latin typeface="Aptos"/>
              </a:defRPr>
            </a:pPr>
            <a:r>
              <a:t>Human review required; no automatic filing or legal decision.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528816"/>
            <a:ext cx="7818120" cy="201168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830" b="0" i="0">
                <a:solidFill>
                  <a:srgbClr val="475569"/>
                </a:solidFill>
                <a:latin typeface="Aptos"/>
              </a:rPr>
              <a:t>Scope: assistive local triage for synthetic educational evidence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94192" y="6528816"/>
            <a:ext cx="274320" cy="182880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r"/>
            <a:r>
              <a:rPr sz="800" b="1" i="0">
                <a:solidFill>
                  <a:srgbClr val="5B1D8C"/>
                </a:solidFill>
                <a:latin typeface="Apto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E293B"/>
                </a:solidFill>
                <a:latin typeface="Aptos Display"/>
              </a:rPr>
              <a:t>Objectives &amp;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8001000" cy="320040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  <a:latin typeface="Aptos"/>
              </a:rPr>
              <a:t>Phase 1 built the core loop; Phase 2 completed input coverage, privacy, research and release evidence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1481328" cy="201168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1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417320"/>
            <a:ext cx="73152" cy="2011680"/>
          </a:xfrm>
          <a:prstGeom prst="rect">
            <a:avLst/>
          </a:prstGeom>
          <a:solidFill>
            <a:srgbClr val="5B1D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527048"/>
            <a:ext cx="1207008" cy="256032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250" b="1" i="0">
                <a:solidFill>
                  <a:srgbClr val="5B1D8C"/>
                </a:solidFill>
                <a:latin typeface="Aptos"/>
              </a:rPr>
              <a:t>01  Classify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1856232"/>
            <a:ext cx="1207008" cy="1499616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019" b="0" i="0">
                <a:solidFill>
                  <a:srgbClr val="1E293B"/>
                </a:solidFill>
                <a:latin typeface="Aptos"/>
              </a:rPr>
              <a:t>Eight common Indian scam-message categories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30552" y="1417320"/>
            <a:ext cx="1481328" cy="201168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1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130552" y="1417320"/>
            <a:ext cx="73152" cy="2011680"/>
          </a:xfrm>
          <a:prstGeom prst="rect">
            <a:avLst/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95144" y="1527048"/>
            <a:ext cx="1207008" cy="256032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250" b="1" i="0">
                <a:solidFill>
                  <a:srgbClr val="0097A7"/>
                </a:solidFill>
                <a:latin typeface="Aptos"/>
              </a:rPr>
              <a:t>02  Preserve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95144" y="1856232"/>
            <a:ext cx="1207008" cy="1499616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019" b="0" i="0">
                <a:solidFill>
                  <a:srgbClr val="1E293B"/>
                </a:solidFill>
                <a:latin typeface="Aptos"/>
              </a:rPr>
              <a:t>Phones, UPI IDs, email, URL, amount and OTP evidence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58184" y="1417320"/>
            <a:ext cx="1481328" cy="201168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1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58184" y="1417320"/>
            <a:ext cx="73152" cy="2011680"/>
          </a:xfrm>
          <a:prstGeom prst="rect">
            <a:avLst/>
          </a:prstGeom>
          <a:solidFill>
            <a:srgbClr val="E2B1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22776" y="1527048"/>
            <a:ext cx="1207008" cy="256032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250" b="1" i="0">
                <a:solidFill>
                  <a:srgbClr val="E2B11F"/>
                </a:solidFill>
                <a:latin typeface="Aptos"/>
              </a:rPr>
              <a:t>03  Explain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22776" y="1856232"/>
            <a:ext cx="1207008" cy="1499616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019" b="0" i="0">
                <a:solidFill>
                  <a:srgbClr val="1E293B"/>
                </a:solidFill>
                <a:latin typeface="Aptos"/>
              </a:rPr>
              <a:t>Confidence, abstention, visible reasons and risk band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85816" y="1417320"/>
            <a:ext cx="1481328" cy="201168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1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385816" y="1417320"/>
            <a:ext cx="73152" cy="2011680"/>
          </a:xfrm>
          <a:prstGeom prst="rect">
            <a:avLst/>
          </a:prstGeom>
          <a:solidFill>
            <a:srgbClr val="237C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0407" y="1527048"/>
            <a:ext cx="1207008" cy="256032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250" b="1" i="0">
                <a:solidFill>
                  <a:srgbClr val="237C58"/>
                </a:solidFill>
                <a:latin typeface="Aptos"/>
              </a:rPr>
              <a:t>04  Accept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50407" y="1856232"/>
            <a:ext cx="1207008" cy="1499616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019" b="0" i="0">
                <a:solidFill>
                  <a:srgbClr val="1E293B"/>
                </a:solidFill>
                <a:latin typeface="Aptos"/>
              </a:rPr>
              <a:t>Pasted text plus bounded local screenshot OCR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13448" y="1417320"/>
            <a:ext cx="1481328" cy="201168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1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013448" y="1417320"/>
            <a:ext cx="73152" cy="2011680"/>
          </a:xfrm>
          <a:prstGeom prst="rect">
            <a:avLst/>
          </a:prstGeom>
          <a:solidFill>
            <a:srgbClr val="A9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78040" y="1527048"/>
            <a:ext cx="1207008" cy="256032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250" b="1" i="0">
                <a:solidFill>
                  <a:srgbClr val="A92330"/>
                </a:solidFill>
                <a:latin typeface="Aptos"/>
              </a:rPr>
              <a:t>05  Protect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78040" y="1856232"/>
            <a:ext cx="1207008" cy="1499616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019" b="0" i="0">
                <a:solidFill>
                  <a:srgbClr val="1E293B"/>
                </a:solidFill>
                <a:latin typeface="Aptos"/>
              </a:rPr>
              <a:t>Consent, retention and masked relationship links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3767328"/>
            <a:ext cx="3840480" cy="292608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200" b="1" i="0">
                <a:solidFill>
                  <a:srgbClr val="237C58"/>
                </a:solidFill>
                <a:latin typeface="Aptos"/>
              </a:rPr>
              <a:t>IN SCOPE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096512"/>
            <a:ext cx="3886200" cy="1508760"/>
          </a:xfrm>
          <a:prstGeom prst="roundRect">
            <a:avLst/>
          </a:prstGeom>
          <a:solidFill>
            <a:srgbClr val="EDF9F3"/>
          </a:solidFill>
          <a:ln w="12700">
            <a:solidFill>
              <a:srgbClr val="B9E0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37160" bIns="137160"/>
          <a:lstStyle/>
          <a:p>
            <a:pPr algn="l">
              <a:spcAft>
                <a:spcPts val="500"/>
              </a:spcAft>
              <a:defRPr sz="1150" b="1" i="0">
                <a:solidFill>
                  <a:srgbClr val="1E293B"/>
                </a:solidFill>
                <a:latin typeface="Aptos"/>
              </a:defRPr>
            </a:pPr>
            <a:r>
              <a:t>Next.js + FastAPI on one analysis service</a:t>
            </a:r>
          </a:p>
          <a:p>
            <a:pPr algn="l">
              <a:spcAft>
                <a:spcPts val="500"/>
              </a:spcAft>
              <a:defRPr sz="1150" b="0" i="0">
                <a:solidFill>
                  <a:srgbClr val="1E293B"/>
                </a:solidFill>
                <a:latin typeface="Aptos"/>
              </a:defRPr>
            </a:pPr>
            <a:r>
              <a:t>Calibrated TF-IDF, OCR, entities, URL checks, risk and draft</a:t>
            </a:r>
          </a:p>
          <a:p>
            <a:pPr algn="l">
              <a:spcAft>
                <a:spcPts val="500"/>
              </a:spcAft>
              <a:defRPr sz="1150" b="0" i="0">
                <a:solidFill>
                  <a:srgbClr val="1E293B"/>
                </a:solidFill>
                <a:latin typeface="Aptos"/>
              </a:defRPr>
            </a:pPr>
            <a:r>
              <a:t>Optional SQLite history and privacy-safe entity graph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09160" y="3767328"/>
            <a:ext cx="3840480" cy="292608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200" b="1" i="0">
                <a:solidFill>
                  <a:srgbClr val="A92330"/>
                </a:solidFill>
                <a:latin typeface="Aptos"/>
              </a:rPr>
              <a:t>OUT OF SCOPE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645152" y="4096512"/>
            <a:ext cx="3950208" cy="1508760"/>
          </a:xfrm>
          <a:prstGeom prst="roundRect">
            <a:avLst/>
          </a:prstGeom>
          <a:solidFill>
            <a:srgbClr val="FDF1F1"/>
          </a:solidFill>
          <a:ln w="12700">
            <a:solidFill>
              <a:srgbClr val="ECC6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37160" bIns="137160"/>
          <a:lstStyle/>
          <a:p>
            <a:pPr algn="l">
              <a:spcAft>
                <a:spcPts val="500"/>
              </a:spcAft>
              <a:defRPr sz="1150" b="1" i="0">
                <a:solidFill>
                  <a:srgbClr val="1E293B"/>
                </a:solidFill>
                <a:latin typeface="Aptos"/>
              </a:defRPr>
            </a:pPr>
            <a:r>
              <a:t>Automatic NCRP filing or transaction blocking</a:t>
            </a:r>
          </a:p>
          <a:p>
            <a:pPr algn="l">
              <a:spcAft>
                <a:spcPts val="500"/>
              </a:spcAft>
              <a:defRPr sz="1150" b="0" i="0">
                <a:solidFill>
                  <a:srgbClr val="1E293B"/>
                </a:solidFill>
                <a:latin typeface="Aptos"/>
              </a:defRPr>
            </a:pPr>
            <a:r>
              <a:t>Public deployment, transformer fine-tuning or GNN detection</a:t>
            </a:r>
          </a:p>
          <a:p>
            <a:pPr algn="l">
              <a:spcAft>
                <a:spcPts val="500"/>
              </a:spcAft>
              <a:defRPr sz="1150" b="0" i="0">
                <a:solidFill>
                  <a:srgbClr val="1E293B"/>
                </a:solidFill>
                <a:latin typeface="Aptos"/>
              </a:defRPr>
            </a:pPr>
            <a:r>
              <a:t>Production accuracy, guilt or legal conclusions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528816"/>
            <a:ext cx="7818120" cy="201168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830" b="0" i="0">
                <a:solidFill>
                  <a:srgbClr val="475569"/>
                </a:solidFill>
                <a:latin typeface="Aptos"/>
              </a:rPr>
              <a:t>Final release 1.0.0 | OCR and observational graph analytics are implemented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6528816"/>
            <a:ext cx="274320" cy="182880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r"/>
            <a:r>
              <a:rPr sz="800" b="1" i="0">
                <a:solidFill>
                  <a:srgbClr val="5B1D8C"/>
                </a:solidFill>
                <a:latin typeface="Apto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E293B"/>
                </a:solidFill>
                <a:latin typeface="Aptos Display"/>
              </a:rPr>
              <a:t>Existing System / Literature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8001000" cy="320040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  <a:latin typeface="Aptos"/>
              </a:rPr>
              <a:t>Compare like with like: published results use different inputs, labels and datasets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371600"/>
            <a:ext cx="1508760" cy="438912"/>
          </a:xfrm>
          <a:prstGeom prst="rect">
            <a:avLst/>
          </a:prstGeom>
          <a:solidFill>
            <a:srgbClr val="371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2296" rIns="82296" tIns="82296" bIns="82296"/>
          <a:lstStyle/>
          <a:p>
            <a:pPr algn="ctr">
              <a:spcAft>
                <a:spcPts val="500"/>
              </a:spcAft>
              <a:defRPr sz="1050" b="1" i="0">
                <a:solidFill>
                  <a:srgbClr val="FFFFFF"/>
                </a:solidFill>
                <a:latin typeface="Aptos"/>
              </a:defRPr>
            </a:pPr>
            <a:r>
              <a:t>Approach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0" y="1371600"/>
            <a:ext cx="1993392" cy="438912"/>
          </a:xfrm>
          <a:prstGeom prst="rect">
            <a:avLst/>
          </a:prstGeom>
          <a:solidFill>
            <a:srgbClr val="371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2296" rIns="82296" tIns="82296" bIns="82296"/>
          <a:lstStyle/>
          <a:p>
            <a:pPr algn="ctr">
              <a:spcAft>
                <a:spcPts val="500"/>
              </a:spcAft>
              <a:defRPr sz="1050" b="1" i="0">
                <a:solidFill>
                  <a:srgbClr val="FFFFFF"/>
                </a:solidFill>
                <a:latin typeface="Aptos"/>
              </a:defRPr>
            </a:pPr>
            <a:r>
              <a:t>Reported evidence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4005072" y="1371600"/>
            <a:ext cx="2176272" cy="438912"/>
          </a:xfrm>
          <a:prstGeom prst="rect">
            <a:avLst/>
          </a:prstGeom>
          <a:solidFill>
            <a:srgbClr val="371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2296" rIns="82296" tIns="82296" bIns="82296"/>
          <a:lstStyle/>
          <a:p>
            <a:pPr algn="ctr">
              <a:spcAft>
                <a:spcPts val="500"/>
              </a:spcAft>
              <a:defRPr sz="1050" b="1" i="0">
                <a:solidFill>
                  <a:srgbClr val="FFFFFF"/>
                </a:solidFill>
                <a:latin typeface="Aptos"/>
              </a:defRPr>
            </a:pPr>
            <a:r>
              <a:t>Strength</a:t>
            </a:r>
          </a:p>
        </p:txBody>
      </p:sp>
      <p:sp>
        <p:nvSpPr>
          <p:cNvPr id="7" name="Rectangle 6"/>
          <p:cNvSpPr/>
          <p:nvPr/>
        </p:nvSpPr>
        <p:spPr>
          <a:xfrm>
            <a:off x="6181344" y="1371600"/>
            <a:ext cx="2331720" cy="438912"/>
          </a:xfrm>
          <a:prstGeom prst="rect">
            <a:avLst/>
          </a:prstGeom>
          <a:solidFill>
            <a:srgbClr val="371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82296" rIns="82296" tIns="82296" bIns="82296"/>
          <a:lstStyle/>
          <a:p>
            <a:pPr algn="ctr">
              <a:spcAft>
                <a:spcPts val="500"/>
              </a:spcAft>
              <a:defRPr sz="1050" b="1" i="0">
                <a:solidFill>
                  <a:srgbClr val="FFFFFF"/>
                </a:solidFill>
                <a:latin typeface="Aptos"/>
              </a:defRPr>
            </a:pPr>
            <a:r>
              <a:t>Limitation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810512"/>
            <a:ext cx="150876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" rIns="50292" tIns="50292" bIns="50292"/>
          <a:lstStyle/>
          <a:p>
            <a:pPr algn="ctr">
              <a:spcAft>
                <a:spcPts val="500"/>
              </a:spcAft>
              <a:defRPr sz="900" b="0" i="0">
                <a:solidFill>
                  <a:srgbClr val="1E293B"/>
                </a:solidFill>
                <a:latin typeface="Aptos"/>
              </a:defRPr>
            </a:pPr>
            <a:r>
              <a:t>Rules</a:t>
            </a:r>
          </a:p>
        </p:txBody>
      </p:sp>
      <p:sp>
        <p:nvSpPr>
          <p:cNvPr id="9" name="Rectangle 8"/>
          <p:cNvSpPr/>
          <p:nvPr/>
        </p:nvSpPr>
        <p:spPr>
          <a:xfrm>
            <a:off x="2011680" y="1810512"/>
            <a:ext cx="1993392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" rIns="50292" tIns="50292" bIns="50292"/>
          <a:lstStyle/>
          <a:p>
            <a:pPr algn="ctr">
              <a:spcAft>
                <a:spcPts val="500"/>
              </a:spcAft>
              <a:defRPr sz="900" b="0" i="0">
                <a:solidFill>
                  <a:srgbClr val="1E293B"/>
                </a:solidFill>
                <a:latin typeface="Aptos"/>
              </a:defRPr>
            </a:pPr>
            <a:r>
              <a:t>Local: 25.0% Macro-F1</a:t>
            </a:r>
            <a:br/>
            <a:r>
              <a:t>25% coverage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05072" y="1810512"/>
            <a:ext cx="2176272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" rIns="50292" tIns="50292" bIns="50292"/>
          <a:lstStyle/>
          <a:p>
            <a:pPr algn="ctr">
              <a:spcAft>
                <a:spcPts val="500"/>
              </a:spcAft>
              <a:defRPr sz="900" b="0" i="0">
                <a:solidFill>
                  <a:srgbClr val="1E293B"/>
                </a:solidFill>
                <a:latin typeface="Aptos"/>
              </a:defRPr>
            </a:pPr>
            <a:r>
              <a:t>Cheap, auditable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81344" y="1810512"/>
            <a:ext cx="23317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" rIns="50292" tIns="50292" bIns="50292"/>
          <a:lstStyle/>
          <a:p>
            <a:pPr algn="ctr">
              <a:spcAft>
                <a:spcPts val="500"/>
              </a:spcAft>
              <a:defRPr sz="900" b="0" i="0">
                <a:solidFill>
                  <a:srgbClr val="1E293B"/>
                </a:solidFill>
                <a:latin typeface="Aptos"/>
              </a:defRPr>
            </a:pPr>
            <a:r>
              <a:t>Brittle; abstains often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359152"/>
            <a:ext cx="1508760" cy="530352"/>
          </a:xfrm>
          <a:prstGeom prst="rect">
            <a:avLst/>
          </a:prstGeom>
          <a:solidFill>
            <a:srgbClr val="F7F6FA"/>
          </a:solidFill>
          <a:ln w="12700">
            <a:solidFill>
              <a:srgbClr val="E0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" rIns="50292" tIns="50292" bIns="50292"/>
          <a:lstStyle/>
          <a:p>
            <a:pPr algn="ctr">
              <a:spcAft>
                <a:spcPts val="500"/>
              </a:spcAft>
              <a:defRPr sz="900" b="0" i="0">
                <a:solidFill>
                  <a:srgbClr val="1E293B"/>
                </a:solidFill>
                <a:latin typeface="Aptos"/>
              </a:defRPr>
            </a:pPr>
            <a:r>
              <a:t>Word TF-IDF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11680" y="2359152"/>
            <a:ext cx="1993392" cy="530352"/>
          </a:xfrm>
          <a:prstGeom prst="rect">
            <a:avLst/>
          </a:prstGeom>
          <a:solidFill>
            <a:srgbClr val="F7F6FA"/>
          </a:solidFill>
          <a:ln w="12700">
            <a:solidFill>
              <a:srgbClr val="E0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" rIns="50292" tIns="50292" bIns="50292"/>
          <a:lstStyle/>
          <a:p>
            <a:pPr algn="ctr">
              <a:spcAft>
                <a:spcPts val="500"/>
              </a:spcAft>
              <a:defRPr sz="900" b="0" i="0">
                <a:solidFill>
                  <a:srgbClr val="1E293B"/>
                </a:solidFill>
                <a:latin typeface="Aptos"/>
              </a:defRPr>
            </a:pPr>
            <a:r>
              <a:t>Local: 37.5% accuracy</a:t>
            </a:r>
            <a:br/>
            <a:r>
              <a:t>33.33% Macro-F1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05072" y="2359152"/>
            <a:ext cx="2176272" cy="530352"/>
          </a:xfrm>
          <a:prstGeom prst="rect">
            <a:avLst/>
          </a:prstGeom>
          <a:solidFill>
            <a:srgbClr val="F7F6FA"/>
          </a:solidFill>
          <a:ln w="12700">
            <a:solidFill>
              <a:srgbClr val="E0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" rIns="50292" tIns="50292" bIns="50292"/>
          <a:lstStyle/>
          <a:p>
            <a:pPr algn="ctr">
              <a:spcAft>
                <a:spcPts val="500"/>
              </a:spcAft>
              <a:defRPr sz="900" b="0" i="0">
                <a:solidFill>
                  <a:srgbClr val="1E293B"/>
                </a:solidFill>
                <a:latin typeface="Aptos"/>
              </a:defRPr>
            </a:pPr>
            <a:r>
              <a:t>Fast, inspectable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81344" y="2359152"/>
            <a:ext cx="2331720" cy="530352"/>
          </a:xfrm>
          <a:prstGeom prst="rect">
            <a:avLst/>
          </a:prstGeom>
          <a:solidFill>
            <a:srgbClr val="F7F6FA"/>
          </a:solidFill>
          <a:ln w="12700">
            <a:solidFill>
              <a:srgbClr val="E0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" rIns="50292" tIns="50292" bIns="50292"/>
          <a:lstStyle/>
          <a:p>
            <a:pPr algn="ctr">
              <a:spcAft>
                <a:spcPts val="500"/>
              </a:spcAft>
              <a:defRPr sz="900" b="0" i="0">
                <a:solidFill>
                  <a:srgbClr val="1E293B"/>
                </a:solidFill>
                <a:latin typeface="Aptos"/>
              </a:defRPr>
            </a:pPr>
            <a:r>
              <a:t>Weak to spelling variants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07791"/>
            <a:ext cx="1508760" cy="530352"/>
          </a:xfrm>
          <a:prstGeom prst="rect">
            <a:avLst/>
          </a:prstGeom>
          <a:solidFill>
            <a:srgbClr val="F6EFFA"/>
          </a:solidFill>
          <a:ln w="12700">
            <a:solidFill>
              <a:srgbClr val="E0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" rIns="50292" tIns="50292" bIns="50292"/>
          <a:lstStyle/>
          <a:p>
            <a:pPr algn="ctr">
              <a:spcAft>
                <a:spcPts val="500"/>
              </a:spcAft>
              <a:defRPr sz="900" b="1" i="0">
                <a:solidFill>
                  <a:srgbClr val="1E293B"/>
                </a:solidFill>
                <a:latin typeface="Aptos"/>
              </a:defRPr>
            </a:pPr>
            <a:r>
              <a:t>Character TF-IDF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11680" y="2907791"/>
            <a:ext cx="1993392" cy="530352"/>
          </a:xfrm>
          <a:prstGeom prst="rect">
            <a:avLst/>
          </a:prstGeom>
          <a:solidFill>
            <a:srgbClr val="F6EFFA"/>
          </a:solidFill>
          <a:ln w="12700">
            <a:solidFill>
              <a:srgbClr val="E0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" rIns="50292" tIns="50292" bIns="50292"/>
          <a:lstStyle/>
          <a:p>
            <a:pPr algn="ctr">
              <a:spcAft>
                <a:spcPts val="500"/>
              </a:spcAft>
              <a:defRPr sz="900" b="0" i="0">
                <a:solidFill>
                  <a:srgbClr val="1E293B"/>
                </a:solidFill>
                <a:latin typeface="Aptos"/>
              </a:defRPr>
            </a:pPr>
            <a:r>
              <a:t>Local: 75.0% accuracy</a:t>
            </a:r>
            <a:br/>
            <a:r>
              <a:t>66.67% Macro-F1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05072" y="2907791"/>
            <a:ext cx="2176272" cy="530352"/>
          </a:xfrm>
          <a:prstGeom prst="rect">
            <a:avLst/>
          </a:prstGeom>
          <a:solidFill>
            <a:srgbClr val="F6EFFA"/>
          </a:solidFill>
          <a:ln w="12700">
            <a:solidFill>
              <a:srgbClr val="E0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" rIns="50292" tIns="50292" bIns="50292"/>
          <a:lstStyle/>
          <a:p>
            <a:pPr algn="ctr">
              <a:spcAft>
                <a:spcPts val="500"/>
              </a:spcAft>
              <a:defRPr sz="900" b="0" i="0">
                <a:solidFill>
                  <a:srgbClr val="1E293B"/>
                </a:solidFill>
                <a:latin typeface="Aptos"/>
              </a:defRPr>
            </a:pPr>
            <a:r>
              <a:t>Robust substrings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81344" y="2907791"/>
            <a:ext cx="2331720" cy="530352"/>
          </a:xfrm>
          <a:prstGeom prst="rect">
            <a:avLst/>
          </a:prstGeom>
          <a:solidFill>
            <a:srgbClr val="F6EFFA"/>
          </a:solidFill>
          <a:ln w="12700">
            <a:solidFill>
              <a:srgbClr val="E0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" rIns="50292" tIns="50292" bIns="50292"/>
          <a:lstStyle/>
          <a:p>
            <a:pPr algn="ctr">
              <a:spcAft>
                <a:spcPts val="500"/>
              </a:spcAft>
              <a:defRPr sz="900" b="0" i="0">
                <a:solidFill>
                  <a:srgbClr val="1E293B"/>
                </a:solidFill>
                <a:latin typeface="Aptos"/>
              </a:defRPr>
            </a:pPr>
            <a:r>
              <a:t>Selected tie: 331,415 bytes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456432"/>
            <a:ext cx="1508760" cy="530352"/>
          </a:xfrm>
          <a:prstGeom prst="rect">
            <a:avLst/>
          </a:prstGeom>
          <a:solidFill>
            <a:srgbClr val="F7F6FA"/>
          </a:solidFill>
          <a:ln w="12700">
            <a:solidFill>
              <a:srgbClr val="E0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" rIns="50292" tIns="50292" bIns="50292"/>
          <a:lstStyle/>
          <a:p>
            <a:pPr algn="ctr">
              <a:spcAft>
                <a:spcPts val="500"/>
              </a:spcAft>
              <a:defRPr sz="900" b="0" i="0">
                <a:solidFill>
                  <a:srgbClr val="1E293B"/>
                </a:solidFill>
                <a:latin typeface="Aptos"/>
              </a:defRPr>
            </a:pPr>
            <a:r>
              <a:t>Word + character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11680" y="3456432"/>
            <a:ext cx="1993392" cy="530352"/>
          </a:xfrm>
          <a:prstGeom prst="rect">
            <a:avLst/>
          </a:prstGeom>
          <a:solidFill>
            <a:srgbClr val="F7F6FA"/>
          </a:solidFill>
          <a:ln w="12700">
            <a:solidFill>
              <a:srgbClr val="E0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" rIns="50292" tIns="50292" bIns="50292"/>
          <a:lstStyle/>
          <a:p>
            <a:pPr algn="ctr">
              <a:spcAft>
                <a:spcPts val="500"/>
              </a:spcAft>
              <a:defRPr sz="900" b="0" i="0">
                <a:solidFill>
                  <a:srgbClr val="1E293B"/>
                </a:solidFill>
                <a:latin typeface="Aptos"/>
              </a:defRPr>
            </a:pPr>
            <a:r>
              <a:t>Local: 75.0% accuracy</a:t>
            </a:r>
            <a:br/>
            <a:r>
              <a:t>66.67% Macro-F1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05072" y="3456432"/>
            <a:ext cx="2176272" cy="530352"/>
          </a:xfrm>
          <a:prstGeom prst="rect">
            <a:avLst/>
          </a:prstGeom>
          <a:solidFill>
            <a:srgbClr val="F7F6FA"/>
          </a:solidFill>
          <a:ln w="12700">
            <a:solidFill>
              <a:srgbClr val="E0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" rIns="50292" tIns="50292" bIns="50292"/>
          <a:lstStyle/>
          <a:p>
            <a:pPr algn="ctr">
              <a:spcAft>
                <a:spcPts val="500"/>
              </a:spcAft>
              <a:defRPr sz="900" b="0" i="0">
                <a:solidFill>
                  <a:srgbClr val="1E293B"/>
                </a:solidFill>
                <a:latin typeface="Aptos"/>
              </a:defRPr>
            </a:pPr>
            <a:r>
              <a:t>Same decisions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81344" y="3456432"/>
            <a:ext cx="2331720" cy="530352"/>
          </a:xfrm>
          <a:prstGeom prst="rect">
            <a:avLst/>
          </a:prstGeom>
          <a:solidFill>
            <a:srgbClr val="F7F6FA"/>
          </a:solidFill>
          <a:ln w="12700">
            <a:solidFill>
              <a:srgbClr val="E0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" rIns="50292" tIns="50292" bIns="50292"/>
          <a:lstStyle/>
          <a:p>
            <a:pPr algn="ctr">
              <a:spcAft>
                <a:spcPts val="500"/>
              </a:spcAft>
              <a:defRPr sz="900" b="0" i="0">
                <a:solidFill>
                  <a:srgbClr val="1E293B"/>
                </a:solidFill>
                <a:latin typeface="Aptos"/>
              </a:defRPr>
            </a:pPr>
            <a:r>
              <a:t>Larger: 415,954 bytes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4005072"/>
            <a:ext cx="150876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" rIns="50292" tIns="50292" bIns="50292"/>
          <a:lstStyle/>
          <a:p>
            <a:pPr algn="ctr">
              <a:spcAft>
                <a:spcPts val="500"/>
              </a:spcAft>
              <a:defRPr sz="900" b="0" i="0">
                <a:solidFill>
                  <a:srgbClr val="1E293B"/>
                </a:solidFill>
                <a:latin typeface="Aptos"/>
              </a:defRPr>
            </a:pPr>
            <a:r>
              <a:t>HingRoBERTa [7]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011680" y="4005072"/>
            <a:ext cx="1993392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" rIns="50292" tIns="50292" bIns="50292"/>
          <a:lstStyle/>
          <a:p>
            <a:pPr algn="ctr">
              <a:spcAft>
                <a:spcPts val="500"/>
              </a:spcAft>
              <a:defRPr sz="900" b="0" i="0">
                <a:solidFill>
                  <a:srgbClr val="1E293B"/>
                </a:solidFill>
                <a:latin typeface="Aptos"/>
              </a:defRPr>
            </a:pPr>
            <a:r>
              <a:t>74.41% accuracy</a:t>
            </a:r>
            <a:br/>
            <a:r>
              <a:t>71.49% F1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05072" y="4005072"/>
            <a:ext cx="2176272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" rIns="50292" tIns="50292" bIns="50292"/>
          <a:lstStyle/>
          <a:p>
            <a:pPr algn="ctr">
              <a:spcAft>
                <a:spcPts val="500"/>
              </a:spcAft>
              <a:defRPr sz="900" b="0" i="0">
                <a:solidFill>
                  <a:srgbClr val="1E293B"/>
                </a:solidFill>
                <a:latin typeface="Aptos"/>
              </a:defRPr>
            </a:pPr>
            <a:r>
              <a:t>Contextual Hinglish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81344" y="4005072"/>
            <a:ext cx="23317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" rIns="50292" tIns="50292" bIns="50292"/>
          <a:lstStyle/>
          <a:p>
            <a:pPr algn="ctr">
              <a:spcAft>
                <a:spcPts val="500"/>
              </a:spcAft>
              <a:defRPr sz="900" b="0" i="0">
                <a:solidFill>
                  <a:srgbClr val="1E293B"/>
                </a:solidFill>
                <a:latin typeface="Aptos"/>
              </a:defRPr>
            </a:pPr>
            <a:r>
              <a:t>Different I4C task/data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4553712"/>
            <a:ext cx="1508760" cy="530352"/>
          </a:xfrm>
          <a:prstGeom prst="rect">
            <a:avLst/>
          </a:prstGeom>
          <a:solidFill>
            <a:srgbClr val="F7F6FA"/>
          </a:solidFill>
          <a:ln w="12700">
            <a:solidFill>
              <a:srgbClr val="E0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" rIns="50292" tIns="50292" bIns="50292"/>
          <a:lstStyle/>
          <a:p>
            <a:pPr algn="ctr">
              <a:spcAft>
                <a:spcPts val="500"/>
              </a:spcAft>
              <a:defRPr sz="900" b="0" i="0">
                <a:solidFill>
                  <a:srgbClr val="1E293B"/>
                </a:solidFill>
                <a:latin typeface="Aptos"/>
              </a:defRPr>
            </a:pPr>
            <a:r>
              <a:t>Neural URL model [9]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011680" y="4553712"/>
            <a:ext cx="1993392" cy="530352"/>
          </a:xfrm>
          <a:prstGeom prst="rect">
            <a:avLst/>
          </a:prstGeom>
          <a:solidFill>
            <a:srgbClr val="F7F6FA"/>
          </a:solidFill>
          <a:ln w="12700">
            <a:solidFill>
              <a:srgbClr val="E0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" rIns="50292" tIns="50292" bIns="50292"/>
          <a:lstStyle/>
          <a:p>
            <a:pPr algn="ctr">
              <a:spcAft>
                <a:spcPts val="500"/>
              </a:spcAft>
              <a:defRPr sz="900" b="0" i="0">
                <a:solidFill>
                  <a:srgbClr val="1E293B"/>
                </a:solidFill>
                <a:latin typeface="Aptos"/>
              </a:defRPr>
            </a:pPr>
            <a:r>
              <a:t>About 97% validation accuracy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005072" y="4553712"/>
            <a:ext cx="2176272" cy="530352"/>
          </a:xfrm>
          <a:prstGeom prst="rect">
            <a:avLst/>
          </a:prstGeom>
          <a:solidFill>
            <a:srgbClr val="F7F6FA"/>
          </a:solidFill>
          <a:ln w="12700">
            <a:solidFill>
              <a:srgbClr val="E0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" rIns="50292" tIns="50292" bIns="50292"/>
          <a:lstStyle/>
          <a:p>
            <a:pPr algn="ctr">
              <a:spcAft>
                <a:spcPts val="500"/>
              </a:spcAft>
              <a:defRPr sz="900" b="0" i="0">
                <a:solidFill>
                  <a:srgbClr val="1E293B"/>
                </a:solidFill>
                <a:latin typeface="Aptos"/>
              </a:defRPr>
            </a:pPr>
            <a:r>
              <a:t>Specialized URL scale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81344" y="4553712"/>
            <a:ext cx="2331720" cy="530352"/>
          </a:xfrm>
          <a:prstGeom prst="rect">
            <a:avLst/>
          </a:prstGeom>
          <a:solidFill>
            <a:srgbClr val="F7F6FA"/>
          </a:solidFill>
          <a:ln w="12700">
            <a:solidFill>
              <a:srgbClr val="E0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" rIns="50292" tIns="50292" bIns="50292"/>
          <a:lstStyle/>
          <a:p>
            <a:pPr algn="ctr">
              <a:spcAft>
                <a:spcPts val="500"/>
              </a:spcAft>
              <a:defRPr sz="900" b="0" i="0">
                <a:solidFill>
                  <a:srgbClr val="1E293B"/>
                </a:solidFill>
                <a:latin typeface="Aptos"/>
              </a:defRPr>
            </a:pPr>
            <a:r>
              <a:t>Binary URL task only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102352"/>
            <a:ext cx="150876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" rIns="50292" tIns="50292" bIns="50292"/>
          <a:lstStyle/>
          <a:p>
            <a:pPr algn="ctr">
              <a:spcAft>
                <a:spcPts val="500"/>
              </a:spcAft>
              <a:defRPr sz="900" b="0" i="0">
                <a:solidFill>
                  <a:srgbClr val="1E293B"/>
                </a:solidFill>
                <a:latin typeface="Aptos"/>
              </a:defRPr>
            </a:pPr>
            <a:r>
              <a:t>Financial GNNs [10]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011680" y="5102352"/>
            <a:ext cx="1993392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" rIns="50292" tIns="50292" bIns="50292"/>
          <a:lstStyle/>
          <a:p>
            <a:pPr algn="ctr">
              <a:spcAft>
                <a:spcPts val="500"/>
              </a:spcAft>
              <a:defRPr sz="900" b="0" i="0">
                <a:solidFill>
                  <a:srgbClr val="1E293B"/>
                </a:solidFill>
                <a:latin typeface="Aptos"/>
              </a:defRPr>
            </a:pPr>
            <a:r>
              <a:t>No universal score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05072" y="5102352"/>
            <a:ext cx="2176272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" rIns="50292" tIns="50292" bIns="50292"/>
          <a:lstStyle/>
          <a:p>
            <a:pPr algn="ctr">
              <a:spcAft>
                <a:spcPts val="500"/>
              </a:spcAft>
              <a:defRPr sz="900" b="0" i="0">
                <a:solidFill>
                  <a:srgbClr val="1E293B"/>
                </a:solidFill>
                <a:latin typeface="Aptos"/>
              </a:defRPr>
            </a:pPr>
            <a:r>
              <a:t>Relational patterns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81344" y="5102352"/>
            <a:ext cx="233172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0292" rIns="50292" tIns="50292" bIns="50292"/>
          <a:lstStyle/>
          <a:p>
            <a:pPr algn="ctr">
              <a:spcAft>
                <a:spcPts val="500"/>
              </a:spcAft>
              <a:defRPr sz="900" b="0" i="0">
                <a:solidFill>
                  <a:srgbClr val="1E293B"/>
                </a:solidFill>
                <a:latin typeface="Aptos"/>
              </a:defRPr>
            </a:pPr>
            <a:r>
              <a:t>Needs labelled temporal graph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920240" y="5833872"/>
            <a:ext cx="5303520" cy="310896"/>
          </a:xfrm>
          <a:prstGeom prst="roundRect">
            <a:avLst/>
          </a:prstGeom>
          <a:solidFill>
            <a:srgbClr val="A9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938528" y="5847588"/>
            <a:ext cx="5266944" cy="2468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19" b="1" i="0">
                <a:solidFill>
                  <a:srgbClr val="FFFFFF"/>
                </a:solidFill>
                <a:latin typeface="Aptos"/>
              </a:rPr>
              <a:t>External scores are not directly comparable; this is not a shared leaderboard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6528816"/>
            <a:ext cx="7818120" cy="201168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830" b="0" i="0">
                <a:solidFill>
                  <a:srgbClr val="475569"/>
                </a:solidFill>
                <a:latin typeface="Aptos"/>
              </a:rPr>
              <a:t>Sources: [7] Rani et al. 2024; [9] Ghalechyan et al. 2024; [10] Cheng et al. 2024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94192" y="6528816"/>
            <a:ext cx="274320" cy="182880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r"/>
            <a:r>
              <a:rPr sz="800" b="1" i="0">
                <a:solidFill>
                  <a:srgbClr val="5B1D8C"/>
                </a:solidFill>
                <a:latin typeface="Apto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E293B"/>
                </a:solidFill>
                <a:latin typeface="Aptos Display"/>
              </a:rPr>
              <a:t>Proposed 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8001000" cy="320040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  <a:latin typeface="Aptos"/>
              </a:rPr>
              <a:t>One shared analysis path; storage and graph reads remain optional and privacy-bounded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25880"/>
            <a:ext cx="6565392" cy="48006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D7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raudlens-architecture-focus.png"/>
          <p:cNvPicPr>
            <a:picLocks noChangeAspect="1"/>
          </p:cNvPicPr>
          <p:nvPr/>
        </p:nvPicPr>
        <p:blipFill>
          <a:blip r:embed="rId2"/>
          <a:srcRect t="9700" b="4586"/>
          <a:stretch>
            <a:fillRect/>
          </a:stretch>
        </p:blipFill>
        <p:spPr>
          <a:xfrm>
            <a:off x="539496" y="1639388"/>
            <a:ext cx="6492240" cy="417358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242048" y="1353312"/>
            <a:ext cx="1353312" cy="1207008"/>
          </a:xfrm>
          <a:prstGeom prst="roundRect">
            <a:avLst/>
          </a:prstGeom>
          <a:solidFill>
            <a:srgbClr val="F6EFFA"/>
          </a:solidFill>
          <a:ln w="8890">
            <a:solidFill>
              <a:srgbClr val="E1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242048" y="1353312"/>
            <a:ext cx="73152" cy="1207008"/>
          </a:xfrm>
          <a:prstGeom prst="rect">
            <a:avLst/>
          </a:prstGeom>
          <a:solidFill>
            <a:srgbClr val="5B1D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06640" y="1463040"/>
            <a:ext cx="1078992" cy="256032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200" b="1" i="0">
                <a:solidFill>
                  <a:srgbClr val="5B1D8C"/>
                </a:solidFill>
                <a:latin typeface="Aptos"/>
              </a:rPr>
              <a:t>Input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0" y="1792224"/>
            <a:ext cx="1078992" cy="694944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960" b="0" i="0">
                <a:solidFill>
                  <a:srgbClr val="1E293B"/>
                </a:solidFill>
                <a:latin typeface="Aptos"/>
              </a:rPr>
              <a:t>Text or bounded PNG/JPEG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42048" y="2715768"/>
            <a:ext cx="1353312" cy="1207008"/>
          </a:xfrm>
          <a:prstGeom prst="roundRect">
            <a:avLst/>
          </a:prstGeom>
          <a:solidFill>
            <a:srgbClr val="E7F7F7"/>
          </a:solidFill>
          <a:ln w="8890">
            <a:solidFill>
              <a:srgbClr val="E1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242048" y="2715768"/>
            <a:ext cx="73152" cy="1207008"/>
          </a:xfrm>
          <a:prstGeom prst="rect">
            <a:avLst/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0" y="2825496"/>
            <a:ext cx="1078992" cy="256032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200" b="1" i="0">
                <a:solidFill>
                  <a:srgbClr val="0097A7"/>
                </a:solidFill>
                <a:latin typeface="Aptos"/>
              </a:rPr>
              <a:t>Decision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0" y="3154680"/>
            <a:ext cx="1078992" cy="694944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960" b="0" i="0">
                <a:solidFill>
                  <a:srgbClr val="1E293B"/>
                </a:solidFill>
                <a:latin typeface="Aptos"/>
              </a:rPr>
              <a:t>Classifier + evidence + risk + draft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42048" y="4078224"/>
            <a:ext cx="1353312" cy="1207008"/>
          </a:xfrm>
          <a:prstGeom prst="roundRect">
            <a:avLst/>
          </a:prstGeom>
          <a:solidFill>
            <a:srgbClr val="FDF1F1"/>
          </a:solidFill>
          <a:ln w="8890">
            <a:solidFill>
              <a:srgbClr val="E1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242048" y="4078224"/>
            <a:ext cx="73152" cy="1207008"/>
          </a:xfrm>
          <a:prstGeom prst="rect">
            <a:avLst/>
          </a:prstGeom>
          <a:solidFill>
            <a:srgbClr val="A9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0" y="4187952"/>
            <a:ext cx="1078992" cy="256032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200" b="1" i="0">
                <a:solidFill>
                  <a:srgbClr val="A92330"/>
                </a:solidFill>
                <a:latin typeface="Aptos"/>
              </a:rPr>
              <a:t>Consent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6640" y="4517136"/>
            <a:ext cx="1078992" cy="694944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960" b="0" i="0">
                <a:solidFill>
                  <a:srgbClr val="1E293B"/>
                </a:solidFill>
                <a:latin typeface="Aptos"/>
              </a:rPr>
              <a:t>Expiring local cases; masked links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42048" y="5532120"/>
            <a:ext cx="1353312" cy="310896"/>
          </a:xfrm>
          <a:prstGeom prst="roundRect">
            <a:avLst/>
          </a:prstGeom>
          <a:solidFill>
            <a:srgbClr val="371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60336" y="5545836"/>
            <a:ext cx="1316736" cy="2468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Aptos"/>
              </a:rPr>
              <a:t>NO AUTO-FILING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528816"/>
            <a:ext cx="7818120" cy="201168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830" b="0" i="0">
                <a:solidFill>
                  <a:srgbClr val="475569"/>
                </a:solidFill>
                <a:latin typeface="Aptos"/>
              </a:rPr>
              <a:t>Image bytes are discarded | Model artifacts are hash-verified before loading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94192" y="6528816"/>
            <a:ext cx="274320" cy="182880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r"/>
            <a:r>
              <a:rPr sz="800" b="1" i="0">
                <a:solidFill>
                  <a:srgbClr val="5B1D8C"/>
                </a:solidFill>
                <a:latin typeface="Apto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E293B"/>
                </a:solidFill>
                <a:latin typeface="Aptos Display"/>
              </a:rPr>
              <a:t>Tools &amp; Technologies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8001000" cy="320040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  <a:latin typeface="Aptos"/>
              </a:rPr>
              <a:t>A local CPU stack with reproducible artifacts and no paid service dependency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89888"/>
            <a:ext cx="2487168" cy="1691640"/>
          </a:xfrm>
          <a:prstGeom prst="roundRect">
            <a:avLst/>
          </a:prstGeom>
          <a:solidFill>
            <a:srgbClr val="F6EFFA"/>
          </a:solidFill>
          <a:ln w="8890">
            <a:solidFill>
              <a:srgbClr val="E1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89888"/>
            <a:ext cx="73152" cy="1691640"/>
          </a:xfrm>
          <a:prstGeom prst="rect">
            <a:avLst/>
          </a:prstGeom>
          <a:solidFill>
            <a:srgbClr val="5B1D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499616"/>
            <a:ext cx="2212848" cy="256032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400" b="1" i="0">
                <a:solidFill>
                  <a:srgbClr val="5B1D8C"/>
                </a:solidFill>
                <a:latin typeface="Aptos"/>
              </a:rPr>
              <a:t>Language + 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" y="1828800"/>
            <a:ext cx="2212848" cy="1179576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Aptos"/>
              </a:rPr>
              <a:t>Python 3.10+
scikit-learn
TF-IDF + Logistic Regression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46120" y="1389888"/>
            <a:ext cx="2487168" cy="1691640"/>
          </a:xfrm>
          <a:prstGeom prst="roundRect">
            <a:avLst/>
          </a:prstGeom>
          <a:solidFill>
            <a:srgbClr val="E7F7F7"/>
          </a:solidFill>
          <a:ln w="8890">
            <a:solidFill>
              <a:srgbClr val="E1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46120" y="1389888"/>
            <a:ext cx="73152" cy="1691640"/>
          </a:xfrm>
          <a:prstGeom prst="rect">
            <a:avLst/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10712" y="1499616"/>
            <a:ext cx="2212848" cy="256032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400" b="1" i="0">
                <a:solidFill>
                  <a:srgbClr val="0097A7"/>
                </a:solidFill>
                <a:latin typeface="Aptos"/>
              </a:rPr>
              <a:t>Interfaces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10712" y="1828800"/>
            <a:ext cx="2212848" cy="1179576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Aptos"/>
              </a:rPr>
              <a:t>FastAPI
Next.js
Pydantic validation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89320" y="1389888"/>
            <a:ext cx="2487168" cy="1691640"/>
          </a:xfrm>
          <a:prstGeom prst="roundRect">
            <a:avLst/>
          </a:prstGeom>
          <a:solidFill>
            <a:srgbClr val="FFF8E1"/>
          </a:solidFill>
          <a:ln w="8890">
            <a:solidFill>
              <a:srgbClr val="E1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989320" y="1389888"/>
            <a:ext cx="73152" cy="1691640"/>
          </a:xfrm>
          <a:prstGeom prst="rect">
            <a:avLst/>
          </a:prstGeom>
          <a:solidFill>
            <a:srgbClr val="E2B1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53912" y="1499616"/>
            <a:ext cx="2212848" cy="256032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400" b="1" i="0">
                <a:solidFill>
                  <a:srgbClr val="E2B11F"/>
                </a:solidFill>
                <a:latin typeface="Aptos"/>
              </a:rPr>
              <a:t>Evidence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53912" y="1828800"/>
            <a:ext cx="2212848" cy="1179576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Aptos"/>
              </a:rPr>
              <a:t>Tesseract eng+hin
Pillow image policy
Entity + URL rules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447288"/>
            <a:ext cx="3886200" cy="1691640"/>
          </a:xfrm>
          <a:prstGeom prst="roundRect">
            <a:avLst/>
          </a:prstGeom>
          <a:solidFill>
            <a:srgbClr val="EDF9F3"/>
          </a:solidFill>
          <a:ln w="8890">
            <a:solidFill>
              <a:srgbClr val="E1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447288"/>
            <a:ext cx="73152" cy="1691640"/>
          </a:xfrm>
          <a:prstGeom prst="rect">
            <a:avLst/>
          </a:prstGeom>
          <a:solidFill>
            <a:srgbClr val="237C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3557016"/>
            <a:ext cx="3611880" cy="256032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400" b="1" i="0">
                <a:solidFill>
                  <a:srgbClr val="237C58"/>
                </a:solidFill>
                <a:latin typeface="Aptos"/>
              </a:rPr>
              <a:t>Storage + privacy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" y="3886200"/>
            <a:ext cx="3611880" cy="1179576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Aptos"/>
              </a:rPr>
              <a:t>SQLite
Retention deadlines
HMAC IDs + masks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63440" y="3447288"/>
            <a:ext cx="3886200" cy="1691640"/>
          </a:xfrm>
          <a:prstGeom prst="roundRect">
            <a:avLst/>
          </a:prstGeom>
          <a:solidFill>
            <a:srgbClr val="FDF1F1"/>
          </a:solidFill>
          <a:ln w="8890">
            <a:solidFill>
              <a:srgbClr val="E1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63440" y="3447288"/>
            <a:ext cx="73152" cy="1691640"/>
          </a:xfrm>
          <a:prstGeom prst="rect">
            <a:avLst/>
          </a:prstGeom>
          <a:solidFill>
            <a:srgbClr val="A923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28031" y="3557016"/>
            <a:ext cx="3611880" cy="256032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400" b="1" i="0">
                <a:solidFill>
                  <a:srgbClr val="A92330"/>
                </a:solidFill>
                <a:latin typeface="Aptos"/>
              </a:rPr>
              <a:t>Release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28031" y="3886200"/>
            <a:ext cx="3611880" cy="1179576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200" b="0" i="0">
                <a:solidFill>
                  <a:srgbClr val="1E293B"/>
                </a:solidFill>
                <a:latin typeface="Aptos"/>
              </a:rPr>
              <a:t>Pytest
GitHub Actions
Docker Compose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240280" y="5532120"/>
            <a:ext cx="2057400" cy="749808"/>
          </a:xfrm>
          <a:prstGeom prst="roundRect">
            <a:avLst/>
          </a:prstGeom>
          <a:solidFill>
            <a:srgbClr val="F6EF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13432" y="5605272"/>
            <a:ext cx="1911095" cy="329184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ctr"/>
            <a:r>
              <a:rPr sz="2000" b="1" i="0">
                <a:solidFill>
                  <a:srgbClr val="5B1D8C"/>
                </a:solidFill>
                <a:latin typeface="Aptos"/>
              </a:rPr>
              <a:t>355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13432" y="5961888"/>
            <a:ext cx="1911095" cy="201168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ctr"/>
            <a:r>
              <a:rPr sz="919" b="0" i="0">
                <a:solidFill>
                  <a:srgbClr val="475569"/>
                </a:solidFill>
                <a:latin typeface="Aptos"/>
              </a:rPr>
              <a:t>automated tests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800600" y="5532120"/>
            <a:ext cx="2057400" cy="749808"/>
          </a:xfrm>
          <a:prstGeom prst="roundRect">
            <a:avLst/>
          </a:prstGeom>
          <a:solidFill>
            <a:srgbClr val="E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73752" y="5605272"/>
            <a:ext cx="1911095" cy="329184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ctr"/>
            <a:r>
              <a:rPr sz="2000" b="1" i="0">
                <a:solidFill>
                  <a:srgbClr val="0097A7"/>
                </a:solidFill>
                <a:latin typeface="Aptos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73752" y="5961888"/>
            <a:ext cx="1911095" cy="201168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ctr"/>
            <a:r>
              <a:rPr sz="919" b="0" i="0">
                <a:solidFill>
                  <a:srgbClr val="475569"/>
                </a:solidFill>
                <a:latin typeface="Aptos"/>
              </a:rPr>
              <a:t>Python versions in CI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528816"/>
            <a:ext cx="7818120" cy="201168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830" b="0" i="0">
                <a:solidFill>
                  <a:srgbClr val="475569"/>
                </a:solidFill>
                <a:latin typeface="Aptos"/>
              </a:rPr>
              <a:t>Container: loopback ports, non-root user, read-only filesystem, dropped capabilities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94192" y="6528816"/>
            <a:ext cx="274320" cy="182880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r"/>
            <a:r>
              <a:rPr sz="800" b="1" i="0">
                <a:solidFill>
                  <a:srgbClr val="5B1D8C"/>
                </a:solidFill>
                <a:latin typeface="Apto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E293B"/>
                </a:solidFill>
                <a:latin typeface="Aptos Display"/>
              </a:rPr>
              <a:t>Implementation /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8001000" cy="320040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  <a:latin typeface="Aptos"/>
              </a:rPr>
              <a:t>Three synthetic flows prove text, OCR and privacy-safe repeated-entity analysis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517904"/>
            <a:ext cx="1508760" cy="310896"/>
          </a:xfrm>
          <a:prstGeom prst="roundRect">
            <a:avLst/>
          </a:prstGeom>
          <a:solidFill>
            <a:srgbClr val="5B1D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21208" y="1531619"/>
            <a:ext cx="1472184" cy="2468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30" b="1" i="0">
                <a:solidFill>
                  <a:srgbClr val="FFFFFF"/>
                </a:solidFill>
                <a:latin typeface="Aptos"/>
              </a:rPr>
              <a:t>1  TEXT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1947672"/>
            <a:ext cx="1444752" cy="512064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ctr"/>
            <a:r>
              <a:rPr sz="919" b="0" i="0">
                <a:solidFill>
                  <a:srgbClr val="475569"/>
                </a:solidFill>
                <a:latin typeface="Aptos"/>
              </a:rPr>
              <a:t>Prediction, evidence and complaint draft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76272" y="1353312"/>
            <a:ext cx="6419088" cy="13258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D7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raudlens-text-foc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2848" y="1394521"/>
            <a:ext cx="6345936" cy="12434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02920" y="3072384"/>
            <a:ext cx="1508760" cy="310896"/>
          </a:xfrm>
          <a:prstGeom prst="roundRect">
            <a:avLst/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1208" y="3086100"/>
            <a:ext cx="1472184" cy="2468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30" b="1" i="0">
                <a:solidFill>
                  <a:srgbClr val="FFFFFF"/>
                </a:solidFill>
                <a:latin typeface="Aptos"/>
              </a:rPr>
              <a:t>2  SCREENSHOT OCR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3502152"/>
            <a:ext cx="1444752" cy="512064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ctr"/>
            <a:r>
              <a:rPr sz="919" b="0" i="0">
                <a:solidFill>
                  <a:srgbClr val="475569"/>
                </a:solidFill>
                <a:latin typeface="Aptos"/>
              </a:rPr>
              <a:t>Local eng+hin text extraction; image not retained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176272" y="2907792"/>
            <a:ext cx="6419088" cy="13258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D7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fraudlens-ocr-focu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0327" y="2944368"/>
            <a:ext cx="3370977" cy="1252728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502920" y="4626864"/>
            <a:ext cx="1508760" cy="310896"/>
          </a:xfrm>
          <a:prstGeom prst="roundRect">
            <a:avLst/>
          </a:prstGeom>
          <a:solidFill>
            <a:srgbClr val="E2B1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1208" y="4640579"/>
            <a:ext cx="1472184" cy="2468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30" b="1" i="0">
                <a:solidFill>
                  <a:srgbClr val="FFFFFF"/>
                </a:solidFill>
                <a:latin typeface="Aptos"/>
              </a:rPr>
              <a:t>3  ENTITY GRAPH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5056632"/>
            <a:ext cx="1444752" cy="512064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ctr"/>
            <a:r>
              <a:rPr sz="919" b="0" i="0">
                <a:solidFill>
                  <a:srgbClr val="475569"/>
                </a:solidFill>
                <a:latin typeface="Aptos"/>
              </a:rPr>
              <a:t>Two consented incidents linked by one masked host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176272" y="4462272"/>
            <a:ext cx="6419088" cy="13258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D7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fraudlens-graph-focu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69114" y="4498848"/>
            <a:ext cx="3433402" cy="12527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02920" y="6528816"/>
            <a:ext cx="7818120" cy="201168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830" b="0" i="0">
                <a:solidFill>
                  <a:srgbClr val="475569"/>
                </a:solidFill>
                <a:latin typeface="Aptos"/>
              </a:rPr>
              <a:t>Storage starts off | Synthetic fixtures only | Website and API use the same service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94192" y="6528816"/>
            <a:ext cx="274320" cy="182880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r"/>
            <a:r>
              <a:rPr sz="800" b="1" i="0">
                <a:solidFill>
                  <a:srgbClr val="5B1D8C"/>
                </a:solidFill>
                <a:latin typeface="Apto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b="1">
                <a:solidFill>
                  <a:srgbClr val="1E293B"/>
                </a:solidFill>
                <a:latin typeface="Aptos Display"/>
              </a:rPr>
              <a:t>Results &amp;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8001000" cy="320040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  <a:latin typeface="Aptos"/>
              </a:rPr>
              <a:t>Research candidate and deployed runtime answer different questions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25880"/>
            <a:ext cx="4983480" cy="44074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7D7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" y="1688210"/>
            <a:ext cx="4910328" cy="368274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715000" y="1325880"/>
            <a:ext cx="2880360" cy="310896"/>
          </a:xfrm>
          <a:prstGeom prst="roundRect">
            <a:avLst/>
          </a:prstGeom>
          <a:solidFill>
            <a:srgbClr val="371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33288" y="1339595"/>
            <a:ext cx="2843784" cy="2468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19" b="1" i="0">
                <a:solidFill>
                  <a:srgbClr val="FFFFFF"/>
                </a:solidFill>
                <a:latin typeface="Aptos"/>
              </a:rPr>
              <a:t>64 synthetic fraud-only messages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15000" y="1810512"/>
            <a:ext cx="2880360" cy="1353312"/>
          </a:xfrm>
          <a:prstGeom prst="roundRect">
            <a:avLst/>
          </a:prstGeom>
          <a:solidFill>
            <a:srgbClr val="F6EFFA"/>
          </a:solidFill>
          <a:ln w="8890">
            <a:solidFill>
              <a:srgbClr val="E1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715000" y="1810512"/>
            <a:ext cx="73152" cy="1353312"/>
          </a:xfrm>
          <a:prstGeom prst="rect">
            <a:avLst/>
          </a:prstGeom>
          <a:solidFill>
            <a:srgbClr val="5B1D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79592" y="1920240"/>
            <a:ext cx="2606040" cy="256032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350" b="1" i="0">
                <a:solidFill>
                  <a:srgbClr val="5B1D8C"/>
                </a:solidFill>
                <a:latin typeface="Aptos"/>
              </a:rPr>
              <a:t>Selected tied candidate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79592" y="2249424"/>
            <a:ext cx="2606040" cy="841247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120" b="0" i="0">
                <a:solidFill>
                  <a:srgbClr val="1E293B"/>
                </a:solidFill>
                <a:latin typeface="Aptos"/>
              </a:rPr>
              <a:t>Character TF-IDF: 75.0% accuracy / 66.67% Macro-F1
Smaller than tied hybrid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715000" y="3310128"/>
            <a:ext cx="2880360" cy="1353312"/>
          </a:xfrm>
          <a:prstGeom prst="roundRect">
            <a:avLst/>
          </a:prstGeom>
          <a:solidFill>
            <a:srgbClr val="E7F7F7"/>
          </a:solidFill>
          <a:ln w="8890">
            <a:solidFill>
              <a:srgbClr val="E1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715000" y="3310128"/>
            <a:ext cx="73152" cy="1353312"/>
          </a:xfrm>
          <a:prstGeom prst="rect">
            <a:avLst/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79592" y="3419856"/>
            <a:ext cx="2606040" cy="256032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350" b="1" i="0">
                <a:solidFill>
                  <a:srgbClr val="0097A7"/>
                </a:solidFill>
                <a:latin typeface="Aptos"/>
              </a:rPr>
              <a:t>Separate deployed runtime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79592" y="3749039"/>
            <a:ext cx="2606040" cy="841247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120" b="0" i="0">
                <a:solidFill>
                  <a:srgbClr val="1E293B"/>
                </a:solidFill>
                <a:latin typeface="Aptos"/>
              </a:rPr>
              <a:t>50.0% runtime accuracy
50.0% Macro-F1
87.5% coverage after abstention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715000" y="4809744"/>
            <a:ext cx="2880360" cy="950976"/>
          </a:xfrm>
          <a:prstGeom prst="roundRect">
            <a:avLst/>
          </a:prstGeom>
          <a:solidFill>
            <a:srgbClr val="FDF1F1"/>
          </a:solidFill>
          <a:ln w="12700">
            <a:solidFill>
              <a:srgbClr val="ECC6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37160" bIns="137160"/>
          <a:lstStyle/>
          <a:p>
            <a:pPr algn="l">
              <a:spcAft>
                <a:spcPts val="500"/>
              </a:spcAft>
              <a:defRPr sz="1000" b="1" i="0">
                <a:solidFill>
                  <a:srgbClr val="A92330"/>
                </a:solidFill>
                <a:latin typeface="Aptos"/>
              </a:defRPr>
            </a:pPr>
            <a:r>
              <a:t>LIMIT</a:t>
            </a:r>
          </a:p>
          <a:p>
            <a:pPr algn="l">
              <a:spcAft>
                <a:spcPts val="500"/>
              </a:spcAft>
              <a:defRPr sz="1050" b="1" i="0">
                <a:solidFill>
                  <a:srgbClr val="1E293B"/>
                </a:solidFill>
                <a:latin typeface="Aptos"/>
              </a:defRPr>
            </a:pPr>
            <a:r>
              <a:t>8 frozen test rows; no legitimate class; no production-accuracy claim.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797296"/>
            <a:ext cx="4709160" cy="320040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ctr"/>
            <a:r>
              <a:rPr sz="919" b="1" i="0">
                <a:solidFill>
                  <a:srgbClr val="371455"/>
                </a:solidFill>
                <a:latin typeface="Aptos"/>
              </a:rPr>
              <a:t>Left: research outputs. Right: release evaluation after abstention.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528816"/>
            <a:ext cx="7818120" cy="201168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830" b="0" i="0">
                <a:solidFill>
                  <a:srgbClr val="475569"/>
                </a:solidFill>
                <a:latin typeface="Aptos"/>
              </a:rPr>
              <a:t>Sources: outputs/research/classification_summary.csv; models/metrics.json; outputs/phase2/evaluation.json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94192" y="6528816"/>
            <a:ext cx="274320" cy="182880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r"/>
            <a:r>
              <a:rPr sz="800" b="1" i="0">
                <a:solidFill>
                  <a:srgbClr val="5B1D8C"/>
                </a:solidFill>
                <a:latin typeface="Apto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1E293B"/>
                </a:solidFill>
                <a:latin typeface="Aptos Display"/>
              </a:rPr>
              <a:t>Challenges &amp; 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8001000" cy="320040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  <a:latin typeface="Aptos"/>
              </a:rPr>
              <a:t>The main remaining gap is labelled real-world evidence, not another UI feature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89888"/>
            <a:ext cx="3886200" cy="1737360"/>
          </a:xfrm>
          <a:prstGeom prst="roundRect">
            <a:avLst/>
          </a:prstGeom>
          <a:solidFill>
            <a:srgbClr val="F6EFFA"/>
          </a:solidFill>
          <a:ln w="12700">
            <a:solidFill>
              <a:srgbClr val="E0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37160" bIns="137160"/>
          <a:lstStyle/>
          <a:p>
            <a:pPr algn="l">
              <a:spcAft>
                <a:spcPts val="500"/>
              </a:spcAft>
              <a:defRPr sz="1100" b="1" i="0">
                <a:solidFill>
                  <a:srgbClr val="5B1D8C"/>
                </a:solidFill>
                <a:latin typeface="Aptos"/>
              </a:defRPr>
            </a:pPr>
            <a:r>
              <a:t>DATASET</a:t>
            </a:r>
          </a:p>
          <a:p>
            <a:pPr algn="l">
              <a:spcAft>
                <a:spcPts val="500"/>
              </a:spcAft>
              <a:defRPr sz="1120" b="1" i="0">
                <a:solidFill>
                  <a:srgbClr val="1E293B"/>
                </a:solidFill>
                <a:latin typeface="Aptos"/>
              </a:defRPr>
            </a:pPr>
            <a:r>
              <a:t>64 synthetic fraud-only rows; one test row per class; no legitimate class</a:t>
            </a:r>
          </a:p>
          <a:p>
            <a:pPr algn="l">
              <a:spcAft>
                <a:spcPts val="500"/>
              </a:spcAft>
              <a:defRPr sz="1040" b="0" i="0">
                <a:solidFill>
                  <a:srgbClr val="475569"/>
                </a:solidFill>
                <a:latin typeface="Aptos"/>
              </a:defRPr>
            </a:pPr>
            <a:r>
              <a:t>Response: Collect 200+ reviewed rows per label plus benign controls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663440" y="1389888"/>
            <a:ext cx="3886200" cy="1737360"/>
          </a:xfrm>
          <a:prstGeom prst="roundRect">
            <a:avLst/>
          </a:prstGeom>
          <a:solidFill>
            <a:srgbClr val="E7F7F7"/>
          </a:solidFill>
          <a:ln w="12700">
            <a:solidFill>
              <a:srgbClr val="E0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37160" bIns="137160"/>
          <a:lstStyle/>
          <a:p>
            <a:pPr algn="l">
              <a:spcAft>
                <a:spcPts val="500"/>
              </a:spcAft>
              <a:defRPr sz="1100" b="1" i="0">
                <a:solidFill>
                  <a:srgbClr val="0097A7"/>
                </a:solidFill>
                <a:latin typeface="Aptos"/>
              </a:defRPr>
            </a:pPr>
            <a:r>
              <a:t>SUBSYSTEM METRICS</a:t>
            </a:r>
          </a:p>
          <a:p>
            <a:pPr algn="l">
              <a:spcAft>
                <a:spcPts val="500"/>
              </a:spcAft>
              <a:defRPr sz="1120" b="1" i="0">
                <a:solidFill>
                  <a:srgbClr val="1E293B"/>
                </a:solidFill>
                <a:latin typeface="Aptos"/>
              </a:defRPr>
            </a:pPr>
            <a:r>
              <a:t>No labelled OCR CER/WER, entity F1, URL PR-AUC or graph edge benchmark</a:t>
            </a:r>
          </a:p>
          <a:p>
            <a:pPr algn="l">
              <a:spcAft>
                <a:spcPts val="500"/>
              </a:spcAft>
              <a:defRPr sz="1040" b="0" i="0">
                <a:solidFill>
                  <a:srgbClr val="475569"/>
                </a:solidFill>
                <a:latin typeface="Aptos"/>
              </a:defRPr>
            </a:pPr>
            <a:r>
              <a:t>Response: Build separate labelled sets and report each metric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3447288"/>
            <a:ext cx="3886200" cy="1737360"/>
          </a:xfrm>
          <a:prstGeom prst="roundRect">
            <a:avLst/>
          </a:prstGeom>
          <a:solidFill>
            <a:srgbClr val="FFF8E1"/>
          </a:solidFill>
          <a:ln w="12700">
            <a:solidFill>
              <a:srgbClr val="E0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37160" bIns="137160"/>
          <a:lstStyle/>
          <a:p>
            <a:pPr algn="l">
              <a:spcAft>
                <a:spcPts val="500"/>
              </a:spcAft>
              <a:defRPr sz="1100" b="1" i="0">
                <a:solidFill>
                  <a:srgbClr val="E2B11F"/>
                </a:solidFill>
                <a:latin typeface="Aptos"/>
              </a:defRPr>
            </a:pPr>
            <a:r>
              <a:t>GENERALIZATION</a:t>
            </a:r>
          </a:p>
          <a:p>
            <a:pPr algn="l">
              <a:spcAft>
                <a:spcPts val="500"/>
              </a:spcAft>
              <a:defRPr sz="1120" b="1" i="0">
                <a:solidFill>
                  <a:srgbClr val="1E293B"/>
                </a:solidFill>
                <a:latin typeface="Aptos"/>
              </a:defRPr>
            </a:pPr>
            <a:r>
              <a:t>No external source, Devanagari coverage, temporal drift or usability study</a:t>
            </a:r>
          </a:p>
          <a:p>
            <a:pPr algn="l">
              <a:spcAft>
                <a:spcPts val="500"/>
              </a:spcAft>
              <a:defRPr sz="1040" b="0" i="0">
                <a:solidFill>
                  <a:srgbClr val="475569"/>
                </a:solidFill>
                <a:latin typeface="Aptos"/>
              </a:defRPr>
            </a:pPr>
            <a:r>
              <a:t>Response: Grouped external test and supervised user evaluation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63440" y="3447288"/>
            <a:ext cx="3886200" cy="1737360"/>
          </a:xfrm>
          <a:prstGeom prst="roundRect">
            <a:avLst/>
          </a:prstGeom>
          <a:solidFill>
            <a:srgbClr val="FDF1F1"/>
          </a:solidFill>
          <a:ln w="12700">
            <a:solidFill>
              <a:srgbClr val="E0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137160" bIns="137160"/>
          <a:lstStyle/>
          <a:p>
            <a:pPr algn="l">
              <a:spcAft>
                <a:spcPts val="500"/>
              </a:spcAft>
              <a:defRPr sz="1100" b="1" i="0">
                <a:solidFill>
                  <a:srgbClr val="A92330"/>
                </a:solidFill>
                <a:latin typeface="Aptos"/>
              </a:defRPr>
            </a:pPr>
            <a:r>
              <a:t>OPERATIONAL BOUNDARY</a:t>
            </a:r>
          </a:p>
          <a:p>
            <a:pPr algn="l">
              <a:spcAft>
                <a:spcPts val="500"/>
              </a:spcAft>
              <a:defRPr sz="1120" b="1" i="0">
                <a:solidFill>
                  <a:srgbClr val="1E293B"/>
                </a:solidFill>
                <a:latin typeface="Aptos"/>
              </a:defRPr>
            </a:pPr>
            <a:r>
              <a:t>No authentication for direct public deployment</a:t>
            </a:r>
          </a:p>
          <a:p>
            <a:pPr algn="l">
              <a:spcAft>
                <a:spcPts val="500"/>
              </a:spcAft>
              <a:defRPr sz="1040" b="0" i="0">
                <a:solidFill>
                  <a:srgbClr val="475569"/>
                </a:solidFill>
                <a:latin typeface="Aptos"/>
              </a:defRPr>
            </a:pPr>
            <a:r>
              <a:t>Response: Keep loopback local; add auth and monitoring before exposure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20240" y="5650992"/>
            <a:ext cx="5303520" cy="310896"/>
          </a:xfrm>
          <a:prstGeom prst="roundRect">
            <a:avLst/>
          </a:prstGeom>
          <a:solidFill>
            <a:srgbClr val="3714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38528" y="5664707"/>
            <a:ext cx="5266944" cy="2468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ptos"/>
              </a:rPr>
              <a:t>Human review required | consented storage | masked graph | no automatic filing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528816"/>
            <a:ext cx="7818120" cy="201168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830" b="0" i="0">
                <a:solidFill>
                  <a:srgbClr val="475569"/>
                </a:solidFill>
                <a:latin typeface="Aptos"/>
              </a:rPr>
              <a:t>A single frozen-test error changes accuracy by 12.5 percentage points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94192" y="6528816"/>
            <a:ext cx="274320" cy="182880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r"/>
            <a:r>
              <a:rPr sz="800" b="1" i="0">
                <a:solidFill>
                  <a:srgbClr val="5B1D8C"/>
                </a:solidFill>
                <a:latin typeface="Apto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02920" y="960120"/>
            <a:ext cx="8001000" cy="320040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100" b="0" i="0">
                <a:solidFill>
                  <a:srgbClr val="475569"/>
                </a:solidFill>
                <a:latin typeface="Aptos"/>
              </a:rPr>
              <a:t>Completed software scope; next target is stronger empirical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292608"/>
            <a:ext cx="6720840" cy="5029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1E293B"/>
                </a:solidFill>
                <a:latin typeface="Aptos Display"/>
              </a:rPr>
              <a:t>Conclusion &amp; Future Work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371600"/>
            <a:ext cx="2880360" cy="4526280"/>
          </a:xfrm>
          <a:prstGeom prst="roundRect">
            <a:avLst/>
          </a:prstGeom>
          <a:solidFill>
            <a:srgbClr val="F6EFFA"/>
          </a:solidFill>
          <a:ln w="12700">
            <a:solidFill>
              <a:srgbClr val="DAC6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rIns="228600" tIns="228600" bIns="228600"/>
          <a:lstStyle/>
          <a:p>
            <a:pPr algn="l">
              <a:spcAft>
                <a:spcPts val="500"/>
              </a:spcAft>
              <a:defRPr sz="1200" b="1" i="0">
                <a:solidFill>
                  <a:srgbClr val="5B1D8C"/>
                </a:solidFill>
                <a:latin typeface="Aptos"/>
              </a:defRPr>
            </a:pPr>
            <a:r>
              <a:t>CONCLUSION</a:t>
            </a:r>
          </a:p>
          <a:p>
            <a:pPr algn="l">
              <a:spcAft>
                <a:spcPts val="500"/>
              </a:spcAft>
              <a:defRPr sz="1800" b="1" i="0">
                <a:solidFill>
                  <a:srgbClr val="1E293B"/>
                </a:solidFill>
                <a:latin typeface="Aptos"/>
              </a:defRPr>
            </a:pPr>
            <a:r>
              <a:t>Phase 1 + Phase 2 integrated</a:t>
            </a:r>
          </a:p>
          <a:p>
            <a:pPr algn="l">
              <a:spcAft>
                <a:spcPts val="500"/>
              </a:spcAft>
              <a:defRPr sz="1250" b="0" i="0">
                <a:solidFill>
                  <a:srgbClr val="1E293B"/>
                </a:solidFill>
                <a:latin typeface="Aptos"/>
              </a:defRPr>
            </a:pPr>
            <a:r>
              <a:t>Text + screenshot triage</a:t>
            </a:r>
          </a:p>
          <a:p>
            <a:pPr algn="l">
              <a:spcAft>
                <a:spcPts val="500"/>
              </a:spcAft>
              <a:defRPr sz="1250" b="0" i="0">
                <a:solidFill>
                  <a:srgbClr val="1E293B"/>
                </a:solidFill>
                <a:latin typeface="Aptos"/>
              </a:defRPr>
            </a:pPr>
            <a:r>
              <a:t>Evidence, reasons and complaint draft</a:t>
            </a:r>
          </a:p>
          <a:p>
            <a:pPr algn="l">
              <a:spcAft>
                <a:spcPts val="500"/>
              </a:spcAft>
              <a:defRPr sz="1250" b="0" i="0">
                <a:solidFill>
                  <a:srgbClr val="1E293B"/>
                </a:solidFill>
                <a:latin typeface="Aptos"/>
              </a:defRPr>
            </a:pPr>
            <a:r>
              <a:t>Consent, retention and masked relationships</a:t>
            </a:r>
          </a:p>
          <a:p>
            <a:pPr algn="l">
              <a:spcAft>
                <a:spcPts val="500"/>
              </a:spcAft>
              <a:defRPr sz="1250" b="0" i="0">
                <a:solidFill>
                  <a:srgbClr val="1E293B"/>
                </a:solidFill>
                <a:latin typeface="Aptos"/>
              </a:defRPr>
            </a:pPr>
            <a:r>
              <a:t>Reproducible research + hardened local release</a:t>
            </a:r>
          </a:p>
          <a:p>
            <a:pPr algn="l">
              <a:spcAft>
                <a:spcPts val="1000"/>
              </a:spcAft>
              <a:defRPr sz="1800" b="1" i="0">
                <a:solidFill>
                  <a:srgbClr val="0097A7"/>
                </a:solidFill>
                <a:latin typeface="Aptos"/>
              </a:defRPr>
            </a:pPr>
            <a:r>
              <a:t>355 automated tests</a:t>
            </a:r>
          </a:p>
          <a:p>
            <a:pPr algn="l">
              <a:spcAft>
                <a:spcPts val="500"/>
              </a:spcAft>
              <a:defRPr sz="1100" b="1" i="0">
                <a:solidFill>
                  <a:srgbClr val="A92330"/>
                </a:solidFill>
                <a:latin typeface="Aptos"/>
              </a:defRPr>
            </a:pPr>
            <a:r>
              <a:t>Human-controlled assistive prototype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85032" y="1463040"/>
            <a:ext cx="438912" cy="310896"/>
          </a:xfrm>
          <a:prstGeom prst="roundRect">
            <a:avLst/>
          </a:prstGeom>
          <a:solidFill>
            <a:srgbClr val="5B1D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703320" y="1476756"/>
            <a:ext cx="402336" cy="2468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79392" y="1371600"/>
            <a:ext cx="4315968" cy="96012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1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79392" y="1371600"/>
            <a:ext cx="73152" cy="960120"/>
          </a:xfrm>
          <a:prstGeom prst="rect">
            <a:avLst/>
          </a:prstGeom>
          <a:solidFill>
            <a:srgbClr val="5B1D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43983" y="1481328"/>
            <a:ext cx="4041648" cy="256032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250" b="1" i="0">
                <a:solidFill>
                  <a:srgbClr val="5B1D8C"/>
                </a:solidFill>
                <a:latin typeface="Aptos"/>
              </a:rPr>
              <a:t>Authorized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983" y="1810512"/>
            <a:ext cx="4041648" cy="448056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030" b="0" i="0">
                <a:solidFill>
                  <a:srgbClr val="1E293B"/>
                </a:solidFill>
                <a:latin typeface="Aptos"/>
              </a:rPr>
              <a:t>200+ reviewed rows per fraud label + legitimate controls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85032" y="2578608"/>
            <a:ext cx="438912" cy="310896"/>
          </a:xfrm>
          <a:prstGeom prst="roundRect">
            <a:avLst/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03320" y="2592324"/>
            <a:ext cx="402336" cy="2468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2487168"/>
            <a:ext cx="4315968" cy="96012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1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2487168"/>
            <a:ext cx="73152" cy="960120"/>
          </a:xfrm>
          <a:prstGeom prst="rect">
            <a:avLst/>
          </a:prstGeom>
          <a:solidFill>
            <a:srgbClr val="0097A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43983" y="2596896"/>
            <a:ext cx="4041648" cy="256032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250" b="1" i="0">
                <a:solidFill>
                  <a:srgbClr val="0097A7"/>
                </a:solidFill>
                <a:latin typeface="Aptos"/>
              </a:rPr>
              <a:t>Same-data model study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983" y="2926079"/>
            <a:ext cx="4041648" cy="448056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030" b="0" i="0">
                <a:solidFill>
                  <a:srgbClr val="1E293B"/>
                </a:solidFill>
                <a:latin typeface="Aptos"/>
              </a:rPr>
              <a:t>Character TF-IDF versus a Hinglish transformer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85032" y="3694176"/>
            <a:ext cx="438912" cy="310896"/>
          </a:xfrm>
          <a:prstGeom prst="roundRect">
            <a:avLst/>
          </a:prstGeom>
          <a:solidFill>
            <a:srgbClr val="E2B1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03320" y="3707891"/>
            <a:ext cx="402336" cy="2468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79392" y="3602736"/>
            <a:ext cx="4315968" cy="96012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1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79392" y="3602736"/>
            <a:ext cx="73152" cy="960120"/>
          </a:xfrm>
          <a:prstGeom prst="rect">
            <a:avLst/>
          </a:prstGeom>
          <a:solidFill>
            <a:srgbClr val="E2B1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43983" y="3712463"/>
            <a:ext cx="4041648" cy="256032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250" b="1" i="0">
                <a:solidFill>
                  <a:srgbClr val="E2B11F"/>
                </a:solidFill>
                <a:latin typeface="Aptos"/>
              </a:rPr>
              <a:t>Subsystem benchmarks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983" y="4041648"/>
            <a:ext cx="4041648" cy="448056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030" b="0" i="0">
                <a:solidFill>
                  <a:srgbClr val="1E293B"/>
                </a:solidFill>
                <a:latin typeface="Aptos"/>
              </a:rPr>
              <a:t>OCR, entities, URLs, links, drafts, latency and RAM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85032" y="4809744"/>
            <a:ext cx="438912" cy="310896"/>
          </a:xfrm>
          <a:prstGeom prst="roundRect">
            <a:avLst/>
          </a:prstGeom>
          <a:solidFill>
            <a:srgbClr val="237C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03320" y="4823459"/>
            <a:ext cx="402336" cy="24688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79392" y="4718304"/>
            <a:ext cx="4315968" cy="960120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E1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79392" y="4718304"/>
            <a:ext cx="73152" cy="960120"/>
          </a:xfrm>
          <a:prstGeom prst="rect">
            <a:avLst/>
          </a:prstGeom>
          <a:solidFill>
            <a:srgbClr val="237C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43983" y="4828032"/>
            <a:ext cx="4041648" cy="256032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250" b="1" i="0">
                <a:solidFill>
                  <a:srgbClr val="237C58"/>
                </a:solidFill>
                <a:latin typeface="Aptos"/>
              </a:rPr>
              <a:t>User evaluation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43983" y="5157216"/>
            <a:ext cx="4041648" cy="448056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1030" b="0" i="0">
                <a:solidFill>
                  <a:srgbClr val="1E293B"/>
                </a:solidFill>
                <a:latin typeface="Aptos"/>
              </a:rPr>
              <a:t>Human rubric, escalation and usability study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75887" y="5925312"/>
            <a:ext cx="4892040" cy="384048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ctr"/>
            <a:r>
              <a:rPr sz="1150" b="1" i="0">
                <a:solidFill>
                  <a:srgbClr val="371455"/>
                </a:solidFill>
                <a:latin typeface="Aptos"/>
              </a:rPr>
              <a:t>Explainable evidence for a human decision, not an automated fraud verdict.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528816"/>
            <a:ext cx="7818120" cy="201168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l"/>
            <a:r>
              <a:rPr sz="830" b="0" i="0">
                <a:solidFill>
                  <a:srgbClr val="475569"/>
                </a:solidFill>
                <a:latin typeface="Aptos"/>
              </a:rPr>
              <a:t>Final release 1.0.0 | Thank you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94192" y="6528816"/>
            <a:ext cx="274320" cy="182880"/>
          </a:xfrm>
          <a:prstGeom prst="rect">
            <a:avLst/>
          </a:prstGeom>
          <a:noFill/>
        </p:spPr>
        <p:txBody>
          <a:bodyPr wrap="none" lIns="73152" rIns="73152" tIns="73152" bIns="73152" anchor="t">
            <a:spAutoFit/>
          </a:bodyPr>
          <a:lstStyle/>
          <a:p>
            <a:pPr algn="r"/>
            <a:r>
              <a:rPr sz="800" b="1" i="0">
                <a:solidFill>
                  <a:srgbClr val="5B1D8C"/>
                </a:solidFill>
                <a:latin typeface="Aptos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apstone Meeting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Capstone Meeting</Template>
  <TotalTime>81</TotalTime>
  <Words>113</Words>
  <Application>Microsoft Office PowerPoint</Application>
  <PresentationFormat>On-screen Show (4:3)</PresentationFormat>
  <Paragraphs>46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6" baseType="lpstr">
      <vt:lpstr>Aptos</vt:lpstr>
      <vt:lpstr>Aptos Display</vt:lpstr>
      <vt:lpstr>Aptos SemiBold</vt:lpstr>
      <vt:lpstr>Arial</vt:lpstr>
      <vt:lpstr>Arial Narrow</vt:lpstr>
      <vt:lpstr>Capstone Meeting</vt:lpstr>
      <vt:lpstr>PowerPoint Presentation</vt:lpstr>
      <vt:lpstr>Problem Statement</vt:lpstr>
      <vt:lpstr>Objectives &amp; Scope</vt:lpstr>
      <vt:lpstr>Existing System / Literature Review</vt:lpstr>
      <vt:lpstr>Proposed System Architecture</vt:lpstr>
      <vt:lpstr>Tools &amp; Technologies</vt:lpstr>
      <vt:lpstr>Implementation / Demo</vt:lpstr>
      <vt:lpstr>Results &amp; Analysis</vt:lpstr>
      <vt:lpstr>Challenges &amp; Limitations</vt:lpstr>
      <vt:lpstr>Conclusion &amp; Future Work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FraudLens Bharat Final Capstone Presentation</dc:title>
  <dc:subject>Final Phase 1 + Phase 2 capstone presentation</dc:subject>
  <dc:creator>Gautam Manchandani</dc:creator>
  <cp:keywords>FraudLens Bharat, cyber fraud, Hinglish, OCR, capstone</cp:keywords>
  <dc:description>generated using python-pptx</dc:description>
  <cp:lastModifiedBy>Praveen Kumar</cp:lastModifiedBy>
  <cp:revision>3</cp:revision>
  <dcterms:created xsi:type="dcterms:W3CDTF">2013-01-27T09:14:16Z</dcterms:created>
  <dcterms:modified xsi:type="dcterms:W3CDTF">2026-02-10T05:45:53Z</dcterms:modified>
  <cp:category/>
</cp:coreProperties>
</file>