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1"/>
  </p:sldMasterIdLst>
  <p:notesMasterIdLst>
    <p:notesMasterId r:id="rId12"/>
  </p:notesMasterIdLst>
  <p:sldIdLst>
    <p:sldId id="26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49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59165C-6148-4912-9C46-75FE6B9EA871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CDE88F-770C-4B59-A1C0-CD1D8058F9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521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186C9-2BBA-55D0-BD4B-F8B71E2ECF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4DE6BA-4AE7-822A-85CC-92BCCD9D6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7BC8C-59D5-7186-B66E-4FCA96522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F99DD2-136E-B005-965D-33285448D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DD1715-6A40-FAAC-BD2C-F7BE86FD8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B46724B-C345-9FA0-667D-03555D2E5C7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6466115"/>
            <a:ext cx="9153000" cy="1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2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8838B-2600-6588-AFF2-968994DAE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470" y="349886"/>
            <a:ext cx="6995160" cy="930665"/>
          </a:xfrm>
        </p:spPr>
        <p:txBody>
          <a:bodyPr/>
          <a:lstStyle>
            <a:lvl1pPr>
              <a:defRPr b="1" i="0"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DF390-C3B8-3F09-F40D-85696C04C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" y="1825625"/>
            <a:ext cx="8492490" cy="43513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B22D00-115B-264C-C896-345894A04A0E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-2" y="6466115"/>
            <a:ext cx="9153000" cy="10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5B671F-CF2E-7C44-EADA-4E56CCF35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" y="1295791"/>
            <a:ext cx="3348990" cy="1035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D85C2F-C4CC-B3E8-DC0D-F4312B489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9040" y="405951"/>
            <a:ext cx="1333500" cy="67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0426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468431-87F8-377B-002F-800822078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B87CB-EC0D-AC03-913E-540103ABA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777A5-783A-D063-67E6-8CB761EE5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78A05-536D-01B1-B02E-017A1923F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BE06D-95DC-C9AA-9F94-50F934BDD5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290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72BEB-1201-DD36-5A62-6C8322CBC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EC01D-6BFB-5359-E1CB-F8393053EA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1294D6-52BE-8815-B5BE-B9B642695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ABC93A-F94E-2DCF-1576-F9D87AD02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8D2396-B2FC-F8D4-BB47-05AFB0AB2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62123-4901-0C6F-544E-F6AA6832F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555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CA608-63E2-19B2-AE4D-57CF441C1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FF64A4-C3C4-ACA3-1D1F-D208F76786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7ACB0F-31D6-4E31-9EF4-FAEE2ECF2D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8E2D7D-E306-0374-7D3C-62E8D219AE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BEC196-EF39-B64C-5B82-DC01BD7113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0B66E0-B7D7-BF74-CC5D-317C5567E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C2566B-2AE2-3440-B5E5-557FA335D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C1E798-0C77-EC9C-37B4-4B7560BDB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993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68898-CA2D-FC1D-F85A-F4B614981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C0DC15-F701-899A-1878-CE763E825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92D74A-4601-E794-8FA7-BB7605702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B1FF0C-0D43-1690-F1D9-BD21A7846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397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575516-D291-7DF6-999B-D95626683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6BCA8A-5542-72D5-4D01-7901049E9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685FB-F8C4-60A1-F7B2-63C03C824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19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04FAF-C8EA-6C50-C03C-6BE244FB3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37747-0EAE-BF6C-0F71-1239CCED5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A81633-599E-0C57-85A4-85AF2FB3E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C1136-1C3C-B33A-D05E-2A6D49A0B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CF106D-088F-C9E1-A0D5-22F8B83BA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A12DD-DCE1-05C2-B9F7-010563020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429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EF12A-BEE5-D30E-A3A1-942D5B5C0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2D5563-6459-67DE-4D69-30053A9D0A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7B9A17-FD7C-16CA-4EFC-03BD86855F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C6D420-EC2E-8ABC-B2F2-CA9F49722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DA5612-CD5C-0B26-0604-34950D11F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C7A36B-AF9A-508A-1438-B7C8B1597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42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C38F9-C26A-A887-8868-A89E5C7C2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923C57-B3EA-971D-87BC-DF8B8D3CA1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8FFD4-A931-751C-7707-99B41CCD9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6FB5B-4974-F079-60B2-005270B27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AA4EC-E107-73DE-0D25-2B1868B40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274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FB63CB0-1DDE-C006-45DD-C4E5E4942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815BB5-31FC-01A3-455F-2FCDAC103C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4DB4B-80C3-F444-BB89-BAB7C213F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FC3CA-91F1-49B3-33BE-B13C2112E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99E0A-B830-F842-ADDC-5FD15C993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93246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938481-3E3D-E956-CD00-8CB791685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BA1C8-6503-E09A-694B-6C359C0BA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A84468-691A-BB42-58A0-82A6AA10D1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BE529-10D3-2454-82D4-495C91F771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C2B87-66F7-C8F0-A8BC-5A8446D4B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199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9806C-DE76-F844-DADC-8CEF0CA4E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DB0453-4AD2-5D01-DB88-163762890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75" y="1743795"/>
            <a:ext cx="3290488" cy="12544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7AD43B1-8B94-26CD-2746-B4F4D815FE52}"/>
              </a:ext>
            </a:extLst>
          </p:cNvPr>
          <p:cNvSpPr/>
          <p:nvPr/>
        </p:nvSpPr>
        <p:spPr>
          <a:xfrm>
            <a:off x="4415831" y="1743795"/>
            <a:ext cx="45639" cy="1388569"/>
          </a:xfrm>
          <a:prstGeom prst="rect">
            <a:avLst/>
          </a:prstGeom>
          <a:solidFill>
            <a:srgbClr val="97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Rounded Rectangle 5"/>
          <p:cNvSpPr/>
          <p:nvPr/>
        </p:nvSpPr>
        <p:spPr>
          <a:xfrm>
            <a:off x="3182112" y="658368"/>
            <a:ext cx="2788920" cy="310896"/>
          </a:xfrm>
          <a:prstGeom prst="roundRect">
            <a:avLst/>
          </a:prstGeom>
          <a:solidFill>
            <a:srgbClr val="5B1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672084"/>
            <a:ext cx="2752344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FINAL CAPSTONE | PHASE 1 + PHASE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36592" y="1874519"/>
            <a:ext cx="333756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000" b="1" i="0">
                <a:solidFill>
                  <a:srgbClr val="5B1D8C"/>
                </a:solidFill>
                <a:latin typeface="Aptos"/>
              </a:rPr>
              <a:t>PRESENTED BY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36592" y="2176272"/>
            <a:ext cx="3337560" cy="6400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Aptos"/>
              </a:rPr>
              <a:t>Gautam Manchandani
2023EBCS209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56432"/>
            <a:ext cx="7132320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2900" b="1" i="0">
                <a:solidFill>
                  <a:srgbClr val="5B1D8C"/>
                </a:solidFill>
                <a:latin typeface="Aptos"/>
              </a:rPr>
              <a:t>FraudLens Bharat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995928"/>
            <a:ext cx="676656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350" b="0" i="0">
                <a:solidFill>
                  <a:srgbClr val="475569"/>
                </a:solidFill>
                <a:latin typeface="Aptos"/>
              </a:rPr>
              <a:t>Explainable local cyber-fraud triage for Indian messages and screenshots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626864"/>
            <a:ext cx="713232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150" b="1" i="0">
                <a:solidFill>
                  <a:srgbClr val="1E293B"/>
                </a:solidFill>
                <a:latin typeface="Aptos"/>
              </a:rPr>
              <a:t>BSc Computer Science  |  Academic Year 2025-2026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956048"/>
            <a:ext cx="7132320" cy="2743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150" b="0" i="0">
                <a:solidFill>
                  <a:srgbClr val="1E293B"/>
                </a:solidFill>
                <a:latin typeface="Aptos"/>
              </a:rPr>
              <a:t>Under the guidance of Dr. Ashok Yemineni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" y="5687568"/>
            <a:ext cx="2057400" cy="749808"/>
          </a:xfrm>
          <a:prstGeom prst="roundRect">
            <a:avLst/>
          </a:prstGeom>
          <a:solidFill>
            <a:srgbClr val="E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2" y="5760720"/>
            <a:ext cx="1911095" cy="329184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2000" b="1" i="0">
                <a:solidFill>
                  <a:srgbClr val="0097A7"/>
                </a:solidFill>
                <a:latin typeface="Aptos"/>
              </a:rPr>
              <a:t>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" y="6117336"/>
            <a:ext cx="1911095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919" b="0" i="0">
                <a:solidFill>
                  <a:srgbClr val="475569"/>
                </a:solidFill>
                <a:latin typeface="Aptos"/>
              </a:rPr>
              <a:t>fraud categories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0440" y="5687568"/>
            <a:ext cx="2057400" cy="749808"/>
          </a:xfrm>
          <a:prstGeom prst="roundRect">
            <a:avLst/>
          </a:prstGeom>
          <a:solidFill>
            <a:srgbClr val="F6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93592" y="5760720"/>
            <a:ext cx="1911095" cy="329184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2000" b="1" i="0">
                <a:solidFill>
                  <a:srgbClr val="5B1D8C"/>
                </a:solidFill>
                <a:latin typeface="Aptos"/>
              </a:rPr>
              <a:t>355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6117336"/>
            <a:ext cx="1911095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919" b="0" i="0">
                <a:solidFill>
                  <a:srgbClr val="475569"/>
                </a:solidFill>
                <a:latin typeface="Aptos"/>
              </a:rPr>
              <a:t>automated tests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5687568"/>
            <a:ext cx="2057400" cy="749808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53912" y="5760720"/>
            <a:ext cx="1911095" cy="329184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2000" b="1" i="0">
                <a:solidFill>
                  <a:srgbClr val="E2B11F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3912" y="6117336"/>
            <a:ext cx="1911095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919" b="0" i="0">
                <a:solidFill>
                  <a:srgbClr val="475569"/>
                </a:solidFill>
                <a:latin typeface="Aptos"/>
              </a:rPr>
              <a:t>text + screenshot inputs</a:t>
            </a:r>
          </a:p>
        </p:txBody>
      </p:sp>
    </p:spTree>
    <p:extLst>
      <p:ext uri="{BB962C8B-B14F-4D97-AF65-F5344CB8AC3E}">
        <p14:creationId xmlns:p14="http://schemas.microsoft.com/office/powerpoint/2010/main" val="283514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E293B"/>
                </a:solidFill>
                <a:latin typeface="Aptos Display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80010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Aptos"/>
              </a:rPr>
              <a:t>From mixed-language scam evidence to a structured, reviewable complaint draft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2487168" cy="1207008"/>
          </a:xfrm>
          <a:prstGeom prst="roundRect">
            <a:avLst/>
          </a:prstGeom>
          <a:solidFill>
            <a:srgbClr val="F6EFFA"/>
          </a:solidFill>
          <a:ln w="8890">
            <a:solidFill>
              <a:srgbClr val="E1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73152" cy="1207008"/>
          </a:xfrm>
          <a:prstGeom prst="rect">
            <a:avLst/>
          </a:prstGeom>
          <a:solidFill>
            <a:srgbClr val="5B1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527048"/>
            <a:ext cx="2212848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500" b="1" i="0">
                <a:solidFill>
                  <a:srgbClr val="5B1D8C"/>
                </a:solidFill>
                <a:latin typeface="Aptos"/>
              </a:rPr>
              <a:t>Unstructured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856232"/>
            <a:ext cx="2212848" cy="694944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Aptos"/>
              </a:rPr>
              <a:t>SMS, WhatsApp, email, URL, UPI ID or screenshot; English, Hindi and Romanized Hinglish.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788920"/>
            <a:ext cx="2487168" cy="1207008"/>
          </a:xfrm>
          <a:prstGeom prst="roundRect">
            <a:avLst/>
          </a:prstGeom>
          <a:solidFill>
            <a:srgbClr val="E7F7F7"/>
          </a:solidFill>
          <a:ln w="8890">
            <a:solidFill>
              <a:srgbClr val="E1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788920"/>
            <a:ext cx="73152" cy="1207008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898648"/>
            <a:ext cx="2212848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500" b="1" i="0">
                <a:solidFill>
                  <a:srgbClr val="0097A7"/>
                </a:solidFill>
                <a:latin typeface="Aptos"/>
              </a:rPr>
              <a:t>Evidence loss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227832"/>
            <a:ext cx="2212848" cy="694944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Aptos"/>
              </a:rPr>
              <a:t>A category label alone can miss the phone, amount, URL, OTP request, threat and urgency.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160520"/>
            <a:ext cx="2487168" cy="1207008"/>
          </a:xfrm>
          <a:prstGeom prst="roundRect">
            <a:avLst/>
          </a:prstGeom>
          <a:solidFill>
            <a:srgbClr val="FDEEEF"/>
          </a:solidFill>
          <a:ln w="8890">
            <a:solidFill>
              <a:srgbClr val="E1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4160520"/>
            <a:ext cx="73152" cy="1207008"/>
          </a:xfrm>
          <a:prstGeom prst="rect">
            <a:avLst/>
          </a:prstGeom>
          <a:solidFill>
            <a:srgbClr val="A9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" y="4270248"/>
            <a:ext cx="2212848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500" b="1" i="0">
                <a:solidFill>
                  <a:srgbClr val="A92330"/>
                </a:solidFill>
                <a:latin typeface="Aptos"/>
              </a:rPr>
              <a:t>Unsafe 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4599431"/>
            <a:ext cx="2212848" cy="694944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Aptos"/>
              </a:rPr>
              <a:t>Hidden uncertainty or silent storage can amplify harm when a prediction is wrong.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10128" y="1417320"/>
            <a:ext cx="5285232" cy="3950208"/>
          </a:xfrm>
          <a:prstGeom prst="roundRect">
            <a:avLst/>
          </a:prstGeom>
          <a:solidFill>
            <a:srgbClr val="F7F6FA"/>
          </a:solidFill>
          <a:ln w="12700">
            <a:solidFill>
              <a:srgbClr val="DED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 bIns="228600"/>
          <a:lstStyle/>
          <a:p>
            <a:pPr algn="l">
              <a:spcAft>
                <a:spcPts val="500"/>
              </a:spcAft>
              <a:defRPr sz="1100" b="1" i="0">
                <a:solidFill>
                  <a:srgbClr val="5B1D8C"/>
                </a:solidFill>
                <a:latin typeface="Aptos"/>
              </a:defRPr>
            </a:pPr>
            <a:r>
              <a:t>TYPICAL RAW INPUT</a:t>
            </a:r>
          </a:p>
          <a:p>
            <a:pPr algn="l">
              <a:spcAft>
                <a:spcPts val="1800"/>
              </a:spcAft>
              <a:defRPr sz="1700" b="1" i="0">
                <a:solidFill>
                  <a:srgbClr val="1E293B"/>
                </a:solidFill>
                <a:latin typeface="Aptos"/>
              </a:defRPr>
            </a:pPr>
            <a:r>
              <a:t>Your KYC expires today. Verify now at fraud-demo.example or your account will be blocked.</a:t>
            </a:r>
          </a:p>
          <a:p>
            <a:pPr algn="l">
              <a:spcAft>
                <a:spcPts val="500"/>
              </a:spcAft>
              <a:defRPr sz="1100" b="1" i="0">
                <a:solidFill>
                  <a:srgbClr val="0097A7"/>
                </a:solidFill>
                <a:latin typeface="Aptos"/>
              </a:defRPr>
            </a:pPr>
            <a:r>
              <a:t>FRAUDLENS OUTPUT</a:t>
            </a:r>
          </a:p>
          <a:p>
            <a:pPr algn="l">
              <a:spcAft>
                <a:spcPts val="500"/>
              </a:spcAft>
              <a:defRPr sz="1350" b="1" i="0">
                <a:solidFill>
                  <a:srgbClr val="1E293B"/>
                </a:solidFill>
                <a:latin typeface="Aptos"/>
              </a:defRPr>
            </a:pPr>
            <a:r>
              <a:t>Scam category + confidence / abstention</a:t>
            </a:r>
          </a:p>
          <a:p>
            <a:pPr algn="l">
              <a:spcAft>
                <a:spcPts val="500"/>
              </a:spcAft>
              <a:defRPr sz="1350" b="1" i="0">
                <a:solidFill>
                  <a:srgbClr val="1E293B"/>
                </a:solidFill>
                <a:latin typeface="Aptos"/>
              </a:defRPr>
            </a:pPr>
            <a:r>
              <a:t>Extracted evidence and URL signals</a:t>
            </a:r>
          </a:p>
          <a:p>
            <a:pPr algn="l">
              <a:spcAft>
                <a:spcPts val="500"/>
              </a:spcAft>
              <a:defRPr sz="1350" b="1" i="0">
                <a:solidFill>
                  <a:srgbClr val="1E293B"/>
                </a:solidFill>
                <a:latin typeface="Aptos"/>
              </a:defRPr>
            </a:pPr>
            <a:r>
              <a:t>Risk reasons and complaint-ready draft</a:t>
            </a:r>
          </a:p>
          <a:p>
            <a:pPr algn="l">
              <a:spcAft>
                <a:spcPts val="0"/>
              </a:spcAft>
              <a:defRPr sz="1150" b="1" i="0">
                <a:solidFill>
                  <a:srgbClr val="A92330"/>
                </a:solidFill>
                <a:latin typeface="Aptos"/>
              </a:defRPr>
            </a:pPr>
            <a:r>
              <a:t>Human review required; no automatic filing or legal decision.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28816"/>
            <a:ext cx="78181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830" b="0" i="0">
                <a:solidFill>
                  <a:srgbClr val="475569"/>
                </a:solidFill>
                <a:latin typeface="Aptos"/>
              </a:rPr>
              <a:t>Scope: assistive local triage for synthetic educational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6528816"/>
            <a:ext cx="27432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800" b="1" i="0">
                <a:solidFill>
                  <a:srgbClr val="5B1D8C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E293B"/>
                </a:solidFill>
                <a:latin typeface="Aptos Display"/>
              </a:rPr>
              <a:t>Objectives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80010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Aptos"/>
              </a:rPr>
              <a:t>Phase 1 built the core loop; Phase 2 completed input coverage, privacy, research and release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17320"/>
            <a:ext cx="1481328" cy="2011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73152" cy="2011680"/>
          </a:xfrm>
          <a:prstGeom prst="rect">
            <a:avLst/>
          </a:prstGeom>
          <a:solidFill>
            <a:srgbClr val="5B1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527048"/>
            <a:ext cx="1207008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50" b="1" i="0">
                <a:solidFill>
                  <a:srgbClr val="5B1D8C"/>
                </a:solidFill>
                <a:latin typeface="Aptos"/>
              </a:rPr>
              <a:t>01  Classify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856232"/>
            <a:ext cx="1207008" cy="149961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019" b="0" i="0">
                <a:solidFill>
                  <a:srgbClr val="1E293B"/>
                </a:solidFill>
                <a:latin typeface="Aptos"/>
              </a:rPr>
              <a:t>Eight common Indian scam-message categories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30552" y="1417320"/>
            <a:ext cx="1481328" cy="2011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130552" y="1417320"/>
            <a:ext cx="73152" cy="201168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95144" y="1527048"/>
            <a:ext cx="1207008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50" b="1" i="0">
                <a:solidFill>
                  <a:srgbClr val="0097A7"/>
                </a:solidFill>
                <a:latin typeface="Aptos"/>
              </a:rPr>
              <a:t>02  Preserve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95144" y="1856232"/>
            <a:ext cx="1207008" cy="149961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019" b="0" i="0">
                <a:solidFill>
                  <a:srgbClr val="1E293B"/>
                </a:solidFill>
                <a:latin typeface="Aptos"/>
              </a:rPr>
              <a:t>Phones, UPI IDs, email, URL, amount and OTP evidence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58184" y="1417320"/>
            <a:ext cx="1481328" cy="2011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58184" y="1417320"/>
            <a:ext cx="73152" cy="2011680"/>
          </a:xfrm>
          <a:prstGeom prst="rect">
            <a:avLst/>
          </a:prstGeom>
          <a:solidFill>
            <a:srgbClr val="E2B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22776" y="1527048"/>
            <a:ext cx="1207008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50" b="1" i="0">
                <a:solidFill>
                  <a:srgbClr val="E2B11F"/>
                </a:solidFill>
                <a:latin typeface="Aptos"/>
              </a:rPr>
              <a:t>03  Explain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22776" y="1856232"/>
            <a:ext cx="1207008" cy="149961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019" b="0" i="0">
                <a:solidFill>
                  <a:srgbClr val="1E293B"/>
                </a:solidFill>
                <a:latin typeface="Aptos"/>
              </a:rPr>
              <a:t>Confidence, abstention, visible reasons and risk band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85816" y="1417320"/>
            <a:ext cx="1481328" cy="2011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385816" y="1417320"/>
            <a:ext cx="73152" cy="2011680"/>
          </a:xfrm>
          <a:prstGeom prst="rect">
            <a:avLst/>
          </a:prstGeom>
          <a:solidFill>
            <a:srgbClr val="237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50407" y="1527048"/>
            <a:ext cx="1207008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50" b="1" i="0">
                <a:solidFill>
                  <a:srgbClr val="237C58"/>
                </a:solidFill>
                <a:latin typeface="Aptos"/>
              </a:rPr>
              <a:t>04  Accept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50407" y="1856232"/>
            <a:ext cx="1207008" cy="149961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019" b="0" i="0">
                <a:solidFill>
                  <a:srgbClr val="1E293B"/>
                </a:solidFill>
                <a:latin typeface="Aptos"/>
              </a:rPr>
              <a:t>Pasted text plus bounded local screenshot OCR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13448" y="1417320"/>
            <a:ext cx="1481328" cy="201168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13448" y="1417320"/>
            <a:ext cx="73152" cy="2011680"/>
          </a:xfrm>
          <a:prstGeom prst="rect">
            <a:avLst/>
          </a:prstGeom>
          <a:solidFill>
            <a:srgbClr val="A9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1527048"/>
            <a:ext cx="1207008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50" b="1" i="0">
                <a:solidFill>
                  <a:srgbClr val="A92330"/>
                </a:solidFill>
                <a:latin typeface="Aptos"/>
              </a:rPr>
              <a:t>05  Protect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1856232"/>
            <a:ext cx="1207008" cy="149961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019" b="0" i="0">
                <a:solidFill>
                  <a:srgbClr val="1E293B"/>
                </a:solidFill>
                <a:latin typeface="Aptos"/>
              </a:rPr>
              <a:t>Consent, retention and masked relationship links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3767328"/>
            <a:ext cx="384048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00" b="1" i="0">
                <a:solidFill>
                  <a:srgbClr val="237C58"/>
                </a:solidFill>
                <a:latin typeface="Aptos"/>
              </a:rPr>
              <a:t>IN SCOPE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096512"/>
            <a:ext cx="3886200" cy="1508760"/>
          </a:xfrm>
          <a:prstGeom prst="roundRect">
            <a:avLst/>
          </a:prstGeom>
          <a:solidFill>
            <a:srgbClr val="EDF9F3"/>
          </a:solidFill>
          <a:ln w="12700">
            <a:solidFill>
              <a:srgbClr val="B9E0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37160" bIns="137160"/>
          <a:lstStyle/>
          <a:p>
            <a:pPr algn="l">
              <a:spcAft>
                <a:spcPts val="500"/>
              </a:spcAft>
              <a:defRPr sz="1150" b="1" i="0">
                <a:solidFill>
                  <a:srgbClr val="1E293B"/>
                </a:solidFill>
                <a:latin typeface="Aptos"/>
              </a:defRPr>
            </a:pPr>
            <a:r>
              <a:t>FastAPI + Streamlit on one analysis service</a:t>
            </a:r>
          </a:p>
          <a:p>
            <a:pPr algn="l">
              <a:spcAft>
                <a:spcPts val="500"/>
              </a:spcAft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Calibrated TF-IDF, OCR, entities, URL checks, risk and draft</a:t>
            </a:r>
          </a:p>
          <a:p>
            <a:pPr algn="l">
              <a:spcAft>
                <a:spcPts val="500"/>
              </a:spcAft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Optional SQLite history and privacy-safe entity graph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3767328"/>
            <a:ext cx="384048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00" b="1" i="0">
                <a:solidFill>
                  <a:srgbClr val="A92330"/>
                </a:solidFill>
                <a:latin typeface="Aptos"/>
              </a:rPr>
              <a:t>OUT OF SCOPE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45152" y="4096512"/>
            <a:ext cx="3950208" cy="1508760"/>
          </a:xfrm>
          <a:prstGeom prst="roundRect">
            <a:avLst/>
          </a:prstGeom>
          <a:solidFill>
            <a:srgbClr val="FDF1F1"/>
          </a:solidFill>
          <a:ln w="12700">
            <a:solidFill>
              <a:srgbClr val="ECC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37160" bIns="137160"/>
          <a:lstStyle/>
          <a:p>
            <a:pPr algn="l">
              <a:spcAft>
                <a:spcPts val="500"/>
              </a:spcAft>
              <a:defRPr sz="1150" b="1" i="0">
                <a:solidFill>
                  <a:srgbClr val="1E293B"/>
                </a:solidFill>
                <a:latin typeface="Aptos"/>
              </a:defRPr>
            </a:pPr>
            <a:r>
              <a:t>Automatic NCRP filing or transaction blocking</a:t>
            </a:r>
          </a:p>
          <a:p>
            <a:pPr algn="l">
              <a:spcAft>
                <a:spcPts val="500"/>
              </a:spcAft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Public deployment, transformer fine-tuning or GNN detection</a:t>
            </a:r>
          </a:p>
          <a:p>
            <a:pPr algn="l">
              <a:spcAft>
                <a:spcPts val="500"/>
              </a:spcAft>
              <a:defRPr sz="1150" b="0" i="0">
                <a:solidFill>
                  <a:srgbClr val="1E293B"/>
                </a:solidFill>
                <a:latin typeface="Aptos"/>
              </a:defRPr>
            </a:pPr>
            <a:r>
              <a:t>Production accuracy, guilt or legal conclusions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28816"/>
            <a:ext cx="78181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830" b="0" i="0">
                <a:solidFill>
                  <a:srgbClr val="475569"/>
                </a:solidFill>
                <a:latin typeface="Aptos"/>
              </a:rPr>
              <a:t>Final release 1.0.0 | OCR and observational graph analytics are implemented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6528816"/>
            <a:ext cx="27432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800" b="1" i="0">
                <a:solidFill>
                  <a:srgbClr val="5B1D8C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E293B"/>
                </a:solidFill>
                <a:latin typeface="Aptos Display"/>
              </a:rPr>
              <a:t>Existing System / 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80010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Aptos"/>
              </a:rPr>
              <a:t>Compare like with like: published results use different inputs, labels and datasets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508760" cy="438912"/>
          </a:xfrm>
          <a:prstGeom prst="rect">
            <a:avLst/>
          </a:prstGeom>
          <a:solidFill>
            <a:srgbClr val="371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82296" bIns="82296"/>
          <a:lstStyle/>
          <a:p>
            <a:pPr algn="ctr">
              <a:spcAft>
                <a:spcPts val="500"/>
              </a:spcAft>
              <a:defRPr sz="1050" b="1" i="0">
                <a:solidFill>
                  <a:srgbClr val="FFFFFF"/>
                </a:solidFill>
                <a:latin typeface="Aptos"/>
              </a:defRPr>
            </a:pPr>
            <a:r>
              <a:t>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0" y="1371600"/>
            <a:ext cx="1993392" cy="438912"/>
          </a:xfrm>
          <a:prstGeom prst="rect">
            <a:avLst/>
          </a:prstGeom>
          <a:solidFill>
            <a:srgbClr val="371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82296" bIns="82296"/>
          <a:lstStyle/>
          <a:p>
            <a:pPr algn="ctr">
              <a:spcAft>
                <a:spcPts val="500"/>
              </a:spcAft>
              <a:defRPr sz="1050" b="1" i="0">
                <a:solidFill>
                  <a:srgbClr val="FFFFFF"/>
                </a:solidFill>
                <a:latin typeface="Aptos"/>
              </a:defRPr>
            </a:pPr>
            <a:r>
              <a:t>Reported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005072" y="1371600"/>
            <a:ext cx="2176272" cy="438912"/>
          </a:xfrm>
          <a:prstGeom prst="rect">
            <a:avLst/>
          </a:prstGeom>
          <a:solidFill>
            <a:srgbClr val="371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82296" bIns="82296"/>
          <a:lstStyle/>
          <a:p>
            <a:pPr algn="ctr">
              <a:spcAft>
                <a:spcPts val="500"/>
              </a:spcAft>
              <a:defRPr sz="1050" b="1" i="0">
                <a:solidFill>
                  <a:srgbClr val="FFFFFF"/>
                </a:solidFill>
                <a:latin typeface="Aptos"/>
              </a:defRPr>
            </a:pPr>
            <a:r>
              <a:t>Strength</a:t>
            </a:r>
          </a:p>
        </p:txBody>
      </p:sp>
      <p:sp>
        <p:nvSpPr>
          <p:cNvPr id="7" name="Rectangle 6"/>
          <p:cNvSpPr/>
          <p:nvPr/>
        </p:nvSpPr>
        <p:spPr>
          <a:xfrm>
            <a:off x="6181344" y="1371600"/>
            <a:ext cx="2331720" cy="438912"/>
          </a:xfrm>
          <a:prstGeom prst="rect">
            <a:avLst/>
          </a:prstGeom>
          <a:solidFill>
            <a:srgbClr val="371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82296" rIns="82296" tIns="82296" bIns="82296"/>
          <a:lstStyle/>
          <a:p>
            <a:pPr algn="ctr">
              <a:spcAft>
                <a:spcPts val="500"/>
              </a:spcAft>
              <a:defRPr sz="1050" b="1" i="0">
                <a:solidFill>
                  <a:srgbClr val="FFFFFF"/>
                </a:solidFill>
                <a:latin typeface="Aptos"/>
              </a:defRPr>
            </a:pPr>
            <a:r>
              <a:t>Limitation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10512"/>
            <a:ext cx="1508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" rIns="50292" tIns="50292" bIns="50292"/>
          <a:lstStyle/>
          <a:p>
            <a:pPr algn="ctr">
              <a:spcAft>
                <a:spcPts val="500"/>
              </a:spcAft>
              <a:defRPr sz="900" b="0" i="0">
                <a:solidFill>
                  <a:srgbClr val="1E293B"/>
                </a:solidFill>
                <a:latin typeface="Aptos"/>
              </a:defRPr>
            </a:pPr>
            <a:r>
              <a:t>Rules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011680" y="1810512"/>
            <a:ext cx="199339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" rIns="50292" tIns="50292" bIns="50292"/>
          <a:lstStyle/>
          <a:p>
            <a:pPr algn="ctr">
              <a:spcAft>
                <a:spcPts val="500"/>
              </a:spcAft>
              <a:defRPr sz="900" b="0" i="0">
                <a:solidFill>
                  <a:srgbClr val="1E293B"/>
                </a:solidFill>
                <a:latin typeface="Aptos"/>
              </a:defRPr>
            </a:pPr>
            <a:r>
              <a:t>Local: 25.0% Macro-F1</a:t>
            </a:r>
            <a:br/>
            <a:r>
              <a:t>25% coverage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5072" y="1810512"/>
            <a:ext cx="217627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" rIns="50292" tIns="50292" bIns="50292"/>
          <a:lstStyle/>
          <a:p>
            <a:pPr algn="ctr">
              <a:spcAft>
                <a:spcPts val="500"/>
              </a:spcAft>
              <a:defRPr sz="900" b="0" i="0">
                <a:solidFill>
                  <a:srgbClr val="1E293B"/>
                </a:solidFill>
                <a:latin typeface="Aptos"/>
              </a:defRPr>
            </a:pPr>
            <a:r>
              <a:t>Cheap, auditable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1344" y="1810512"/>
            <a:ext cx="2331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" rIns="50292" tIns="50292" bIns="50292"/>
          <a:lstStyle/>
          <a:p>
            <a:pPr algn="ctr">
              <a:spcAft>
                <a:spcPts val="500"/>
              </a:spcAft>
              <a:defRPr sz="900" b="0" i="0">
                <a:solidFill>
                  <a:srgbClr val="1E293B"/>
                </a:solidFill>
                <a:latin typeface="Aptos"/>
              </a:defRPr>
            </a:pPr>
            <a:r>
              <a:t>Brittle; abstains often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59152"/>
            <a:ext cx="1508760" cy="530352"/>
          </a:xfrm>
          <a:prstGeom prst="rect">
            <a:avLst/>
          </a:prstGeom>
          <a:solidFill>
            <a:srgbClr val="F7F6FA"/>
          </a:solidFill>
          <a:ln w="12700"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" rIns="50292" tIns="50292" bIns="50292"/>
          <a:lstStyle/>
          <a:p>
            <a:pPr algn="ctr">
              <a:spcAft>
                <a:spcPts val="500"/>
              </a:spcAft>
              <a:defRPr sz="900" b="0" i="0">
                <a:solidFill>
                  <a:srgbClr val="1E293B"/>
                </a:solidFill>
                <a:latin typeface="Aptos"/>
              </a:defRPr>
            </a:pPr>
            <a:r>
              <a:t>Word TF-IDF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0" y="2359152"/>
            <a:ext cx="1993392" cy="530352"/>
          </a:xfrm>
          <a:prstGeom prst="rect">
            <a:avLst/>
          </a:prstGeom>
          <a:solidFill>
            <a:srgbClr val="F7F6FA"/>
          </a:solidFill>
          <a:ln w="12700"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" rIns="50292" tIns="50292" bIns="50292"/>
          <a:lstStyle/>
          <a:p>
            <a:pPr algn="ctr">
              <a:spcAft>
                <a:spcPts val="500"/>
              </a:spcAft>
              <a:defRPr sz="900" b="0" i="0">
                <a:solidFill>
                  <a:srgbClr val="1E293B"/>
                </a:solidFill>
                <a:latin typeface="Aptos"/>
              </a:defRPr>
            </a:pPr>
            <a:r>
              <a:t>Local: 37.5% accuracy</a:t>
            </a:r>
            <a:br/>
            <a:r>
              <a:t>33.33% Macro-F1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5072" y="2359152"/>
            <a:ext cx="2176272" cy="530352"/>
          </a:xfrm>
          <a:prstGeom prst="rect">
            <a:avLst/>
          </a:prstGeom>
          <a:solidFill>
            <a:srgbClr val="F7F6FA"/>
          </a:solidFill>
          <a:ln w="12700"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" rIns="50292" tIns="50292" bIns="50292"/>
          <a:lstStyle/>
          <a:p>
            <a:pPr algn="ctr">
              <a:spcAft>
                <a:spcPts val="500"/>
              </a:spcAft>
              <a:defRPr sz="900" b="0" i="0">
                <a:solidFill>
                  <a:srgbClr val="1E293B"/>
                </a:solidFill>
                <a:latin typeface="Aptos"/>
              </a:defRPr>
            </a:pPr>
            <a:r>
              <a:t>Fast, inspectable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344" y="2359152"/>
            <a:ext cx="2331720" cy="530352"/>
          </a:xfrm>
          <a:prstGeom prst="rect">
            <a:avLst/>
          </a:prstGeom>
          <a:solidFill>
            <a:srgbClr val="F7F6FA"/>
          </a:solidFill>
          <a:ln w="12700"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" rIns="50292" tIns="50292" bIns="50292"/>
          <a:lstStyle/>
          <a:p>
            <a:pPr algn="ctr">
              <a:spcAft>
                <a:spcPts val="500"/>
              </a:spcAft>
              <a:defRPr sz="900" b="0" i="0">
                <a:solidFill>
                  <a:srgbClr val="1E293B"/>
                </a:solidFill>
                <a:latin typeface="Aptos"/>
              </a:defRPr>
            </a:pPr>
            <a:r>
              <a:t>Weak to spelling variants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907791"/>
            <a:ext cx="1508760" cy="530352"/>
          </a:xfrm>
          <a:prstGeom prst="rect">
            <a:avLst/>
          </a:prstGeom>
          <a:solidFill>
            <a:srgbClr val="F6EFFA"/>
          </a:solidFill>
          <a:ln w="12700"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" rIns="50292" tIns="50292" bIns="50292"/>
          <a:lstStyle/>
          <a:p>
            <a:pPr algn="ctr">
              <a:spcAft>
                <a:spcPts val="500"/>
              </a:spcAft>
              <a:defRPr sz="900" b="1" i="0">
                <a:solidFill>
                  <a:srgbClr val="1E293B"/>
                </a:solidFill>
                <a:latin typeface="Aptos"/>
              </a:defRPr>
            </a:pPr>
            <a:r>
              <a:t>Character TF-IDF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11680" y="2907791"/>
            <a:ext cx="1993392" cy="530352"/>
          </a:xfrm>
          <a:prstGeom prst="rect">
            <a:avLst/>
          </a:prstGeom>
          <a:solidFill>
            <a:srgbClr val="F6EFFA"/>
          </a:solidFill>
          <a:ln w="12700"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" rIns="50292" tIns="50292" bIns="50292"/>
          <a:lstStyle/>
          <a:p>
            <a:pPr algn="ctr">
              <a:spcAft>
                <a:spcPts val="500"/>
              </a:spcAft>
              <a:defRPr sz="900" b="0" i="0">
                <a:solidFill>
                  <a:srgbClr val="1E293B"/>
                </a:solidFill>
                <a:latin typeface="Aptos"/>
              </a:defRPr>
            </a:pPr>
            <a:r>
              <a:t>Local: 75.0% accuracy</a:t>
            </a:r>
            <a:br/>
            <a:r>
              <a:t>66.67% Macro-F1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5072" y="2907791"/>
            <a:ext cx="2176272" cy="530352"/>
          </a:xfrm>
          <a:prstGeom prst="rect">
            <a:avLst/>
          </a:prstGeom>
          <a:solidFill>
            <a:srgbClr val="F6EFFA"/>
          </a:solidFill>
          <a:ln w="12700"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" rIns="50292" tIns="50292" bIns="50292"/>
          <a:lstStyle/>
          <a:p>
            <a:pPr algn="ctr">
              <a:spcAft>
                <a:spcPts val="500"/>
              </a:spcAft>
              <a:defRPr sz="900" b="0" i="0">
                <a:solidFill>
                  <a:srgbClr val="1E293B"/>
                </a:solidFill>
                <a:latin typeface="Aptos"/>
              </a:defRPr>
            </a:pPr>
            <a:r>
              <a:t>Robust substrings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81344" y="2907791"/>
            <a:ext cx="2331720" cy="530352"/>
          </a:xfrm>
          <a:prstGeom prst="rect">
            <a:avLst/>
          </a:prstGeom>
          <a:solidFill>
            <a:srgbClr val="F6EFFA"/>
          </a:solidFill>
          <a:ln w="12700"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" rIns="50292" tIns="50292" bIns="50292"/>
          <a:lstStyle/>
          <a:p>
            <a:pPr algn="ctr">
              <a:spcAft>
                <a:spcPts val="500"/>
              </a:spcAft>
              <a:defRPr sz="900" b="0" i="0">
                <a:solidFill>
                  <a:srgbClr val="1E293B"/>
                </a:solidFill>
                <a:latin typeface="Aptos"/>
              </a:defRPr>
            </a:pPr>
            <a:r>
              <a:t>Selected tie: 331,415 bytes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456432"/>
            <a:ext cx="1508760" cy="530352"/>
          </a:xfrm>
          <a:prstGeom prst="rect">
            <a:avLst/>
          </a:prstGeom>
          <a:solidFill>
            <a:srgbClr val="F7F6FA"/>
          </a:solidFill>
          <a:ln w="12700"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" rIns="50292" tIns="50292" bIns="50292"/>
          <a:lstStyle/>
          <a:p>
            <a:pPr algn="ctr">
              <a:spcAft>
                <a:spcPts val="500"/>
              </a:spcAft>
              <a:defRPr sz="900" b="0" i="0">
                <a:solidFill>
                  <a:srgbClr val="1E293B"/>
                </a:solidFill>
                <a:latin typeface="Aptos"/>
              </a:defRPr>
            </a:pPr>
            <a:r>
              <a:t>Word + character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3456432"/>
            <a:ext cx="1993392" cy="530352"/>
          </a:xfrm>
          <a:prstGeom prst="rect">
            <a:avLst/>
          </a:prstGeom>
          <a:solidFill>
            <a:srgbClr val="F7F6FA"/>
          </a:solidFill>
          <a:ln w="12700"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" rIns="50292" tIns="50292" bIns="50292"/>
          <a:lstStyle/>
          <a:p>
            <a:pPr algn="ctr">
              <a:spcAft>
                <a:spcPts val="500"/>
              </a:spcAft>
              <a:defRPr sz="900" b="0" i="0">
                <a:solidFill>
                  <a:srgbClr val="1E293B"/>
                </a:solidFill>
                <a:latin typeface="Aptos"/>
              </a:defRPr>
            </a:pPr>
            <a:r>
              <a:t>Local: 75.0% accuracy</a:t>
            </a:r>
            <a:br/>
            <a:r>
              <a:t>66.67% Macro-F1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05072" y="3456432"/>
            <a:ext cx="2176272" cy="530352"/>
          </a:xfrm>
          <a:prstGeom prst="rect">
            <a:avLst/>
          </a:prstGeom>
          <a:solidFill>
            <a:srgbClr val="F7F6FA"/>
          </a:solidFill>
          <a:ln w="12700"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" rIns="50292" tIns="50292" bIns="50292"/>
          <a:lstStyle/>
          <a:p>
            <a:pPr algn="ctr">
              <a:spcAft>
                <a:spcPts val="500"/>
              </a:spcAft>
              <a:defRPr sz="900" b="0" i="0">
                <a:solidFill>
                  <a:srgbClr val="1E293B"/>
                </a:solidFill>
                <a:latin typeface="Aptos"/>
              </a:defRPr>
            </a:pPr>
            <a:r>
              <a:t>Same decisions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81344" y="3456432"/>
            <a:ext cx="2331720" cy="530352"/>
          </a:xfrm>
          <a:prstGeom prst="rect">
            <a:avLst/>
          </a:prstGeom>
          <a:solidFill>
            <a:srgbClr val="F7F6FA"/>
          </a:solidFill>
          <a:ln w="12700"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" rIns="50292" tIns="50292" bIns="50292"/>
          <a:lstStyle/>
          <a:p>
            <a:pPr algn="ctr">
              <a:spcAft>
                <a:spcPts val="500"/>
              </a:spcAft>
              <a:defRPr sz="900" b="0" i="0">
                <a:solidFill>
                  <a:srgbClr val="1E293B"/>
                </a:solidFill>
                <a:latin typeface="Aptos"/>
              </a:defRPr>
            </a:pPr>
            <a:r>
              <a:t>Larger: 415,954 bytes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005072"/>
            <a:ext cx="1508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" rIns="50292" tIns="50292" bIns="50292"/>
          <a:lstStyle/>
          <a:p>
            <a:pPr algn="ctr">
              <a:spcAft>
                <a:spcPts val="500"/>
              </a:spcAft>
              <a:defRPr sz="900" b="0" i="0">
                <a:solidFill>
                  <a:srgbClr val="1E293B"/>
                </a:solidFill>
                <a:latin typeface="Aptos"/>
              </a:defRPr>
            </a:pPr>
            <a:r>
              <a:t>HingRoBERTa [7]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0" y="4005072"/>
            <a:ext cx="199339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" rIns="50292" tIns="50292" bIns="50292"/>
          <a:lstStyle/>
          <a:p>
            <a:pPr algn="ctr">
              <a:spcAft>
                <a:spcPts val="500"/>
              </a:spcAft>
              <a:defRPr sz="900" b="0" i="0">
                <a:solidFill>
                  <a:srgbClr val="1E293B"/>
                </a:solidFill>
                <a:latin typeface="Aptos"/>
              </a:defRPr>
            </a:pPr>
            <a:r>
              <a:t>74.41% accuracy</a:t>
            </a:r>
            <a:br/>
            <a:r>
              <a:t>71.49% F1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05072" y="4005072"/>
            <a:ext cx="217627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" rIns="50292" tIns="50292" bIns="50292"/>
          <a:lstStyle/>
          <a:p>
            <a:pPr algn="ctr">
              <a:spcAft>
                <a:spcPts val="500"/>
              </a:spcAft>
              <a:defRPr sz="900" b="0" i="0">
                <a:solidFill>
                  <a:srgbClr val="1E293B"/>
                </a:solidFill>
                <a:latin typeface="Aptos"/>
              </a:defRPr>
            </a:pPr>
            <a:r>
              <a:t>Contextual Hinglish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81344" y="4005072"/>
            <a:ext cx="2331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" rIns="50292" tIns="50292" bIns="50292"/>
          <a:lstStyle/>
          <a:p>
            <a:pPr algn="ctr">
              <a:spcAft>
                <a:spcPts val="500"/>
              </a:spcAft>
              <a:defRPr sz="900" b="0" i="0">
                <a:solidFill>
                  <a:srgbClr val="1E293B"/>
                </a:solidFill>
                <a:latin typeface="Aptos"/>
              </a:defRPr>
            </a:pPr>
            <a:r>
              <a:t>Different I4C task/data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553712"/>
            <a:ext cx="1508760" cy="530352"/>
          </a:xfrm>
          <a:prstGeom prst="rect">
            <a:avLst/>
          </a:prstGeom>
          <a:solidFill>
            <a:srgbClr val="F7F6FA"/>
          </a:solidFill>
          <a:ln w="12700"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" rIns="50292" tIns="50292" bIns="50292"/>
          <a:lstStyle/>
          <a:p>
            <a:pPr algn="ctr">
              <a:spcAft>
                <a:spcPts val="500"/>
              </a:spcAft>
              <a:defRPr sz="900" b="0" i="0">
                <a:solidFill>
                  <a:srgbClr val="1E293B"/>
                </a:solidFill>
                <a:latin typeface="Aptos"/>
              </a:defRPr>
            </a:pPr>
            <a:r>
              <a:t>Neural URL model [9]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11680" y="4553712"/>
            <a:ext cx="1993392" cy="530352"/>
          </a:xfrm>
          <a:prstGeom prst="rect">
            <a:avLst/>
          </a:prstGeom>
          <a:solidFill>
            <a:srgbClr val="F7F6FA"/>
          </a:solidFill>
          <a:ln w="12700"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" rIns="50292" tIns="50292" bIns="50292"/>
          <a:lstStyle/>
          <a:p>
            <a:pPr algn="ctr">
              <a:spcAft>
                <a:spcPts val="500"/>
              </a:spcAft>
              <a:defRPr sz="900" b="0" i="0">
                <a:solidFill>
                  <a:srgbClr val="1E293B"/>
                </a:solidFill>
                <a:latin typeface="Aptos"/>
              </a:defRPr>
            </a:pPr>
            <a:r>
              <a:t>About 97% validation accuracy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05072" y="4553712"/>
            <a:ext cx="2176272" cy="530352"/>
          </a:xfrm>
          <a:prstGeom prst="rect">
            <a:avLst/>
          </a:prstGeom>
          <a:solidFill>
            <a:srgbClr val="F7F6FA"/>
          </a:solidFill>
          <a:ln w="12700"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" rIns="50292" tIns="50292" bIns="50292"/>
          <a:lstStyle/>
          <a:p>
            <a:pPr algn="ctr">
              <a:spcAft>
                <a:spcPts val="500"/>
              </a:spcAft>
              <a:defRPr sz="900" b="0" i="0">
                <a:solidFill>
                  <a:srgbClr val="1E293B"/>
                </a:solidFill>
                <a:latin typeface="Aptos"/>
              </a:defRPr>
            </a:pPr>
            <a:r>
              <a:t>Specialized URL scale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81344" y="4553712"/>
            <a:ext cx="2331720" cy="530352"/>
          </a:xfrm>
          <a:prstGeom prst="rect">
            <a:avLst/>
          </a:prstGeom>
          <a:solidFill>
            <a:srgbClr val="F7F6FA"/>
          </a:solidFill>
          <a:ln w="12700"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" rIns="50292" tIns="50292" bIns="50292"/>
          <a:lstStyle/>
          <a:p>
            <a:pPr algn="ctr">
              <a:spcAft>
                <a:spcPts val="500"/>
              </a:spcAft>
              <a:defRPr sz="900" b="0" i="0">
                <a:solidFill>
                  <a:srgbClr val="1E293B"/>
                </a:solidFill>
                <a:latin typeface="Aptos"/>
              </a:defRPr>
            </a:pPr>
            <a:r>
              <a:t>Binary URL task only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102352"/>
            <a:ext cx="1508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" rIns="50292" tIns="50292" bIns="50292"/>
          <a:lstStyle/>
          <a:p>
            <a:pPr algn="ctr">
              <a:spcAft>
                <a:spcPts val="500"/>
              </a:spcAft>
              <a:defRPr sz="900" b="0" i="0">
                <a:solidFill>
                  <a:srgbClr val="1E293B"/>
                </a:solidFill>
                <a:latin typeface="Aptos"/>
              </a:defRPr>
            </a:pPr>
            <a:r>
              <a:t>Financial GNNs [10]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011680" y="5102352"/>
            <a:ext cx="199339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" rIns="50292" tIns="50292" bIns="50292"/>
          <a:lstStyle/>
          <a:p>
            <a:pPr algn="ctr">
              <a:spcAft>
                <a:spcPts val="500"/>
              </a:spcAft>
              <a:defRPr sz="900" b="0" i="0">
                <a:solidFill>
                  <a:srgbClr val="1E293B"/>
                </a:solidFill>
                <a:latin typeface="Aptos"/>
              </a:defRPr>
            </a:pPr>
            <a:r>
              <a:t>No universal score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05072" y="5102352"/>
            <a:ext cx="2176272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" rIns="50292" tIns="50292" bIns="50292"/>
          <a:lstStyle/>
          <a:p>
            <a:pPr algn="ctr">
              <a:spcAft>
                <a:spcPts val="500"/>
              </a:spcAft>
              <a:defRPr sz="900" b="0" i="0">
                <a:solidFill>
                  <a:srgbClr val="1E293B"/>
                </a:solidFill>
                <a:latin typeface="Aptos"/>
              </a:defRPr>
            </a:pPr>
            <a:r>
              <a:t>Relational patterns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81344" y="5102352"/>
            <a:ext cx="2331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0292" rIns="50292" tIns="50292" bIns="50292"/>
          <a:lstStyle/>
          <a:p>
            <a:pPr algn="ctr">
              <a:spcAft>
                <a:spcPts val="500"/>
              </a:spcAft>
              <a:defRPr sz="900" b="0" i="0">
                <a:solidFill>
                  <a:srgbClr val="1E293B"/>
                </a:solidFill>
                <a:latin typeface="Aptos"/>
              </a:defRPr>
            </a:pPr>
            <a:r>
              <a:t>Needs labelled temporal graph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920240" y="5833872"/>
            <a:ext cx="5303520" cy="310896"/>
          </a:xfrm>
          <a:prstGeom prst="roundRect">
            <a:avLst/>
          </a:prstGeom>
          <a:solidFill>
            <a:srgbClr val="A9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938528" y="5847588"/>
            <a:ext cx="5266944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19" b="1" i="0">
                <a:solidFill>
                  <a:srgbClr val="FFFFFF"/>
                </a:solidFill>
                <a:latin typeface="Aptos"/>
              </a:rPr>
              <a:t>External scores are not directly comparable; this is not a shared leaderboard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28816"/>
            <a:ext cx="78181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830" b="0" i="0">
                <a:solidFill>
                  <a:srgbClr val="475569"/>
                </a:solidFill>
                <a:latin typeface="Aptos"/>
              </a:rPr>
              <a:t>Sources: [7] Rani et al. 2024; [9] Ghalechyan et al. 2024; [10] Cheng et al. 2024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94192" y="6528816"/>
            <a:ext cx="27432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800" b="1" i="0">
                <a:solidFill>
                  <a:srgbClr val="5B1D8C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E293B"/>
                </a:solidFill>
                <a:latin typeface="Aptos Display"/>
              </a:rPr>
              <a:t>Proposed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80010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Aptos"/>
              </a:rPr>
              <a:t>One shared analysis path; storage and graph reads remain optional and privacy-bounded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6565392" cy="4800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raudlens-architecture-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639388"/>
            <a:ext cx="6492240" cy="417358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242048" y="1353312"/>
            <a:ext cx="1353312" cy="1207008"/>
          </a:xfrm>
          <a:prstGeom prst="roundRect">
            <a:avLst/>
          </a:prstGeom>
          <a:solidFill>
            <a:srgbClr val="F6EFFA"/>
          </a:solidFill>
          <a:ln w="8890">
            <a:solidFill>
              <a:srgbClr val="E1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42048" y="1353312"/>
            <a:ext cx="73152" cy="1207008"/>
          </a:xfrm>
          <a:prstGeom prst="rect">
            <a:avLst/>
          </a:prstGeom>
          <a:solidFill>
            <a:srgbClr val="5B1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0" y="1463040"/>
            <a:ext cx="1078992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00" b="1" i="0">
                <a:solidFill>
                  <a:srgbClr val="5B1D8C"/>
                </a:solidFill>
                <a:latin typeface="Aptos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792224"/>
            <a:ext cx="1078992" cy="694944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960" b="0" i="0">
                <a:solidFill>
                  <a:srgbClr val="1E293B"/>
                </a:solidFill>
                <a:latin typeface="Aptos"/>
              </a:rPr>
              <a:t>Text or bounded PNG/JPEG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42048" y="2715768"/>
            <a:ext cx="1353312" cy="1207008"/>
          </a:xfrm>
          <a:prstGeom prst="roundRect">
            <a:avLst/>
          </a:prstGeom>
          <a:solidFill>
            <a:srgbClr val="E7F7F7"/>
          </a:solidFill>
          <a:ln w="8890">
            <a:solidFill>
              <a:srgbClr val="E1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42048" y="2715768"/>
            <a:ext cx="73152" cy="1207008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2825496"/>
            <a:ext cx="1078992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00" b="1" i="0">
                <a:solidFill>
                  <a:srgbClr val="0097A7"/>
                </a:solidFill>
                <a:latin typeface="Aptos"/>
              </a:rPr>
              <a:t>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3154680"/>
            <a:ext cx="1078992" cy="694944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960" b="0" i="0">
                <a:solidFill>
                  <a:srgbClr val="1E293B"/>
                </a:solidFill>
                <a:latin typeface="Aptos"/>
              </a:rPr>
              <a:t>Classifier + evidence + risk + draft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42048" y="4078224"/>
            <a:ext cx="1353312" cy="1207008"/>
          </a:xfrm>
          <a:prstGeom prst="roundRect">
            <a:avLst/>
          </a:prstGeom>
          <a:solidFill>
            <a:srgbClr val="FDF1F1"/>
          </a:solidFill>
          <a:ln w="8890">
            <a:solidFill>
              <a:srgbClr val="E1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42048" y="4078224"/>
            <a:ext cx="73152" cy="1207008"/>
          </a:xfrm>
          <a:prstGeom prst="rect">
            <a:avLst/>
          </a:prstGeom>
          <a:solidFill>
            <a:srgbClr val="A9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4187952"/>
            <a:ext cx="1078992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00" b="1" i="0">
                <a:solidFill>
                  <a:srgbClr val="A92330"/>
                </a:solidFill>
                <a:latin typeface="Aptos"/>
              </a:rPr>
              <a:t>Consent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4517136"/>
            <a:ext cx="1078992" cy="694944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960" b="0" i="0">
                <a:solidFill>
                  <a:srgbClr val="1E293B"/>
                </a:solidFill>
                <a:latin typeface="Aptos"/>
              </a:rPr>
              <a:t>Expiring local cases; masked links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42048" y="5532120"/>
            <a:ext cx="1353312" cy="310896"/>
          </a:xfrm>
          <a:prstGeom prst="roundRect">
            <a:avLst/>
          </a:prstGeom>
          <a:solidFill>
            <a:srgbClr val="371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60336" y="5545836"/>
            <a:ext cx="1316736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tos"/>
              </a:rPr>
              <a:t>NO AUTO-FILING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78181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830" b="0" i="0">
                <a:solidFill>
                  <a:srgbClr val="475569"/>
                </a:solidFill>
                <a:latin typeface="Aptos"/>
              </a:rPr>
              <a:t>Image bytes are discarded | Model artifacts are hash-verified before loading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6528816"/>
            <a:ext cx="27432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800" b="1" i="0">
                <a:solidFill>
                  <a:srgbClr val="5B1D8C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E293B"/>
                </a:solidFill>
                <a:latin typeface="Aptos Display"/>
              </a:rPr>
              <a:t>Tools &amp;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80010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Aptos"/>
              </a:rPr>
              <a:t>A local CPU stack with reproducible artifacts and no paid service dependency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89888"/>
            <a:ext cx="2487168" cy="1691640"/>
          </a:xfrm>
          <a:prstGeom prst="roundRect">
            <a:avLst/>
          </a:prstGeom>
          <a:solidFill>
            <a:srgbClr val="F6EFFA"/>
          </a:solidFill>
          <a:ln w="8890">
            <a:solidFill>
              <a:srgbClr val="E1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73152" cy="1691640"/>
          </a:xfrm>
          <a:prstGeom prst="rect">
            <a:avLst/>
          </a:prstGeom>
          <a:solidFill>
            <a:srgbClr val="5B1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499616"/>
            <a:ext cx="2212848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00" b="1" i="0">
                <a:solidFill>
                  <a:srgbClr val="5B1D8C"/>
                </a:solidFill>
                <a:latin typeface="Aptos"/>
              </a:rPr>
              <a:t>Language + 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828800"/>
            <a:ext cx="2212848" cy="117957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ptos"/>
              </a:rPr>
              <a:t>Python 3.10+
scikit-learn
TF-IDF + Logistic Regression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389888"/>
            <a:ext cx="2487168" cy="1691640"/>
          </a:xfrm>
          <a:prstGeom prst="roundRect">
            <a:avLst/>
          </a:prstGeom>
          <a:solidFill>
            <a:srgbClr val="E7F7F7"/>
          </a:solidFill>
          <a:ln w="8890">
            <a:solidFill>
              <a:srgbClr val="E1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46120" y="1389888"/>
            <a:ext cx="73152" cy="169164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0712" y="1499616"/>
            <a:ext cx="2212848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00" b="1" i="0">
                <a:solidFill>
                  <a:srgbClr val="0097A7"/>
                </a:solidFill>
                <a:latin typeface="Aptos"/>
              </a:rPr>
              <a:t>Interfaces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1828800"/>
            <a:ext cx="2212848" cy="117957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ptos"/>
              </a:rPr>
              <a:t>FastAPI
Streamlit
Pydantic validation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9320" y="1389888"/>
            <a:ext cx="2487168" cy="1691640"/>
          </a:xfrm>
          <a:prstGeom prst="roundRect">
            <a:avLst/>
          </a:prstGeom>
          <a:solidFill>
            <a:srgbClr val="FFF8E1"/>
          </a:solidFill>
          <a:ln w="8890">
            <a:solidFill>
              <a:srgbClr val="E1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1389888"/>
            <a:ext cx="73152" cy="1691640"/>
          </a:xfrm>
          <a:prstGeom prst="rect">
            <a:avLst/>
          </a:prstGeom>
          <a:solidFill>
            <a:srgbClr val="E2B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53912" y="1499616"/>
            <a:ext cx="2212848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00" b="1" i="0">
                <a:solidFill>
                  <a:srgbClr val="E2B11F"/>
                </a:solidFill>
                <a:latin typeface="Aptos"/>
              </a:rPr>
              <a:t>Evidence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53912" y="1828800"/>
            <a:ext cx="2212848" cy="117957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ptos"/>
              </a:rPr>
              <a:t>Tesseract eng+hin
Pillow image policy
Entity + URL rules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447288"/>
            <a:ext cx="3886200" cy="1691640"/>
          </a:xfrm>
          <a:prstGeom prst="roundRect">
            <a:avLst/>
          </a:prstGeom>
          <a:solidFill>
            <a:srgbClr val="EDF9F3"/>
          </a:solidFill>
          <a:ln w="8890">
            <a:solidFill>
              <a:srgbClr val="E1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447288"/>
            <a:ext cx="73152" cy="1691640"/>
          </a:xfrm>
          <a:prstGeom prst="rect">
            <a:avLst/>
          </a:prstGeom>
          <a:solidFill>
            <a:srgbClr val="237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3557016"/>
            <a:ext cx="361188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00" b="1" i="0">
                <a:solidFill>
                  <a:srgbClr val="237C58"/>
                </a:solidFill>
                <a:latin typeface="Aptos"/>
              </a:rPr>
              <a:t>Storage + privacy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3886200"/>
            <a:ext cx="3611880" cy="117957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ptos"/>
              </a:rPr>
              <a:t>SQLite
Retention deadlines
HMAC IDs + masks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63440" y="3447288"/>
            <a:ext cx="3886200" cy="1691640"/>
          </a:xfrm>
          <a:prstGeom prst="roundRect">
            <a:avLst/>
          </a:prstGeom>
          <a:solidFill>
            <a:srgbClr val="FDF1F1"/>
          </a:solidFill>
          <a:ln w="8890">
            <a:solidFill>
              <a:srgbClr val="E1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63440" y="3447288"/>
            <a:ext cx="73152" cy="1691640"/>
          </a:xfrm>
          <a:prstGeom prst="rect">
            <a:avLst/>
          </a:prstGeom>
          <a:solidFill>
            <a:srgbClr val="A92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28031" y="3557016"/>
            <a:ext cx="361188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00" b="1" i="0">
                <a:solidFill>
                  <a:srgbClr val="A92330"/>
                </a:solidFill>
                <a:latin typeface="Aptos"/>
              </a:rPr>
              <a:t>Release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8031" y="3886200"/>
            <a:ext cx="3611880" cy="117957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00" b="0" i="0">
                <a:solidFill>
                  <a:srgbClr val="1E293B"/>
                </a:solidFill>
                <a:latin typeface="Aptos"/>
              </a:rPr>
              <a:t>Pytest
GitHub Actions
Docker Compose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40280" y="5532120"/>
            <a:ext cx="2057400" cy="749808"/>
          </a:xfrm>
          <a:prstGeom prst="roundRect">
            <a:avLst/>
          </a:prstGeom>
          <a:solidFill>
            <a:srgbClr val="F6E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13432" y="5605272"/>
            <a:ext cx="1911095" cy="329184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2000" b="1" i="0">
                <a:solidFill>
                  <a:srgbClr val="5B1D8C"/>
                </a:solidFill>
                <a:latin typeface="Aptos"/>
              </a:rPr>
              <a:t>355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13432" y="5961888"/>
            <a:ext cx="1911095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919" b="0" i="0">
                <a:solidFill>
                  <a:srgbClr val="475569"/>
                </a:solidFill>
                <a:latin typeface="Aptos"/>
              </a:rPr>
              <a:t>automated tests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00600" y="5532120"/>
            <a:ext cx="2057400" cy="749808"/>
          </a:xfrm>
          <a:prstGeom prst="roundRect">
            <a:avLst/>
          </a:prstGeom>
          <a:solidFill>
            <a:srgbClr val="E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73752" y="5605272"/>
            <a:ext cx="1911095" cy="329184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2000" b="1" i="0">
                <a:solidFill>
                  <a:srgbClr val="0097A7"/>
                </a:solidFill>
                <a:latin typeface="Aptos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3752" y="5961888"/>
            <a:ext cx="1911095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919" b="0" i="0">
                <a:solidFill>
                  <a:srgbClr val="475569"/>
                </a:solidFill>
                <a:latin typeface="Aptos"/>
              </a:rPr>
              <a:t>Python versions in CI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28816"/>
            <a:ext cx="78181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830" b="0" i="0">
                <a:solidFill>
                  <a:srgbClr val="475569"/>
                </a:solidFill>
                <a:latin typeface="Aptos"/>
              </a:rPr>
              <a:t>Container: loopback ports, non-root user, read-only filesystem, dropped capabilities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6528816"/>
            <a:ext cx="27432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800" b="1" i="0">
                <a:solidFill>
                  <a:srgbClr val="5B1D8C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E293B"/>
                </a:solidFill>
                <a:latin typeface="Aptos Display"/>
              </a:rPr>
              <a:t>Implementation /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80010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Aptos"/>
              </a:rPr>
              <a:t>Three synthetic flows prove text, OCR and privacy-safe repeated-entity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17904"/>
            <a:ext cx="1508760" cy="310896"/>
          </a:xfrm>
          <a:prstGeom prst="roundRect">
            <a:avLst/>
          </a:prstGeom>
          <a:solidFill>
            <a:srgbClr val="5B1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" y="1531619"/>
            <a:ext cx="1472184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30" b="1" i="0">
                <a:solidFill>
                  <a:srgbClr val="FFFFFF"/>
                </a:solidFill>
                <a:latin typeface="Aptos"/>
              </a:rPr>
              <a:t>1  TEXT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947672"/>
            <a:ext cx="1444752" cy="512064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919" b="0" i="0">
                <a:solidFill>
                  <a:srgbClr val="475569"/>
                </a:solidFill>
                <a:latin typeface="Aptos"/>
              </a:rPr>
              <a:t>Prediction, evidence and complaint draft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76272" y="1353312"/>
            <a:ext cx="6419088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raudlens-text-foc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848" y="1394521"/>
            <a:ext cx="6345936" cy="12434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02920" y="3072384"/>
            <a:ext cx="1508760" cy="310896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3086100"/>
            <a:ext cx="1472184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30" b="1" i="0">
                <a:solidFill>
                  <a:srgbClr val="FFFFFF"/>
                </a:solidFill>
                <a:latin typeface="Aptos"/>
              </a:rPr>
              <a:t>2  SCREENSHOT OCR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3502152"/>
            <a:ext cx="1444752" cy="512064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919" b="0" i="0">
                <a:solidFill>
                  <a:srgbClr val="475569"/>
                </a:solidFill>
                <a:latin typeface="Aptos"/>
              </a:rPr>
              <a:t>Local eng+hin text extraction; image not retained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76272" y="2907792"/>
            <a:ext cx="6419088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fraudlens-ocr-foc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0327" y="2944368"/>
            <a:ext cx="3370977" cy="125272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02920" y="4626864"/>
            <a:ext cx="1508760" cy="310896"/>
          </a:xfrm>
          <a:prstGeom prst="roundRect">
            <a:avLst/>
          </a:prstGeom>
          <a:solidFill>
            <a:srgbClr val="E2B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" y="4640579"/>
            <a:ext cx="1472184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30" b="1" i="0">
                <a:solidFill>
                  <a:srgbClr val="FFFFFF"/>
                </a:solidFill>
                <a:latin typeface="Aptos"/>
              </a:rPr>
              <a:t>3  ENTITY GRAPH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5056632"/>
            <a:ext cx="1444752" cy="512064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919" b="0" i="0">
                <a:solidFill>
                  <a:srgbClr val="475569"/>
                </a:solidFill>
                <a:latin typeface="Aptos"/>
              </a:rPr>
              <a:t>Two consented incidents linked by one masked host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76272" y="4462272"/>
            <a:ext cx="6419088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fraudlens-graph-foc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9114" y="4498848"/>
            <a:ext cx="3433402" cy="12527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02920" y="6528816"/>
            <a:ext cx="78181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830" b="0" i="0">
                <a:solidFill>
                  <a:srgbClr val="475569"/>
                </a:solidFill>
                <a:latin typeface="Aptos"/>
              </a:rPr>
              <a:t>Storage starts off | Synthetic fixtures only | API and dashboard use the same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6528816"/>
            <a:ext cx="27432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800" b="1" i="0">
                <a:solidFill>
                  <a:srgbClr val="5B1D8C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b="1">
                <a:solidFill>
                  <a:srgbClr val="1E293B"/>
                </a:solidFill>
                <a:latin typeface="Aptos Display"/>
              </a:rPr>
              <a:t>Results &amp;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80010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Aptos"/>
              </a:rPr>
              <a:t>Research candidate and deployed runtime answer different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25880"/>
            <a:ext cx="4983480" cy="44074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7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688210"/>
            <a:ext cx="4910328" cy="368274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715000" y="1325880"/>
            <a:ext cx="2880360" cy="310896"/>
          </a:xfrm>
          <a:prstGeom prst="roundRect">
            <a:avLst/>
          </a:prstGeom>
          <a:solidFill>
            <a:srgbClr val="371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33288" y="1339595"/>
            <a:ext cx="2843784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19" b="1" i="0">
                <a:solidFill>
                  <a:srgbClr val="FFFFFF"/>
                </a:solidFill>
                <a:latin typeface="Aptos"/>
              </a:rPr>
              <a:t>64 synthetic fraud-only messages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0" y="1810512"/>
            <a:ext cx="2880360" cy="1353312"/>
          </a:xfrm>
          <a:prstGeom prst="roundRect">
            <a:avLst/>
          </a:prstGeom>
          <a:solidFill>
            <a:srgbClr val="F6EFFA"/>
          </a:solidFill>
          <a:ln w="8890">
            <a:solidFill>
              <a:srgbClr val="E1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15000" y="1810512"/>
            <a:ext cx="73152" cy="1353312"/>
          </a:xfrm>
          <a:prstGeom prst="rect">
            <a:avLst/>
          </a:prstGeom>
          <a:solidFill>
            <a:srgbClr val="5B1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79592" y="1920240"/>
            <a:ext cx="260604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1" i="0">
                <a:solidFill>
                  <a:srgbClr val="5B1D8C"/>
                </a:solidFill>
                <a:latin typeface="Aptos"/>
              </a:rPr>
              <a:t>Selected tied candidate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79592" y="2249424"/>
            <a:ext cx="2606040" cy="841247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20" b="0" i="0">
                <a:solidFill>
                  <a:srgbClr val="1E293B"/>
                </a:solidFill>
                <a:latin typeface="Aptos"/>
              </a:rPr>
              <a:t>Character TF-IDF: 75.0% accuracy / 66.67% Macro-F1
Smaller than tied hybrid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15000" y="3310128"/>
            <a:ext cx="2880360" cy="1353312"/>
          </a:xfrm>
          <a:prstGeom prst="roundRect">
            <a:avLst/>
          </a:prstGeom>
          <a:solidFill>
            <a:srgbClr val="E7F7F7"/>
          </a:solidFill>
          <a:ln w="8890">
            <a:solidFill>
              <a:srgbClr val="E1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715000" y="3310128"/>
            <a:ext cx="73152" cy="1353312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79592" y="3419856"/>
            <a:ext cx="260604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1" i="0">
                <a:solidFill>
                  <a:srgbClr val="0097A7"/>
                </a:solidFill>
                <a:latin typeface="Aptos"/>
              </a:rPr>
              <a:t>Separate deployed runtime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79592" y="3749039"/>
            <a:ext cx="2606040" cy="841247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20" b="0" i="0">
                <a:solidFill>
                  <a:srgbClr val="1E293B"/>
                </a:solidFill>
                <a:latin typeface="Aptos"/>
              </a:rPr>
              <a:t>50.0% runtime accuracy
50.0% Macro-F1
87.5% coverage after abstention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15000" y="4809744"/>
            <a:ext cx="2880360" cy="950976"/>
          </a:xfrm>
          <a:prstGeom prst="roundRect">
            <a:avLst/>
          </a:prstGeom>
          <a:solidFill>
            <a:srgbClr val="FDF1F1"/>
          </a:solidFill>
          <a:ln w="12700">
            <a:solidFill>
              <a:srgbClr val="ECC6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37160" bIns="137160"/>
          <a:lstStyle/>
          <a:p>
            <a:pPr algn="l">
              <a:spcAft>
                <a:spcPts val="500"/>
              </a:spcAft>
              <a:defRPr sz="1000" b="1" i="0">
                <a:solidFill>
                  <a:srgbClr val="A92330"/>
                </a:solidFill>
                <a:latin typeface="Aptos"/>
              </a:defRPr>
            </a:pPr>
            <a:r>
              <a:t>LIMIT</a:t>
            </a:r>
          </a:p>
          <a:p>
            <a:pPr algn="l">
              <a:spcAft>
                <a:spcPts val="500"/>
              </a:spcAft>
              <a:defRPr sz="1050" b="1" i="0">
                <a:solidFill>
                  <a:srgbClr val="1E293B"/>
                </a:solidFill>
                <a:latin typeface="Aptos"/>
              </a:defRPr>
            </a:pPr>
            <a:r>
              <a:t>8 frozen test rows; no legitimate class; no production-accuracy claim.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797296"/>
            <a:ext cx="470916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919" b="1" i="0">
                <a:solidFill>
                  <a:srgbClr val="371455"/>
                </a:solidFill>
                <a:latin typeface="Aptos"/>
              </a:rPr>
              <a:t>Left: research outputs. Right: release evaluation after abstention.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28816"/>
            <a:ext cx="78181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830" b="0" i="0">
                <a:solidFill>
                  <a:srgbClr val="475569"/>
                </a:solidFill>
                <a:latin typeface="Aptos"/>
              </a:rPr>
              <a:t>Sources: outputs/research/classification_summary.csv; models/metrics.json; outputs/phase2/evaluation.json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6528816"/>
            <a:ext cx="27432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800" b="1" i="0">
                <a:solidFill>
                  <a:srgbClr val="5B1D8C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E293B"/>
                </a:solidFill>
                <a:latin typeface="Aptos Display"/>
              </a:rPr>
              <a:t>Challenges &amp;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80010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Aptos"/>
              </a:rPr>
              <a:t>The main remaining gap is labelled real-world evidence, not another UI feature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89888"/>
            <a:ext cx="3886200" cy="1737360"/>
          </a:xfrm>
          <a:prstGeom prst="roundRect">
            <a:avLst/>
          </a:prstGeom>
          <a:solidFill>
            <a:srgbClr val="F6EFFA"/>
          </a:solidFill>
          <a:ln w="12700"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37160" bIns="137160"/>
          <a:lstStyle/>
          <a:p>
            <a:pPr algn="l">
              <a:spcAft>
                <a:spcPts val="500"/>
              </a:spcAft>
              <a:defRPr sz="1100" b="1" i="0">
                <a:solidFill>
                  <a:srgbClr val="5B1D8C"/>
                </a:solidFill>
                <a:latin typeface="Aptos"/>
              </a:defRPr>
            </a:pPr>
            <a:r>
              <a:t>DATASET</a:t>
            </a:r>
          </a:p>
          <a:p>
            <a:pPr algn="l">
              <a:spcAft>
                <a:spcPts val="500"/>
              </a:spcAft>
              <a:defRPr sz="1120" b="1" i="0">
                <a:solidFill>
                  <a:srgbClr val="1E293B"/>
                </a:solidFill>
                <a:latin typeface="Aptos"/>
              </a:defRPr>
            </a:pPr>
            <a:r>
              <a:t>64 synthetic fraud-only rows; one test row per class; no legitimate class</a:t>
            </a:r>
          </a:p>
          <a:p>
            <a:pPr algn="l">
              <a:spcAft>
                <a:spcPts val="500"/>
              </a:spcAft>
              <a:defRPr sz="1040" b="0" i="0">
                <a:solidFill>
                  <a:srgbClr val="475569"/>
                </a:solidFill>
                <a:latin typeface="Aptos"/>
              </a:defRPr>
            </a:pPr>
            <a:r>
              <a:t>Response: Collect 200+ reviewed rows per label plus benign controls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389888"/>
            <a:ext cx="3886200" cy="1737360"/>
          </a:xfrm>
          <a:prstGeom prst="roundRect">
            <a:avLst/>
          </a:prstGeom>
          <a:solidFill>
            <a:srgbClr val="E7F7F7"/>
          </a:solidFill>
          <a:ln w="12700"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37160" bIns="137160"/>
          <a:lstStyle/>
          <a:p>
            <a:pPr algn="l">
              <a:spcAft>
                <a:spcPts val="500"/>
              </a:spcAft>
              <a:defRPr sz="1100" b="1" i="0">
                <a:solidFill>
                  <a:srgbClr val="0097A7"/>
                </a:solidFill>
                <a:latin typeface="Aptos"/>
              </a:defRPr>
            </a:pPr>
            <a:r>
              <a:t>SUBSYSTEM METRICS</a:t>
            </a:r>
          </a:p>
          <a:p>
            <a:pPr algn="l">
              <a:spcAft>
                <a:spcPts val="500"/>
              </a:spcAft>
              <a:defRPr sz="1120" b="1" i="0">
                <a:solidFill>
                  <a:srgbClr val="1E293B"/>
                </a:solidFill>
                <a:latin typeface="Aptos"/>
              </a:defRPr>
            </a:pPr>
            <a:r>
              <a:t>No labelled OCR CER/WER, entity F1, URL PR-AUC or graph edge benchmark</a:t>
            </a:r>
          </a:p>
          <a:p>
            <a:pPr algn="l">
              <a:spcAft>
                <a:spcPts val="500"/>
              </a:spcAft>
              <a:defRPr sz="1040" b="0" i="0">
                <a:solidFill>
                  <a:srgbClr val="475569"/>
                </a:solidFill>
                <a:latin typeface="Aptos"/>
              </a:defRPr>
            </a:pPr>
            <a:r>
              <a:t>Response: Build separate labelled sets and report each metric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447288"/>
            <a:ext cx="3886200" cy="1737360"/>
          </a:xfrm>
          <a:prstGeom prst="roundRect">
            <a:avLst/>
          </a:prstGeom>
          <a:solidFill>
            <a:srgbClr val="FFF8E1"/>
          </a:solidFill>
          <a:ln w="12700"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37160" bIns="137160"/>
          <a:lstStyle/>
          <a:p>
            <a:pPr algn="l">
              <a:spcAft>
                <a:spcPts val="500"/>
              </a:spcAft>
              <a:defRPr sz="1100" b="1" i="0">
                <a:solidFill>
                  <a:srgbClr val="E2B11F"/>
                </a:solidFill>
                <a:latin typeface="Aptos"/>
              </a:defRPr>
            </a:pPr>
            <a:r>
              <a:t>GENERALIZATION</a:t>
            </a:r>
          </a:p>
          <a:p>
            <a:pPr algn="l">
              <a:spcAft>
                <a:spcPts val="500"/>
              </a:spcAft>
              <a:defRPr sz="1120" b="1" i="0">
                <a:solidFill>
                  <a:srgbClr val="1E293B"/>
                </a:solidFill>
                <a:latin typeface="Aptos"/>
              </a:defRPr>
            </a:pPr>
            <a:r>
              <a:t>No external source, Devanagari coverage, temporal drift or usability study</a:t>
            </a:r>
          </a:p>
          <a:p>
            <a:pPr algn="l">
              <a:spcAft>
                <a:spcPts val="500"/>
              </a:spcAft>
              <a:defRPr sz="1040" b="0" i="0">
                <a:solidFill>
                  <a:srgbClr val="475569"/>
                </a:solidFill>
                <a:latin typeface="Aptos"/>
              </a:defRPr>
            </a:pPr>
            <a:r>
              <a:t>Response: Grouped external test and supervised user evaluation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3447288"/>
            <a:ext cx="3886200" cy="1737360"/>
          </a:xfrm>
          <a:prstGeom prst="roundRect">
            <a:avLst/>
          </a:prstGeom>
          <a:solidFill>
            <a:srgbClr val="FDF1F1"/>
          </a:solidFill>
          <a:ln w="12700">
            <a:solidFill>
              <a:srgbClr val="E0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37160" bIns="137160"/>
          <a:lstStyle/>
          <a:p>
            <a:pPr algn="l">
              <a:spcAft>
                <a:spcPts val="500"/>
              </a:spcAft>
              <a:defRPr sz="1100" b="1" i="0">
                <a:solidFill>
                  <a:srgbClr val="A92330"/>
                </a:solidFill>
                <a:latin typeface="Aptos"/>
              </a:defRPr>
            </a:pPr>
            <a:r>
              <a:t>OPERATIONAL BOUNDARY</a:t>
            </a:r>
          </a:p>
          <a:p>
            <a:pPr algn="l">
              <a:spcAft>
                <a:spcPts val="500"/>
              </a:spcAft>
              <a:defRPr sz="1120" b="1" i="0">
                <a:solidFill>
                  <a:srgbClr val="1E293B"/>
                </a:solidFill>
                <a:latin typeface="Aptos"/>
              </a:defRPr>
            </a:pPr>
            <a:r>
              <a:t>No authentication for direct public deployment</a:t>
            </a:r>
          </a:p>
          <a:p>
            <a:pPr algn="l">
              <a:spcAft>
                <a:spcPts val="500"/>
              </a:spcAft>
              <a:defRPr sz="1040" b="0" i="0">
                <a:solidFill>
                  <a:srgbClr val="475569"/>
                </a:solidFill>
                <a:latin typeface="Aptos"/>
              </a:defRPr>
            </a:pPr>
            <a:r>
              <a:t>Response: Keep loopback local; add auth and monitoring before exposure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5650992"/>
            <a:ext cx="5303520" cy="310896"/>
          </a:xfrm>
          <a:prstGeom prst="roundRect">
            <a:avLst/>
          </a:prstGeom>
          <a:solidFill>
            <a:srgbClr val="371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38528" y="5664707"/>
            <a:ext cx="5266944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Human review required | consented storage | masked graph | no automatic filing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28816"/>
            <a:ext cx="78181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830" b="0" i="0">
                <a:solidFill>
                  <a:srgbClr val="475569"/>
                </a:solidFill>
                <a:latin typeface="Aptos"/>
              </a:rPr>
              <a:t>A single frozen-test error changes accuracy by 12.5 percentage points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192" y="6528816"/>
            <a:ext cx="27432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800" b="1" i="0">
                <a:solidFill>
                  <a:srgbClr val="5B1D8C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2920" y="960120"/>
            <a:ext cx="80010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00" b="0" i="0">
                <a:solidFill>
                  <a:srgbClr val="475569"/>
                </a:solidFill>
                <a:latin typeface="Aptos"/>
              </a:rPr>
              <a:t>Completed software scope; next target is stronger empirical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92608"/>
            <a:ext cx="6720840" cy="5029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293B"/>
                </a:solidFill>
                <a:latin typeface="Aptos Display"/>
              </a:rPr>
              <a:t>Conclusion &amp; Future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371600"/>
            <a:ext cx="2880360" cy="4526280"/>
          </a:xfrm>
          <a:prstGeom prst="roundRect">
            <a:avLst/>
          </a:prstGeom>
          <a:solidFill>
            <a:srgbClr val="F6EFFA"/>
          </a:solidFill>
          <a:ln w="12700">
            <a:solidFill>
              <a:srgbClr val="DA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 bIns="228600"/>
          <a:lstStyle/>
          <a:p>
            <a:pPr algn="l">
              <a:spcAft>
                <a:spcPts val="500"/>
              </a:spcAft>
              <a:defRPr sz="1200" b="1" i="0">
                <a:solidFill>
                  <a:srgbClr val="5B1D8C"/>
                </a:solidFill>
                <a:latin typeface="Aptos"/>
              </a:defRPr>
            </a:pPr>
            <a:r>
              <a:t>CONCLUSION</a:t>
            </a:r>
          </a:p>
          <a:p>
            <a:pPr algn="l">
              <a:spcAft>
                <a:spcPts val="500"/>
              </a:spcAft>
              <a:defRPr sz="1800" b="1" i="0">
                <a:solidFill>
                  <a:srgbClr val="1E293B"/>
                </a:solidFill>
                <a:latin typeface="Aptos"/>
              </a:defRPr>
            </a:pPr>
            <a:r>
              <a:t>Phase 1 + Phase 2 integrated</a:t>
            </a:r>
          </a:p>
          <a:p>
            <a:pPr algn="l">
              <a:spcAft>
                <a:spcPts val="500"/>
              </a:spcAft>
              <a:defRPr sz="1250" b="0" i="0">
                <a:solidFill>
                  <a:srgbClr val="1E293B"/>
                </a:solidFill>
                <a:latin typeface="Aptos"/>
              </a:defRPr>
            </a:pPr>
            <a:r>
              <a:t>Text + screenshot triage</a:t>
            </a:r>
          </a:p>
          <a:p>
            <a:pPr algn="l">
              <a:spcAft>
                <a:spcPts val="500"/>
              </a:spcAft>
              <a:defRPr sz="1250" b="0" i="0">
                <a:solidFill>
                  <a:srgbClr val="1E293B"/>
                </a:solidFill>
                <a:latin typeface="Aptos"/>
              </a:defRPr>
            </a:pPr>
            <a:r>
              <a:t>Evidence, reasons and complaint draft</a:t>
            </a:r>
          </a:p>
          <a:p>
            <a:pPr algn="l">
              <a:spcAft>
                <a:spcPts val="500"/>
              </a:spcAft>
              <a:defRPr sz="1250" b="0" i="0">
                <a:solidFill>
                  <a:srgbClr val="1E293B"/>
                </a:solidFill>
                <a:latin typeface="Aptos"/>
              </a:defRPr>
            </a:pPr>
            <a:r>
              <a:t>Consent, retention and masked relationships</a:t>
            </a:r>
          </a:p>
          <a:p>
            <a:pPr algn="l">
              <a:spcAft>
                <a:spcPts val="500"/>
              </a:spcAft>
              <a:defRPr sz="1250" b="0" i="0">
                <a:solidFill>
                  <a:srgbClr val="1E293B"/>
                </a:solidFill>
                <a:latin typeface="Aptos"/>
              </a:defRPr>
            </a:pPr>
            <a:r>
              <a:t>Reproducible research + hardened local release</a:t>
            </a:r>
          </a:p>
          <a:p>
            <a:pPr algn="l">
              <a:spcAft>
                <a:spcPts val="1000"/>
              </a:spcAft>
              <a:defRPr sz="1800" b="1" i="0">
                <a:solidFill>
                  <a:srgbClr val="0097A7"/>
                </a:solidFill>
                <a:latin typeface="Aptos"/>
              </a:defRPr>
            </a:pPr>
            <a:r>
              <a:t>355 automated tests</a:t>
            </a:r>
          </a:p>
          <a:p>
            <a:pPr algn="l">
              <a:spcAft>
                <a:spcPts val="500"/>
              </a:spcAft>
              <a:defRPr sz="1100" b="1" i="0">
                <a:solidFill>
                  <a:srgbClr val="A92330"/>
                </a:solidFill>
                <a:latin typeface="Aptos"/>
              </a:defRPr>
            </a:pPr>
            <a:r>
              <a:t>Human-controlled assistive prototype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85032" y="1463040"/>
            <a:ext cx="438912" cy="310896"/>
          </a:xfrm>
          <a:prstGeom prst="roundRect">
            <a:avLst/>
          </a:prstGeom>
          <a:solidFill>
            <a:srgbClr val="5B1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03320" y="1476756"/>
            <a:ext cx="402336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371600"/>
            <a:ext cx="431596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79392" y="1371600"/>
            <a:ext cx="73152" cy="960120"/>
          </a:xfrm>
          <a:prstGeom prst="rect">
            <a:avLst/>
          </a:prstGeom>
          <a:solidFill>
            <a:srgbClr val="5B1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43983" y="1481328"/>
            <a:ext cx="4041648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50" b="1" i="0">
                <a:solidFill>
                  <a:srgbClr val="5B1D8C"/>
                </a:solidFill>
                <a:latin typeface="Aptos"/>
              </a:rPr>
              <a:t>Authorized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983" y="1810512"/>
            <a:ext cx="4041648" cy="44805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030" b="0" i="0">
                <a:solidFill>
                  <a:srgbClr val="1E293B"/>
                </a:solidFill>
                <a:latin typeface="Aptos"/>
              </a:rPr>
              <a:t>200+ reviewed rows per fraud label + legitimate controls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85032" y="2578608"/>
            <a:ext cx="438912" cy="310896"/>
          </a:xfrm>
          <a:prstGeom prst="round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03320" y="2592324"/>
            <a:ext cx="402336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2487168"/>
            <a:ext cx="431596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2487168"/>
            <a:ext cx="73152" cy="96012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43983" y="2596896"/>
            <a:ext cx="4041648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50" b="1" i="0">
                <a:solidFill>
                  <a:srgbClr val="0097A7"/>
                </a:solidFill>
                <a:latin typeface="Aptos"/>
              </a:rPr>
              <a:t>Same-data model study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983" y="2926079"/>
            <a:ext cx="4041648" cy="44805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030" b="0" i="0">
                <a:solidFill>
                  <a:srgbClr val="1E293B"/>
                </a:solidFill>
                <a:latin typeface="Aptos"/>
              </a:rPr>
              <a:t>Character TF-IDF versus a Hinglish transformer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85032" y="3694176"/>
            <a:ext cx="438912" cy="310896"/>
          </a:xfrm>
          <a:prstGeom prst="roundRect">
            <a:avLst/>
          </a:prstGeom>
          <a:solidFill>
            <a:srgbClr val="E2B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3707891"/>
            <a:ext cx="402336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79392" y="3602736"/>
            <a:ext cx="431596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9392" y="3602736"/>
            <a:ext cx="73152" cy="960120"/>
          </a:xfrm>
          <a:prstGeom prst="rect">
            <a:avLst/>
          </a:prstGeom>
          <a:solidFill>
            <a:srgbClr val="E2B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43983" y="3712463"/>
            <a:ext cx="4041648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50" b="1" i="0">
                <a:solidFill>
                  <a:srgbClr val="E2B11F"/>
                </a:solidFill>
                <a:latin typeface="Aptos"/>
              </a:rPr>
              <a:t>Subsystem benchmarks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983" y="4041648"/>
            <a:ext cx="4041648" cy="44805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030" b="0" i="0">
                <a:solidFill>
                  <a:srgbClr val="1E293B"/>
                </a:solidFill>
                <a:latin typeface="Aptos"/>
              </a:rPr>
              <a:t>OCR, entities, URLs, links, drafts, latency and RAM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85032" y="4809744"/>
            <a:ext cx="438912" cy="310896"/>
          </a:xfrm>
          <a:prstGeom prst="roundRect">
            <a:avLst/>
          </a:prstGeom>
          <a:solidFill>
            <a:srgbClr val="237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03320" y="4823459"/>
            <a:ext cx="402336" cy="2468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79392" y="4718304"/>
            <a:ext cx="4315968" cy="9601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E1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79392" y="4718304"/>
            <a:ext cx="73152" cy="960120"/>
          </a:xfrm>
          <a:prstGeom prst="rect">
            <a:avLst/>
          </a:prstGeom>
          <a:solidFill>
            <a:srgbClr val="237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43983" y="4828032"/>
            <a:ext cx="4041648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50" b="1" i="0">
                <a:solidFill>
                  <a:srgbClr val="237C58"/>
                </a:solidFill>
                <a:latin typeface="Aptos"/>
              </a:rPr>
              <a:t>User evaluation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43983" y="5157216"/>
            <a:ext cx="4041648" cy="44805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030" b="0" i="0">
                <a:solidFill>
                  <a:srgbClr val="1E293B"/>
                </a:solidFill>
                <a:latin typeface="Aptos"/>
              </a:rPr>
              <a:t>Human rubric, escalation and usability study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75887" y="5925312"/>
            <a:ext cx="489204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150" b="1" i="0">
                <a:solidFill>
                  <a:srgbClr val="371455"/>
                </a:solidFill>
                <a:latin typeface="Aptos"/>
              </a:rPr>
              <a:t>Explainable evidence for a human decision, not an automated fraud verdict.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28816"/>
            <a:ext cx="781812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830" b="0" i="0">
                <a:solidFill>
                  <a:srgbClr val="475569"/>
                </a:solidFill>
                <a:latin typeface="Aptos"/>
              </a:rPr>
              <a:t>Final release 1.0.0 | Thank you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94192" y="6528816"/>
            <a:ext cx="274320" cy="1828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r"/>
            <a:r>
              <a:rPr sz="800" b="1" i="0">
                <a:solidFill>
                  <a:srgbClr val="5B1D8C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pstone Meeting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Capstone Meeting</Template>
  <TotalTime>81</TotalTime>
  <Words>113</Words>
  <Application>Microsoft Office PowerPoint</Application>
  <PresentationFormat>On-screen Show (4:3)</PresentationFormat>
  <Paragraphs>46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Aptos SemiBold</vt:lpstr>
      <vt:lpstr>Arial</vt:lpstr>
      <vt:lpstr>Arial Narrow</vt:lpstr>
      <vt:lpstr>Capstone Meeting</vt:lpstr>
      <vt:lpstr>PowerPoint Presentation</vt:lpstr>
      <vt:lpstr>Problem Statement</vt:lpstr>
      <vt:lpstr>Objectives &amp; Scope</vt:lpstr>
      <vt:lpstr>Existing System / Literature Review</vt:lpstr>
      <vt:lpstr>Proposed System Architecture</vt:lpstr>
      <vt:lpstr>Tools &amp; Technologies</vt:lpstr>
      <vt:lpstr>Implementation / Demo</vt:lpstr>
      <vt:lpstr>Results &amp; Analysis</vt:lpstr>
      <vt:lpstr>Challenges &amp; Limitations</vt:lpstr>
      <vt:lpstr>Conclusion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FraudLens Bharat Final Capstone Presentation</dc:title>
  <dc:subject>Final Phase 1 + Phase 2 capstone presentation</dc:subject>
  <dc:creator>Gautam Manchandani</dc:creator>
  <cp:keywords>FraudLens Bharat, cyber fraud, Hinglish, OCR, capstone</cp:keywords>
  <dc:description>generated using python-pptx</dc:description>
  <cp:lastModifiedBy>Praveen Kumar</cp:lastModifiedBy>
  <cp:revision>3</cp:revision>
  <dcterms:created xsi:type="dcterms:W3CDTF">2013-01-27T09:14:16Z</dcterms:created>
  <dcterms:modified xsi:type="dcterms:W3CDTF">2026-02-10T05:45:53Z</dcterms:modified>
  <cp:category/>
</cp:coreProperties>
</file>