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e9dc42f2d24305" /><Relationship Type="http://schemas.openxmlformats.org/officeDocument/2006/relationships/extended-properties" Target="/docProps/app.xml" Id="R2676d9cbdf124a20" /><Relationship Type="http://schemas.openxmlformats.org/officeDocument/2006/relationships/officeDocument" Target="/ppt/presentation.xml" Id="R352629ab6c8b4c04" /></Relationships>
</file>

<file path=ppt/presentation.xml><?xml version="1.0" encoding="utf-8"?>
<p:presentation xmlns:p="http://schemas.openxmlformats.org/presentationml/2006/main">
  <p:sldMasterIdLst>
    <p:sldMasterId xmlns:r="http://schemas.openxmlformats.org/officeDocument/2006/relationships" id="2147483648" r:id="R4908ad0726234e13"/>
  </p:sldMasterIdLst>
  <p:notesMasterIdLst>
    <p:notesMasterId xmlns:r="http://schemas.openxmlformats.org/officeDocument/2006/relationships" r:id="R6a09ee490f12491b"/>
  </p:notesMasterIdLst>
  <p:sldIdLst>
    <p:sldId xmlns:r="http://schemas.openxmlformats.org/officeDocument/2006/relationships" id="256" r:id="R583eed537d4d44b4"/>
    <p:sldId xmlns:r="http://schemas.openxmlformats.org/officeDocument/2006/relationships" id="257" r:id="Rc3a454abd3ff46f5"/>
    <p:sldId xmlns:r="http://schemas.openxmlformats.org/officeDocument/2006/relationships" id="258" r:id="Re5bf8c95f1694498"/>
    <p:sldId xmlns:r="http://schemas.openxmlformats.org/officeDocument/2006/relationships" id="259" r:id="Rbfb42517aa1f4f1b"/>
    <p:sldId xmlns:r="http://schemas.openxmlformats.org/officeDocument/2006/relationships" id="260" r:id="R88f9513824a744dc"/>
    <p:sldId xmlns:r="http://schemas.openxmlformats.org/officeDocument/2006/relationships" id="261" r:id="Rce40326a3a02467c"/>
    <p:sldId xmlns:r="http://schemas.openxmlformats.org/officeDocument/2006/relationships" id="262" r:id="R8020b811c22a41f2"/>
    <p:sldId xmlns:r="http://schemas.openxmlformats.org/officeDocument/2006/relationships" id="263" r:id="Rd80bb3975a434fff"/>
    <p:sldId xmlns:r="http://schemas.openxmlformats.org/officeDocument/2006/relationships" id="264" r:id="R2325ef23c798494e"/>
    <p:sldId xmlns:r="http://schemas.openxmlformats.org/officeDocument/2006/relationships" id="265" r:id="Rda10c0a44cbb4729"/>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3d375ce4156427c" /><Relationship Type="http://schemas.openxmlformats.org/officeDocument/2006/relationships/slideMaster" Target="/ppt/slideMasters/slideMaster1.xml" Id="R4908ad0726234e13" /><Relationship Type="http://schemas.openxmlformats.org/officeDocument/2006/relationships/notesMaster" Target="/ppt/notesMasters/notesMaster1.xml" Id="R6a09ee490f12491b" /><Relationship Type="http://schemas.openxmlformats.org/officeDocument/2006/relationships/presProps" Target="/ppt/presProps.xml" Id="R68bd0bd1c8974bc4" /><Relationship Type="http://schemas.openxmlformats.org/officeDocument/2006/relationships/viewProps" Target="/ppt/viewProps.xml" Id="R1830d806c21341f9" /><Relationship Type="http://schemas.openxmlformats.org/officeDocument/2006/relationships/tableStyles" Target="/ppt/tableStyles.xml" Id="Rc06e7cd34e4c4923" /><Relationship Type="http://schemas.openxmlformats.org/officeDocument/2006/relationships/slide" Target="/ppt/slides/slide1.xml" Id="R583eed537d4d44b4" /><Relationship Type="http://schemas.openxmlformats.org/officeDocument/2006/relationships/slide" Target="/ppt/slides/slide2.xml" Id="Rc3a454abd3ff46f5" /><Relationship Type="http://schemas.openxmlformats.org/officeDocument/2006/relationships/slide" Target="/ppt/slides/slide3.xml" Id="Re5bf8c95f1694498" /><Relationship Type="http://schemas.openxmlformats.org/officeDocument/2006/relationships/slide" Target="/ppt/slides/slide4.xml" Id="Rbfb42517aa1f4f1b" /><Relationship Type="http://schemas.openxmlformats.org/officeDocument/2006/relationships/slide" Target="/ppt/slides/slide5.xml" Id="R88f9513824a744dc" /><Relationship Type="http://schemas.openxmlformats.org/officeDocument/2006/relationships/slide" Target="/ppt/slides/slide6.xml" Id="Rce40326a3a02467c" /><Relationship Type="http://schemas.openxmlformats.org/officeDocument/2006/relationships/slide" Target="/ppt/slides/slide7.xml" Id="R8020b811c22a41f2" /><Relationship Type="http://schemas.openxmlformats.org/officeDocument/2006/relationships/slide" Target="/ppt/slides/slide8.xml" Id="Rd80bb3975a434fff" /><Relationship Type="http://schemas.openxmlformats.org/officeDocument/2006/relationships/slide" Target="/ppt/slides/slide9.xml" Id="R2325ef23c798494e" /><Relationship Type="http://schemas.openxmlformats.org/officeDocument/2006/relationships/slide" Target="/ppt/slides/slide10.xml" Id="Rda10c0a44cbb472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c7c33a87044c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87799ccf444f2b" /><Relationship Type="http://schemas.openxmlformats.org/officeDocument/2006/relationships/notesMaster" Target="/ppt/notesMasters/notesMaster1.xml" Id="Reb6c9879a51d47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2df4cf581b4c0a" /><Relationship Type="http://schemas.openxmlformats.org/officeDocument/2006/relationships/notesMaster" Target="/ppt/notesMasters/notesMaster1.xml" Id="Ra5f1130c24c149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deb7df2ab4e4082" /><Relationship Type="http://schemas.openxmlformats.org/officeDocument/2006/relationships/notesMaster" Target="/ppt/notesMasters/notesMaster1.xml" Id="Rfce650afcc52480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fc1dbb87d241bd" /><Relationship Type="http://schemas.openxmlformats.org/officeDocument/2006/relationships/notesMaster" Target="/ppt/notesMasters/notesMaster1.xml" Id="R2e596df0675b45f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9245ca4f644386" /><Relationship Type="http://schemas.openxmlformats.org/officeDocument/2006/relationships/notesMaster" Target="/ppt/notesMasters/notesMaster1.xml" Id="R70ba159bffdf4d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dc83907f5644e4" /><Relationship Type="http://schemas.openxmlformats.org/officeDocument/2006/relationships/notesMaster" Target="/ppt/notesMasters/notesMaster1.xml" Id="Rd8cb1c7778dc41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aca021147a4263" /><Relationship Type="http://schemas.openxmlformats.org/officeDocument/2006/relationships/notesMaster" Target="/ppt/notesMasters/notesMaster1.xml" Id="R589b4694562844a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4fc21940f84c54" /><Relationship Type="http://schemas.openxmlformats.org/officeDocument/2006/relationships/notesMaster" Target="/ppt/notesMasters/notesMaster1.xml" Id="Rb200fe3ddf3348c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c3719bb81a41cd" /><Relationship Type="http://schemas.openxmlformats.org/officeDocument/2006/relationships/notesMaster" Target="/ppt/notesMasters/notesMaster1.xml" Id="R6cb147e5ce494a2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47381f6ae294354" /><Relationship Type="http://schemas.openxmlformats.org/officeDocument/2006/relationships/notesMaster" Target="/ppt/notesMasters/notesMaster1.xml" Id="R710985a8247c451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problem: victims receive unstructured suspicious messages or screenshots, but reporting requires organized evidence. FraudLens supports review; it does not make an automatic fraud verdict or file a complaint.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reporting gap. A suspicious message is unstructured, but a useful complaint needs category, identifiers, context and an explanation. The current dataset contains 64 synthetic rows: 36 English and 28 Hinglish, across eight scam categories. FraudLens accepts pasted text or a bounded screenshot, extracts phones, UPI IDs, emails, URLs, amounts, OTP-like codes, urgency and threats, then presents the result for human review. The system never decides that a crime occurred and never files a complaint. Explain the four-step journey: submit evidence, inspect the model and rule signals, make the human decision, and optionally inspect repeated masked entities from consented, unexpired cases.</a:t>
            </a:r>
            <a:endParaRPr/>
          </a:p>
          <a:p xmlns:a="http://schemas.openxmlformats.org/drawingml/2006/main">
            <a:r>
              <a:t/>
            </a:r>
            <a:endParaRPr/>
          </a:p>
          <a:p xmlns:a="http://schemas.openxmlformats.org/drawingml/2006/main">
            <a:r>
              <a:t>[Sources]</a:t>
            </a:r>
            <a:endParaRPr/>
          </a:p>
          <a:p xmlns:a="http://schemas.openxmlformats.org/drawingml/2006/main">
            <a:r>
              <a:t>- Repository commit c3e8de091e838ec651cf3f7b3eb8f81bc5ba25dc: README.md; outputs/research/dataset_audit.json; docs/final_capstone_report.md.</a:t>
            </a:r>
            <a:endParaRPr/>
          </a:p>
          <a:p xmlns:a="http://schemas.openxmlformats.org/drawingml/2006/main">
            <a:r>
              <a:t>- NCRP [2] and Google Messages [15], listed in docs/references.md.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Map each objective to an observable acceptance condition. Classification must return one of eight labels or explicit unknown with model provenance. Evidence extraction must keep raw sensitive identifiers out of graph storage and output. Explanations include confidence, coverage, abstention, risk band, rule reasons and URL checks. Screenshot analysis uses the same downstream service after local OCR. Storage is off by default and requires consent. Retained cases expire and only unexpired masked repeats enter the graph. The deployment boundary is an educational prototype: it supports a hosted evaluation path and a hardened local container path, but excludes automatic enforcement, legal decisions, public multi-user operations and unsupported transformer or GNN claims.</a:t>
            </a:r>
            <a:endParaRPr/>
          </a:p>
          <a:p xmlns:a="http://schemas.openxmlformats.org/drawingml/2006/main">
            <a:r>
              <a:t/>
            </a:r>
            <a:endParaRPr/>
          </a:p>
          <a:p xmlns:a="http://schemas.openxmlformats.org/drawingml/2006/main">
            <a:r>
              <a:t>[Sources]</a:t>
            </a:r>
            <a:endParaRPr/>
          </a:p>
          <a:p xmlns:a="http://schemas.openxmlformats.org/drawingml/2006/main">
            <a:r>
              <a:t>- Repository commit c3e8de091e838ec651cf3f7b3eb8f81bc5ba25dc: README.md; docs/final_capstone_report.md; docs/deployment_guide.md.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why the comparison does not rank unlike tasks as one leaderboard. NCRP is the official reporting channel, while FraudLens prepares evidence before manual reporting. Google Messages operates at inbox scale, while FraudLens exposes category, evidence, confidence, reasons and uncertainty. HingRoBERTa reports 74.41 percent accuracy and 71.49 percent F1 on a different Hinglish complaint task. The neural URL detector reports about 97 percent validation accuracy on a narrow binary URL task. Financial-fraud GNN research assumes labelled temporal graphs. FraudLens instead combines lightweight classification, OCR, evidence extraction, privacy controls and a complaint workflow. Use Macro-F1 and balanced accuracy for class fairness; Brier and ECE for confidence quality; coverage and abstention for selective prediction; MCC, confusion matrices and fitted bytes for robustness and deployability.</a:t>
            </a:r>
            <a:endParaRPr/>
          </a:p>
          <a:p xmlns:a="http://schemas.openxmlformats.org/drawingml/2006/main">
            <a:r>
              <a:t/>
            </a:r>
            <a:endParaRPr/>
          </a:p>
          <a:p xmlns:a="http://schemas.openxmlformats.org/drawingml/2006/main">
            <a:r>
              <a:t>[Sources]</a:t>
            </a:r>
            <a:endParaRPr/>
          </a:p>
          <a:p xmlns:a="http://schemas.openxmlformats.org/drawingml/2006/main">
            <a:r>
              <a:t>- Repository commit c3e8de091e838ec651cf3f7b3eb8f81bc5ba25dc: docs/research_methodology.md; docs/phase2_research_report.md; docs/comparative_analysis.md.</a:t>
            </a:r>
            <a:endParaRPr/>
          </a:p>
          <a:p xmlns:a="http://schemas.openxmlformats.org/drawingml/2006/main">
            <a:r>
              <a:t>- NCRP [2], Rani et al. [7], Ghalechyan et al. [9], Cheng et al. [10], Google Messages [15], listed in docs/references.md.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input boundary accepts text up to 20,000 characters or a web screenshot up to 4 MB; the backend policy allows PNG/JPEG up to 5 MiB, 4096 by 4096 and 16 million pixels. The Next.js same-origin gateway keeps the Render origin and optional demo key server-side. FastAPI validates media type, payload size, image structure and authorization before analysis. The shared service normalizes text, runs calibrated classification with abstention, extracts entities, checks URLs, produces risk reasons and drafts the complaint. Storage remains off unless enabled or explicitly consented to. Screenshot bytes are never retained. OCR text follows the same retention policy as pasted text. The graph reads only masked repeated entities from unexpired retained cases and never changes classification or risk.</a:t>
            </a:r>
            <a:endParaRPr/>
          </a:p>
          <a:p xmlns:a="http://schemas.openxmlformats.org/drawingml/2006/main">
            <a:r>
              <a:t/>
            </a:r>
            <a:endParaRPr/>
          </a:p>
          <a:p xmlns:a="http://schemas.openxmlformats.org/drawingml/2006/main">
            <a:r>
              <a:t>[Sources]</a:t>
            </a:r>
            <a:endParaRPr/>
          </a:p>
          <a:p xmlns:a="http://schemas.openxmlformats.org/drawingml/2006/main">
            <a:r>
              <a:t>- Repository commit c3e8de091e838ec651cf3f7b3eb8f81bc5ba25dc: README.md; src/fraudlens/api.py; src/fraudlens/analysis_service.py; web/src/lib/server/fraudlens.ts.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show engineering depth. Inference loads each artifact from one immutable byte snapshot, verifies its hash and only then deserializes it, avoiding a check-then-load swap. The manifest binds the release to model training and preprocessing source hashes. OCR checks encoded type, size, dimensions, frame count, decompression risk and timeout before running local English and Hindi Tesseract. Entity extraction and URL heuristics produce visible reasons, while raw identifiers are masked before graph output. SQLite writes require consent, store UTC expiry and purge malformed or expired records. The web gateway keeps backend configuration server-side and exposes generic client errors. The release path uses a universal hash lock, a non-root read-only container, dependency audits, deterministic retraining and CI on Python 3.10, 3.11.15 and 3.12.</a:t>
            </a:r>
            <a:endParaRPr/>
          </a:p>
          <a:p xmlns:a="http://schemas.openxmlformats.org/drawingml/2006/main">
            <a:r>
              <a:t/>
            </a:r>
            <a:endParaRPr/>
          </a:p>
          <a:p xmlns:a="http://schemas.openxmlformats.org/drawingml/2006/main">
            <a:r>
              <a:t>[Sources]</a:t>
            </a:r>
            <a:endParaRPr/>
          </a:p>
          <a:p xmlns:a="http://schemas.openxmlformats.org/drawingml/2006/main">
            <a:r>
              <a:t>- Repository commit c3e8de091e838ec651cf3f7b3eb8f81bc5ba25dc: src/fraudlens; web/src; requirements.lock; Dockerfile; compose.yaml; .github/workflows/ci.yml.</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three connected workflows. First, analyze the synthetic KYC message and point out the category, confidence, masked evidence, URL reasons, risk cues and editable complaint draft. Keep storage off. Second, upload the bundled synthetic OTP screenshot. Confirm that local English and Hindi OCR extracts text, sends it through the same analysis service and never retains source image bytes. Third, open Relationships and select Build synthetic link. The demo seeds consented cases with a repeated masked entity, then shows the bounded observational graph and verification table. Refresh is explicit, reset is explicit, and the graph does not alter any prediction. The hosted route is fraudlens-bharat.vercel.app; the Run guide also documents a local Docker path.</a:t>
            </a:r>
            <a:endParaRPr/>
          </a:p>
          <a:p xmlns:a="http://schemas.openxmlformats.org/drawingml/2006/main">
            <a:r>
              <a:t/>
            </a:r>
            <a:endParaRPr/>
          </a:p>
          <a:p xmlns:a="http://schemas.openxmlformats.org/drawingml/2006/main">
            <a:r>
              <a:t>[Sources]</a:t>
            </a:r>
            <a:endParaRPr/>
          </a:p>
          <a:p xmlns:a="http://schemas.openxmlformats.org/drawingml/2006/main">
            <a:r>
              <a:t>- Repository commit c3e8de091e838ec651cf3f7b3eb8f81bc5ba25dc: docs/presentation/demo_video_runbook.md; outputs/screenshots; web/e2e.</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four separate evidence tracks. The internal eight-class synthetic research candidate reaches 75 percent accuracy and 66.67 percent Macro-F1; the deployed runtime separately reports 50 percent accuracy and 87.5 percent coverage. The public UCI SMS Spam Collection uses 5,574 messages and a duplicate-safe grouped split, leaving 858 held-out test messages. Calibrated character TF-IDF reaches 98.60 percent accuracy, 0.9682 Macro-F1, 92.73 percent spam recall and ECE 0.0071. The character-minus-word Macro-F1 interval crosses zero, so this is not a statistically decisive model-superiority claim. Controlled subsystem checks report entity F1, URL rules, masked graph linking, real Tesseract OCR and complaint-template completeness separately. Do not combine these tracks into one overall accuracy.</a:t>
            </a:r>
            <a:endParaRPr/>
          </a:p>
          <a:p xmlns:a="http://schemas.openxmlformats.org/drawingml/2006/main">
            <a:r>
              <a:t/>
            </a:r>
            <a:endParaRPr/>
          </a:p>
          <a:p xmlns:a="http://schemas.openxmlformats.org/drawingml/2006/main">
            <a:r>
              <a:t>[Sources]</a:t>
            </a:r>
            <a:endParaRPr/>
          </a:p>
          <a:p xmlns:a="http://schemas.openxmlformats.org/drawingml/2006/main">
            <a:r>
              <a:t>- outputs/evaluation/external_sms_summary.json and subsystem_summary.json.</a:t>
            </a:r>
            <a:endParaRPr/>
          </a:p>
          <a:p xmlns:a="http://schemas.openxmlformats.org/drawingml/2006/main">
            <a:r>
              <a:t>- outputs/research/classification_summary.csv; models/metrics.json.</a:t>
            </a:r>
            <a:endParaRPr/>
          </a:p>
          <a:p xmlns:a="http://schemas.openxmlformats.org/drawingml/2006/main">
            <a:r>
              <a:t>- UCI SMS Spam Collection [16], DOI 10.24432/C5CC84.</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evaluation improves the evidence base without erasing the limitations. The internal dataset still has only 64 synthetic fraud-only messages, no legitimate label and one test row per class. The external UCI benchmark is a binary spam-versus-ham task, not an external validation of the deployed eight categories. Entity, URL, graph, OCR and complaint cases are controlled synthetic fixtures; complaint checks are deterministic and are not human ratings. A stronger claim requires authorized same-label data, benign controls, temporal and source holdouts, naturally noisy screenshots, blinded annotation, inter-rater agreement, user studies and operational monitoring.</a:t>
            </a:r>
            <a:endParaRPr/>
          </a:p>
          <a:p xmlns:a="http://schemas.openxmlformats.org/drawingml/2006/main">
            <a:r>
              <a:t/>
            </a:r>
            <a:endParaRPr/>
          </a:p>
          <a:p xmlns:a="http://schemas.openxmlformats.org/drawingml/2006/main">
            <a:r>
              <a:t>[Sources]</a:t>
            </a:r>
            <a:endParaRPr/>
          </a:p>
          <a:p xmlns:a="http://schemas.openxmlformats.org/drawingml/2006/main">
            <a:r>
              <a:t>- docs/phase2_research_report.md §§14, 17.</a:t>
            </a:r>
            <a:endParaRPr/>
          </a:p>
          <a:p xmlns:a="http://schemas.openxmlformats.org/drawingml/2006/main">
            <a:r>
              <a:t>- docs/evaluation_plan.md; outputs/evaluation/*.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contribution. FraudLens Bharat now joins pasted text or screenshot intake, eight-class prediction or abstention, masked evidence, URL and risk reasons, an editable complaint draft, consented retention and repeated-entity context. The final hybrid evaluation adds duplicate-safe external binary validation, uncertainty intervals, held-out ham stress and five measured subsystem tracks. Only aggregate evidence is committed. The next work is evidence quality rather than another interface feature: authorized same-label data, natural screenshot annotation, blinded complaint evaluation, user effectiveness, latency and memory, drift monitoring and stronger deployment controls. The final verdict and complaint submission remain human decisions.</a:t>
            </a:r>
            <a:endParaRPr/>
          </a:p>
          <a:p xmlns:a="http://schemas.openxmlformats.org/drawingml/2006/main">
            <a:r>
              <a:t/>
            </a:r>
            <a:endParaRPr/>
          </a:p>
          <a:p xmlns:a="http://schemas.openxmlformats.org/drawingml/2006/main">
            <a:r>
              <a:t>[Sources]</a:t>
            </a:r>
            <a:endParaRPr/>
          </a:p>
          <a:p xmlns:a="http://schemas.openxmlformats.org/drawingml/2006/main">
            <a:r>
              <a:t>- README.md; docs/final_capstone_report.md; docs/phase2_research_report.md.</a:t>
            </a:r>
            <a:endParaRPr/>
          </a:p>
          <a:p xmlns:a="http://schemas.openxmlformats.org/drawingml/2006/main">
            <a:r>
              <a:t>- outputs/evaluation/* and outputs/presentation/*.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537b9bcb55438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028487b250483f" /><Relationship Type="http://schemas.openxmlformats.org/officeDocument/2006/relationships/slideLayout" Target="/ppt/slideLayouts/slideLayout1.xml" Id="R2c300219e61a423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300219e61a423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300490a05b429f" /><Relationship Type="http://schemas.openxmlformats.org/officeDocument/2006/relationships/image" Target="/ppt/media/image.png" Id="Raab8a15b60554f89" /><Relationship Type="http://schemas.openxmlformats.org/officeDocument/2006/relationships/image" Target="/ppt/media/image2.png" Id="Ra1ef5fdce6e04689" /><Relationship Type="http://schemas.openxmlformats.org/officeDocument/2006/relationships/hyperlink" Target="https://fraudlens-bharat.vercel.app/" TargetMode="External" Id="R4742474e8e9444e4" /><Relationship Type="http://schemas.openxmlformats.org/officeDocument/2006/relationships/hyperlink" Target="https://fraudlens-bharat.vercel.app/" TargetMode="External" Id="R801609df6b7345ec" /><Relationship Type="http://schemas.openxmlformats.org/officeDocument/2006/relationships/notesSlide" Target="/ppt/notesSlides/notesSlide1.xml" Id="R2b1f0b0fac9242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c3a8ab0a8448c4" /><Relationship Type="http://schemas.openxmlformats.org/officeDocument/2006/relationships/image" Target="/ppt/media/image3.png" Id="Rc0986a949c874e9f" /><Relationship Type="http://schemas.openxmlformats.org/officeDocument/2006/relationships/image" Target="/ppt/media/image4.png" Id="R6e08e12cb231411c" /><Relationship Type="http://schemas.openxmlformats.org/officeDocument/2006/relationships/notesSlide" Target="/ppt/notesSlides/notesSlide2.xml" Id="R3d433e5aef5f4e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234a13834f4208" /><Relationship Type="http://schemas.openxmlformats.org/officeDocument/2006/relationships/image" Target="/ppt/media/image5.png" Id="R0eee1f64930a42ca" /><Relationship Type="http://schemas.openxmlformats.org/officeDocument/2006/relationships/image" Target="/ppt/media/image6.png" Id="R167c32349d1f400e" /><Relationship Type="http://schemas.openxmlformats.org/officeDocument/2006/relationships/notesSlide" Target="/ppt/notesSlides/notesSlide3.xml" Id="R66138fa7611e4c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f49cb648864e3e" /><Relationship Type="http://schemas.openxmlformats.org/officeDocument/2006/relationships/image" Target="/ppt/media/image7.png" Id="Ra281cd2cee21481e" /><Relationship Type="http://schemas.openxmlformats.org/officeDocument/2006/relationships/image" Target="/ppt/media/image8.png" Id="R2ebdec00d9e24582" /><Relationship Type="http://schemas.openxmlformats.org/officeDocument/2006/relationships/notesSlide" Target="/ppt/notesSlides/notesSlide4.xml" Id="R4b3c258cb6f745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57bc8d24533489f" /><Relationship Type="http://schemas.openxmlformats.org/officeDocument/2006/relationships/image" Target="/ppt/media/image9.png" Id="Rf0a75bab4ae94de8" /><Relationship Type="http://schemas.openxmlformats.org/officeDocument/2006/relationships/image" Target="/ppt/media/image10.png" Id="R9081bfab7ac844dd" /><Relationship Type="http://schemas.openxmlformats.org/officeDocument/2006/relationships/notesSlide" Target="/ppt/notesSlides/notesSlide5.xml" Id="Rf4798a0ea8d64d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c239b6f7b44d63" /><Relationship Type="http://schemas.openxmlformats.org/officeDocument/2006/relationships/image" Target="/ppt/media/image11.png" Id="Rb563f3ccbd2b40ec" /><Relationship Type="http://schemas.openxmlformats.org/officeDocument/2006/relationships/image" Target="/ppt/media/image12.png" Id="R39c636b6f4a04d19" /><Relationship Type="http://schemas.openxmlformats.org/officeDocument/2006/relationships/notesSlide" Target="/ppt/notesSlides/notesSlide6.xml" Id="Rc5aa7c1c38fc42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13578def844d35" /><Relationship Type="http://schemas.openxmlformats.org/officeDocument/2006/relationships/image" Target="/ppt/media/image13.png" Id="Rf73845fe192742f8" /><Relationship Type="http://schemas.openxmlformats.org/officeDocument/2006/relationships/image" Target="/ppt/media/image14.png" Id="R53a909daf4864c90" /><Relationship Type="http://schemas.openxmlformats.org/officeDocument/2006/relationships/image" Target="/ppt/media/image15.png" Id="Rb138d84261a24eea" /><Relationship Type="http://schemas.openxmlformats.org/officeDocument/2006/relationships/image" Target="/ppt/media/image16.png" Id="R0d75f82cbe974fc1" /><Relationship Type="http://schemas.openxmlformats.org/officeDocument/2006/relationships/image" Target="/ppt/media/image17.png" Id="R30efa365a47545d8" /><Relationship Type="http://schemas.openxmlformats.org/officeDocument/2006/relationships/hyperlink" Target="https://fraudlens-bharat.vercel.app/" TargetMode="External" Id="Rb673985e89f841c1" /><Relationship Type="http://schemas.openxmlformats.org/officeDocument/2006/relationships/hyperlink" Target="https://fraudlens-bharat.vercel.app/" TargetMode="External" Id="R8614ab8c96354c50" /><Relationship Type="http://schemas.openxmlformats.org/officeDocument/2006/relationships/notesSlide" Target="/ppt/notesSlides/notesSlide7.xml" Id="R0033781f54a54da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632534880c248f4" /><Relationship Type="http://schemas.openxmlformats.org/officeDocument/2006/relationships/image" Target="/ppt/media/image18.png" Id="Rd02b54fea3dc4110" /><Relationship Type="http://schemas.openxmlformats.org/officeDocument/2006/relationships/image" Target="/ppt/media/image19.png" Id="Rcf22bb93ffeb4438" /><Relationship Type="http://schemas.openxmlformats.org/officeDocument/2006/relationships/chart" Target="/ppt/slides/charts/chart1.xml" Id="Re79e4be062814bde" /><Relationship Type="http://schemas.openxmlformats.org/officeDocument/2006/relationships/notesSlide" Target="/ppt/notesSlides/notesSlide8.xml" Id="Rb1a13a2188e543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170772b753467f" /><Relationship Type="http://schemas.openxmlformats.org/officeDocument/2006/relationships/image" Target="/ppt/media/image20.png" Id="Ra069a821434a45bd" /><Relationship Type="http://schemas.openxmlformats.org/officeDocument/2006/relationships/image" Target="/ppt/media/image21.png" Id="R8ba7fa1ac73545f4" /><Relationship Type="http://schemas.openxmlformats.org/officeDocument/2006/relationships/notesSlide" Target="/ppt/notesSlides/notesSlide9.xml" Id="R8a4650db4aea41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2726e57d4d3430e" /><Relationship Type="http://schemas.openxmlformats.org/officeDocument/2006/relationships/image" Target="/ppt/media/image22.png" Id="R3d3b53e31fe14971" /><Relationship Type="http://schemas.openxmlformats.org/officeDocument/2006/relationships/image" Target="/ppt/media/image23.png" Id="R33aab7ac6c314596" /><Relationship Type="http://schemas.openxmlformats.org/officeDocument/2006/relationships/notesSlide" Target="/ppt/notesSlides/notesSlide10.xml" Id="R2445a339faa34c22" /></Relationships>
</file>

<file path=ppt/slides/charts/chart1.xml><?xml version="1.0" encoding="utf-8"?>
<c:chartSpace xmlns:c="http://schemas.openxmlformats.org/drawingml/2006/chart">
  <c:lang val="en-US"/>
  <c:roundedCorners val="1"/>
  <c:chart>
    <c:title>
      <c:tx>
        <c:rich>
          <a:bodyPr xmlns:a="http://schemas.openxmlformats.org/drawingml/2006/main"/>
          <a:lstStyle xmlns:a="http://schemas.openxmlformats.org/drawingml/2006/main"/>
          <a:p xmlns:a="http://schemas.openxmlformats.org/drawingml/2006/main">
            <a:r>
              <a:rPr sz="1300" b="0" i="0" u="none">
                <a:solidFill>
                  <a:srgbClr val="18243A"/>
                </a:solidFill>
                <a:latin typeface="Aptos Display"/>
                <a:ea typeface="Aptos Display"/>
                <a:cs typeface="Aptos Display"/>
              </a:rPr>
              <a:t>Same frozen 8-row synthetic test</a:t>
            </a:r>
          </a:p>
        </c:rich>
      </c:tx>
      <c:overlay val="0"/>
      <c:txPr>
        <a:bodyPr xmlns:a="http://schemas.openxmlformats.org/drawingml/2006/main" anchorCtr="1"/>
        <a:lstStyle xmlns:a="http://schemas.openxmlformats.org/drawingml/2006/main"/>
        <a:p xmlns:a="http://schemas.openxmlformats.org/drawingml/2006/main">
          <a:pPr>
            <a:defRPr sz="1300" b="0" i="0" u="none">
              <a:solidFill>
                <a:srgbClr val="18243A"/>
              </a:solidFill>
              <a:latin typeface="Aptos Display"/>
              <a:ea typeface="Aptos Display"/>
              <a:cs typeface="Aptos Display"/>
            </a:defRPr>
          </a:pPr>
        </a:p>
      </c:txPr>
    </c:title>
    <c:autoTitleDeleted val="0"/>
    <c:plotArea>
      <c:barChart>
        <c:barDir val="col"/>
        <c:grouping val="clustered"/>
        <c:varyColors val="0"/>
        <c:ser>
          <c:idx val="0"/>
          <c:order val="0"/>
          <c:tx>
            <c:strRef>
              <c:f>Sheet1!$B$1</c:f>
              <c:strCache>
                <c:ptCount val="1"/>
                <c:pt idx="0">
                  <c:v>Accuracy</c:v>
                </c:pt>
              </c:strCache>
            </c:strRef>
          </c:tx>
          <c:spPr>
            <a:solidFill xmlns:a="http://schemas.openxmlformats.org/drawingml/2006/main">
              <a:srgbClr val="542073"/>
            </a:solidFill>
          </c:spPr>
          <c:dLbls>
            <c:numFmt formatCode="0.00" sourceLinked="0"/>
            <c:txPr>
              <a:bodyPr xmlns:a="http://schemas.openxmlformats.org/drawingml/2006/main" anchorCtr="1"/>
              <a:lstStyle xmlns:a="http://schemas.openxmlformats.org/drawingml/2006/main"/>
              <a:p xmlns:a="http://schemas.openxmlformats.org/drawingml/2006/main">
                <a:pPr>
                  <a:defRPr sz="750" b="1" i="0" u="none">
                    <a:solidFill>
                      <a:srgbClr val="18243A"/>
                    </a:solidFill>
                    <a:latin typeface="Arial"/>
                    <a:ea typeface="Arial"/>
                    <a:cs typeface="Arial"/>
                  </a:defRPr>
                </a:pPr>
              </a:p>
            </c:txPr>
            <c:dLblPos val="outEnd"/>
            <c:showLegendKey val="0"/>
            <c:showVal val="1"/>
            <c:showCatName val="0"/>
            <c:showSerName val="0"/>
            <c:showPercent val="0"/>
            <c:showBubbleSize val="0"/>
            <c:showLeaderLines val="0"/>
          </c:dLbls>
          <c:cat>
            <c:strRef>
              <c:f>Sheet1!$A$2:$A$6</c:f>
              <c:strCache>
                <c:ptCount val="5"/>
                <c:pt idx="0">
                  <c:v>Rules</c:v>
                </c:pt>
                <c:pt idx="1">
                  <c:v>Word</c:v>
                </c:pt>
                <c:pt idx="2">
                  <c:v>Character</c:v>
                </c:pt>
                <c:pt idx="3">
                  <c:v>Word + char</c:v>
                </c:pt>
                <c:pt idx="4">
                  <c:v>Calibrated</c:v>
                </c:pt>
              </c:strCache>
            </c:strRef>
          </c:cat>
          <c:val>
            <c:numRef>
              <c:f>Sheet1!$B$2:$B$6</c:f>
              <c:numCache>
                <c:formatCode>General</c:formatCode>
                <c:ptCount val="5"/>
                <c:pt idx="0">
                  <c:v>0.25</c:v>
                </c:pt>
                <c:pt idx="1">
                  <c:v>0.375</c:v>
                </c:pt>
                <c:pt idx="2">
                  <c:v>0.75</c:v>
                </c:pt>
                <c:pt idx="3">
                  <c:v>0.75</c:v>
                </c:pt>
                <c:pt idx="4">
                  <c:v>0.5</c:v>
                </c:pt>
              </c:numCache>
            </c:numRef>
          </c:val>
        </c:ser>
        <c:ser>
          <c:idx val="1"/>
          <c:order val="1"/>
          <c:tx>
            <c:strRef>
              <c:f>Sheet1!$C$1</c:f>
              <c:strCache>
                <c:ptCount val="1"/>
                <c:pt idx="0">
                  <c:v>Macro-F1</c:v>
                </c:pt>
              </c:strCache>
            </c:strRef>
          </c:tx>
          <c:spPr>
            <a:solidFill xmlns:a="http://schemas.openxmlformats.org/drawingml/2006/main">
              <a:srgbClr val="009CAB"/>
            </a:solidFill>
          </c:spPr>
          <c:dLbls>
            <c:numFmt formatCode="0.00" sourceLinked="0"/>
            <c:txPr>
              <a:bodyPr xmlns:a="http://schemas.openxmlformats.org/drawingml/2006/main" anchorCtr="1"/>
              <a:lstStyle xmlns:a="http://schemas.openxmlformats.org/drawingml/2006/main"/>
              <a:p xmlns:a="http://schemas.openxmlformats.org/drawingml/2006/main">
                <a:pPr>
                  <a:defRPr sz="750" b="1" i="0" u="none">
                    <a:solidFill>
                      <a:srgbClr val="FFFFFF"/>
                    </a:solidFill>
                    <a:latin typeface="Arial"/>
                    <a:ea typeface="Arial"/>
                    <a:cs typeface="Arial"/>
                  </a:defRPr>
                </a:pPr>
              </a:p>
            </c:txPr>
            <c:dLblPos val="inEnd"/>
            <c:showLegendKey val="0"/>
            <c:showVal val="1"/>
            <c:showCatName val="0"/>
            <c:showSerName val="0"/>
            <c:showPercent val="0"/>
            <c:showBubbleSize val="0"/>
            <c:showLeaderLines val="0"/>
          </c:dLbls>
          <c:cat>
            <c:strRef>
              <c:f>Sheet1!$A$2:$A$6</c:f>
              <c:strCache>
                <c:ptCount val="5"/>
                <c:pt idx="0">
                  <c:v>Rules</c:v>
                </c:pt>
                <c:pt idx="1">
                  <c:v>Word</c:v>
                </c:pt>
                <c:pt idx="2">
                  <c:v>Character</c:v>
                </c:pt>
                <c:pt idx="3">
                  <c:v>Word + char</c:v>
                </c:pt>
                <c:pt idx="4">
                  <c:v>Calibrated</c:v>
                </c:pt>
              </c:strCache>
            </c:strRef>
          </c:cat>
          <c:val>
            <c:numRef>
              <c:f>Sheet1!$C$2:$C$6</c:f>
              <c:numCache>
                <c:formatCode>General</c:formatCode>
                <c:ptCount val="5"/>
                <c:pt idx="0">
                  <c:v>0.25</c:v>
                </c:pt>
                <c:pt idx="1">
                  <c:v>0.3333</c:v>
                </c:pt>
                <c:pt idx="2">
                  <c:v>0.6667</c:v>
                </c:pt>
                <c:pt idx="3">
                  <c:v>0.6667</c:v>
                </c:pt>
                <c:pt idx="4">
                  <c:v>0.5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750" b="1" i="0" u="none">
                  <a:solidFill>
                    <a:srgbClr val="FFFFFF"/>
                  </a:solidFill>
                  <a:latin typeface="Arial"/>
                  <a:ea typeface="Arial"/>
                  <a:cs typeface="Arial"/>
                </a:defRPr>
              </a:pPr>
            </a:p>
          </c:txPr>
          <c:dLblPos val="inEnd"/>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000000"/>
                </a:solidFill>
                <a:latin typeface="Aptos"/>
                <a:ea typeface="Aptos"/>
                <a:cs typeface="Aptos"/>
              </a:defRPr>
            </a:pPr>
          </a:p>
        </c:txPr>
        <c:crossAx val="2094734552"/>
        <c:crosses val="autoZero"/>
      </c:catAx>
      <c:valAx>
        <c:axId val="2094734552"/>
        <c:scaling>
          <c:orientation val="minMax"/>
          <c:max val="0.8"/>
          <c:min val="0"/>
        </c:scaling>
        <c:delete val="0"/>
        <c:axPos val="l"/>
        <c:majorGridlines>
          <c:spPr>
            <a:ln xmlns:a="http://schemas.openxmlformats.org/drawingml/2006/main" w="6350">
              <a:solidFill>
                <a:srgbClr val="DCE2EA"/>
              </a:solidFill>
              <a:prstDash val="solid"/>
            </a:ln>
          </c:spPr>
        </c:majorGridlines>
        <c:numFmt formatCode="General" sourceLinked="0"/>
        <c:majorTickMark val="out"/>
        <c:minorTickMark val="none"/>
        <c:tickLblPos val="nextTo"/>
        <c:spPr>
          <a:ln xmlns:a="http://schemas.openxmlformats.org/drawingml/2006/main" w="12700">
            <a:solidFill>
              <a:srgbClr val="888888"/>
            </a:solid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000000"/>
                </a:solidFill>
                <a:latin typeface="Aptos"/>
                <a:ea typeface="Aptos"/>
                <a:cs typeface="Aptos"/>
              </a:defRPr>
            </a:pPr>
          </a:p>
        </c:txPr>
        <c:crossAx val="2094734554"/>
        <c:crosses val="autoZero"/>
        <c:crossBetween val="between"/>
        <c:majorUnit val="0.2"/>
      </c:valAx>
      <c:spPr>
        <a:solidFill xmlns:a="http://schemas.openxmlformats.org/drawingml/2006/main">
          <a:srgbClr val="FFFFFF"/>
        </a:solidFill>
        <a:ln xmlns:a="http://schemas.openxmlformats.org/drawingml/2006/main" w="12700">
          <a:solidFill>
            <a:srgbClr val="FFFFFF"/>
          </a:solidFill>
        </a:ln>
      </c:spPr>
    </c:plotArea>
    <c:legend>
      <c:legendPos val="b"/>
      <c:overlay val="0"/>
      <c:txPr>
        <a:bodyPr xmlns:a="http://schemas.openxmlformats.org/drawingml/2006/main" anchorCtr="1"/>
        <a:lstStyle xmlns:a="http://schemas.openxmlformats.org/drawingml/2006/main"/>
        <a:p xmlns:a="http://schemas.openxmlformats.org/drawingml/2006/main">
          <a:pPr>
            <a:defRPr sz="950">
              <a:latin typeface="Aptos"/>
              <a:ea typeface="Aptos"/>
              <a:cs typeface="Aptos"/>
            </a:defRPr>
          </a:pPr>
        </a:p>
      </c:txPr>
    </c:legend>
    <c:plotVisOnly val="1"/>
  </c:chart>
  <c:spPr>
    <a:solidFill xmlns:a="http://schemas.openxmlformats.org/drawingml/2006/main">
      <a:srgbClr val="FFFFFF"/>
    </a:solidFill>
    <a:ln xmlns:a="http://schemas.openxmlformats.org/drawingml/2006/main" w="6350">
      <a:solidFill>
        <a:srgbClr val="D7DEE8"/>
      </a:solidFill>
    </a:ln>
  </c:spPr>
</c:chartSpace>
</file>

<file path=ppt/slides/slide1.xml><?xml version="1.0" encoding="utf-8"?>
<p:sld xmlns:p="http://schemas.openxmlformats.org/presentationml/2006/main">
  <p:cSld>
    <p:bg>
      <p:bgPr>
        <a:blipFill xmlns:a="http://schemas.openxmlformats.org/drawingml/2006/main">
          <a:blip xmlns:r="http://schemas.openxmlformats.org/officeDocument/2006/relationships" r:embed="Raab8a15b60554f89">
            <a:alphaModFix amt="100000"/>
          </a:blip>
          <a:stretch>
            <a:fillRect l="0" t="0" r="0" b="0"/>
          </a:stretch>
        </a:blip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1FA99A5B-0984-4F2C-A2B0-718B19A6A4A9}"/>
              </a:ext>
            </a:extLst>
          </p:cNvPr>
          <p:cNvSpPr>
            <a:spLocks xmlns:a="http://schemas.openxmlformats.org/drawingml/2006/main" noGrp="1"/>
          </p:cNvSpPr>
          <p:nvPr/>
        </p:nvSpPr>
        <p:spPr>
          <a:xfrm xmlns:a="http://schemas.openxmlformats.org/drawingml/2006/main" rot="1080000">
            <a:off x="5303520" y="-1188720"/>
            <a:ext cx="4754880" cy="4754880"/>
          </a:xfrm>
          <a:prstGeom xmlns:a="http://schemas.openxmlformats.org/drawingml/2006/main" prst="arc">
            <a:avLst/>
          </a:prstGeom>
          <a:solidFill xmlns:a="http://schemas.openxmlformats.org/drawingml/2006/main">
            <a:srgbClr val="009CAB">
              <a:alpha val="0"/>
            </a:srgbClr>
          </a:solidFill>
          <a:ln xmlns:a="http://schemas.openxmlformats.org/drawingml/2006/main" w="15240">
            <a:solidFill>
              <a:srgbClr val="009CAB">
                <a:alpha val="35000"/>
              </a:srgbClr>
            </a:solidFill>
            <a:prstDash val="solid"/>
          </a:ln>
        </p:spPr>
      </p:sp>
      <p:sp>
        <p:nvSpPr>
          <p:cNvPr id="4" name="Shape 2">
            <a:extLst xmlns:a="http://schemas.openxmlformats.org/drawingml/2006/main">
              <a:ext uri="{FF2B5EF4-FFF2-40B4-BE49-F238E27FC236}">
                <a16:creationId xmlns:a16="http://schemas.microsoft.com/office/drawing/2014/main" id="{43E652AB-1862-4457-A43D-1E3D9823A5ED}"/>
              </a:ext>
            </a:extLst>
          </p:cNvPr>
          <p:cNvSpPr>
            <a:spLocks xmlns:a="http://schemas.openxmlformats.org/drawingml/2006/main" noGrp="1"/>
          </p:cNvSpPr>
          <p:nvPr/>
        </p:nvSpPr>
        <p:spPr>
          <a:xfrm xmlns:a="http://schemas.openxmlformats.org/drawingml/2006/main" rot="2700000">
            <a:off x="6126480" y="-365760"/>
            <a:ext cx="3840480" cy="3840480"/>
          </a:xfrm>
          <a:prstGeom xmlns:a="http://schemas.openxmlformats.org/drawingml/2006/main" prst="arc">
            <a:avLst/>
          </a:prstGeom>
          <a:solidFill xmlns:a="http://schemas.openxmlformats.org/drawingml/2006/main">
            <a:srgbClr val="E8AD12">
              <a:alpha val="0"/>
            </a:srgbClr>
          </a:solidFill>
          <a:ln xmlns:a="http://schemas.openxmlformats.org/drawingml/2006/main" w="12668">
            <a:solidFill>
              <a:srgbClr val="E8AD12">
                <a:alpha val="34000"/>
              </a:srgbClr>
            </a:solidFill>
            <a:prstDash val="solid"/>
          </a:ln>
        </p:spPr>
      </p:sp>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a1ef5fdce6e04689"/>
          <a:stretch xmlns:a="http://schemas.openxmlformats.org/drawingml/2006/main">
            <a:fillRect l="0" t="0" r="0" b="0"/>
          </a:stretch>
        </p:blipFill>
        <p:spPr>
          <a:xfrm xmlns:a="http://schemas.openxmlformats.org/drawingml/2006/main">
            <a:off x="7178040" y="274320"/>
            <a:ext cx="1417320" cy="68580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C9351EB7-376A-4156-82F5-60A0C513B966}"/>
              </a:ext>
            </a:extLst>
          </p:cNvPr>
          <p:cNvSpPr>
            <a:spLocks xmlns:a="http://schemas.openxmlformats.org/drawingml/2006/main" noGrp="1"/>
          </p:cNvSpPr>
          <p:nvPr/>
        </p:nvSpPr>
        <p:spPr>
          <a:xfrm xmlns:a="http://schemas.openxmlformats.org/drawingml/2006/main">
            <a:off x="585216" y="471488"/>
            <a:ext cx="447675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5" b="1">
                <a:solidFill>
                  <a:srgbClr val="009CAB"/>
                </a:solidFill>
                <a:latin typeface="Aptos"/>
                <a:ea typeface="Aptos"/>
                <a:cs typeface="Aptos"/>
              </a:rPr>
              <a:t>FINAL CAPSTONE PROJECT</a:t>
            </a:r>
            <a:endParaRPr sz="1100"/>
          </a:p>
        </p:txBody>
      </p:sp>
      <p:sp>
        <p:nvSpPr>
          <p:cNvPr id="7" name="Text 4">
            <a:extLst xmlns:a="http://schemas.openxmlformats.org/drawingml/2006/main">
              <a:ext uri="{FF2B5EF4-FFF2-40B4-BE49-F238E27FC236}">
                <a16:creationId xmlns:a16="http://schemas.microsoft.com/office/drawing/2014/main" id="{0EDB4B64-86A1-4A93-B4C9-9014BDE7C372}"/>
              </a:ext>
            </a:extLst>
          </p:cNvPr>
          <p:cNvSpPr>
            <a:spLocks xmlns:a="http://schemas.openxmlformats.org/drawingml/2006/main" noGrp="1"/>
          </p:cNvSpPr>
          <p:nvPr/>
        </p:nvSpPr>
        <p:spPr>
          <a:xfrm xmlns:a="http://schemas.openxmlformats.org/drawingml/2006/main">
            <a:off x="566928" y="981075"/>
            <a:ext cx="62865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950" b="1">
                <a:solidFill>
                  <a:srgbClr val="18243A"/>
                </a:solidFill>
                <a:latin typeface="Aptos Display"/>
                <a:ea typeface="Aptos Display"/>
                <a:cs typeface="Aptos Display"/>
              </a:rPr>
              <a:t>FraudLens Bharat</a:t>
            </a:r>
            <a:endParaRPr sz="4200"/>
          </a:p>
        </p:txBody>
      </p:sp>
      <p:sp>
        <p:nvSpPr>
          <p:cNvPr id="8" name="Text 5">
            <a:extLst xmlns:a="http://schemas.openxmlformats.org/drawingml/2006/main">
              <a:ext uri="{FF2B5EF4-FFF2-40B4-BE49-F238E27FC236}">
                <a16:creationId xmlns:a16="http://schemas.microsoft.com/office/drawing/2014/main" id="{43A31ED5-1E18-47B5-A9C1-B57FE1007240}"/>
              </a:ext>
            </a:extLst>
          </p:cNvPr>
          <p:cNvSpPr>
            <a:spLocks xmlns:a="http://schemas.openxmlformats.org/drawingml/2006/main" noGrp="1"/>
          </p:cNvSpPr>
          <p:nvPr/>
        </p:nvSpPr>
        <p:spPr>
          <a:xfrm xmlns:a="http://schemas.openxmlformats.org/drawingml/2006/main">
            <a:off x="585216" y="1809750"/>
            <a:ext cx="7000875" cy="62865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8710"/>
          </a:bodyPr>
          <a:lstStyle xmlns:a="http://schemas.openxmlformats.org/drawingml/2006/main"/>
          <a:p xmlns:a="http://schemas.openxmlformats.org/drawingml/2006/main">
            <a:pPr marL="0" indent="0">
              <a:buNone/>
            </a:pPr>
            <a:r>
              <a:rPr sz="2325" b="1">
                <a:solidFill>
                  <a:srgbClr val="34445C"/>
                </a:solidFill>
                <a:latin typeface="Aptos Display"/>
                <a:ea typeface="Aptos Display"/>
                <a:cs typeface="Aptos Display"/>
              </a:rPr>
              <a:t>Explainable cyber-fraud triage for suspicious
messages and screenshots</a:t>
            </a:r>
            <a:endParaRPr sz="2400"/>
          </a:p>
        </p:txBody>
      </p:sp>
      <p:sp>
        <p:nvSpPr>
          <p:cNvPr id="9" name="Text 6">
            <a:extLst xmlns:a="http://schemas.openxmlformats.org/drawingml/2006/main">
              <a:ext uri="{FF2B5EF4-FFF2-40B4-BE49-F238E27FC236}">
                <a16:creationId xmlns:a16="http://schemas.microsoft.com/office/drawing/2014/main" id="{05B2CB71-74E9-4091-B053-E14F05CA1D91}"/>
              </a:ext>
            </a:extLst>
          </p:cNvPr>
          <p:cNvSpPr>
            <a:spLocks xmlns:a="http://schemas.openxmlformats.org/drawingml/2006/main" noGrp="1"/>
          </p:cNvSpPr>
          <p:nvPr/>
        </p:nvSpPr>
        <p:spPr>
          <a:xfrm xmlns:a="http://schemas.openxmlformats.org/drawingml/2006/main">
            <a:off x="585216" y="2657475"/>
            <a:ext cx="7858125" cy="3810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500" b="1">
                <a:solidFill>
                  <a:srgbClr val="009CAB"/>
                </a:solidFill>
                <a:latin typeface="Aptos"/>
                <a:ea typeface="Aptos"/>
                <a:cs typeface="Aptos"/>
              </a:rPr>
              <a:t>Suspicious input  →  masked evidence  →  explainable triage  →  human review</a:t>
            </a:r>
            <a:endParaRPr sz="1620"/>
          </a:p>
        </p:txBody>
      </p:sp>
      <p:sp>
        <p:nvSpPr>
          <p:cNvPr id="10" name="Text 7">
            <a:extLst xmlns:a="http://schemas.openxmlformats.org/drawingml/2006/main">
              <a:ext uri="{FF2B5EF4-FFF2-40B4-BE49-F238E27FC236}">
                <a16:creationId xmlns:a16="http://schemas.microsoft.com/office/drawing/2014/main" id="{04C25D14-6AF1-43F7-A5FD-61E8CE5ABFBE}"/>
              </a:ext>
            </a:extLst>
          </p:cNvPr>
          <p:cNvSpPr>
            <a:spLocks xmlns:a="http://schemas.openxmlformats.org/drawingml/2006/main" noGrp="1"/>
          </p:cNvSpPr>
          <p:nvPr/>
        </p:nvSpPr>
        <p:spPr>
          <a:xfrm xmlns:a="http://schemas.openxmlformats.org/drawingml/2006/main">
            <a:off x="585216" y="3438525"/>
            <a:ext cx="14287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75" b="1">
                <a:solidFill>
                  <a:srgbClr val="009CAB"/>
                </a:solidFill>
                <a:latin typeface="Aptos Display"/>
                <a:ea typeface="Aptos Display"/>
                <a:cs typeface="Aptos Display"/>
              </a:rPr>
              <a:t>369</a:t>
            </a:r>
            <a:endParaRPr sz="2700"/>
          </a:p>
        </p:txBody>
      </p:sp>
      <p:sp>
        <p:nvSpPr>
          <p:cNvPr id="11" name="Text 8">
            <a:extLst xmlns:a="http://schemas.openxmlformats.org/drawingml/2006/main">
              <a:ext uri="{FF2B5EF4-FFF2-40B4-BE49-F238E27FC236}">
                <a16:creationId xmlns:a16="http://schemas.microsoft.com/office/drawing/2014/main" id="{BBE1BDD6-543B-4E7F-AC22-698E5C7A77A8}"/>
              </a:ext>
            </a:extLst>
          </p:cNvPr>
          <p:cNvSpPr>
            <a:spLocks xmlns:a="http://schemas.openxmlformats.org/drawingml/2006/main" noGrp="1"/>
          </p:cNvSpPr>
          <p:nvPr/>
        </p:nvSpPr>
        <p:spPr>
          <a:xfrm xmlns:a="http://schemas.openxmlformats.org/drawingml/2006/main">
            <a:off x="585216" y="3914775"/>
            <a:ext cx="1524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2627A"/>
                </a:solidFill>
                <a:latin typeface="Aptos"/>
                <a:ea typeface="Aptos"/>
                <a:cs typeface="Aptos"/>
              </a:rPr>
              <a:t>automated tests</a:t>
            </a:r>
            <a:endParaRPr sz="1120"/>
          </a:p>
        </p:txBody>
      </p:sp>
      <p:sp>
        <p:nvSpPr>
          <p:cNvPr id="12" name="Text 9">
            <a:extLst xmlns:a="http://schemas.openxmlformats.org/drawingml/2006/main">
              <a:ext uri="{FF2B5EF4-FFF2-40B4-BE49-F238E27FC236}">
                <a16:creationId xmlns:a16="http://schemas.microsoft.com/office/drawing/2014/main" id="{4E76B238-7363-4DAC-897E-AE094A6F93B8}"/>
              </a:ext>
            </a:extLst>
          </p:cNvPr>
          <p:cNvSpPr>
            <a:spLocks xmlns:a="http://schemas.openxmlformats.org/drawingml/2006/main" noGrp="1"/>
          </p:cNvSpPr>
          <p:nvPr/>
        </p:nvSpPr>
        <p:spPr>
          <a:xfrm xmlns:a="http://schemas.openxmlformats.org/drawingml/2006/main">
            <a:off x="2585466" y="3438525"/>
            <a:ext cx="14287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75" b="1">
                <a:solidFill>
                  <a:srgbClr val="009CAB"/>
                </a:solidFill>
                <a:latin typeface="Aptos Display"/>
                <a:ea typeface="Aptos Display"/>
                <a:cs typeface="Aptos Display"/>
              </a:rPr>
              <a:t>8</a:t>
            </a:r>
            <a:endParaRPr sz="2700"/>
          </a:p>
        </p:txBody>
      </p:sp>
      <p:sp>
        <p:nvSpPr>
          <p:cNvPr id="13" name="Text 10">
            <a:extLst xmlns:a="http://schemas.openxmlformats.org/drawingml/2006/main">
              <a:ext uri="{FF2B5EF4-FFF2-40B4-BE49-F238E27FC236}">
                <a16:creationId xmlns:a16="http://schemas.microsoft.com/office/drawing/2014/main" id="{A8D56266-510B-4590-A8EA-0932C4686108}"/>
              </a:ext>
            </a:extLst>
          </p:cNvPr>
          <p:cNvSpPr>
            <a:spLocks xmlns:a="http://schemas.openxmlformats.org/drawingml/2006/main" noGrp="1"/>
          </p:cNvSpPr>
          <p:nvPr/>
        </p:nvSpPr>
        <p:spPr>
          <a:xfrm xmlns:a="http://schemas.openxmlformats.org/drawingml/2006/main">
            <a:off x="2585466" y="3914775"/>
            <a:ext cx="1524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2627A"/>
                </a:solidFill>
                <a:latin typeface="Aptos"/>
                <a:ea typeface="Aptos"/>
                <a:cs typeface="Aptos"/>
              </a:rPr>
              <a:t>fraud categories</a:t>
            </a:r>
            <a:endParaRPr sz="1120"/>
          </a:p>
        </p:txBody>
      </p:sp>
      <p:sp>
        <p:nvSpPr>
          <p:cNvPr id="14" name="Text 11">
            <a:extLst xmlns:a="http://schemas.openxmlformats.org/drawingml/2006/main">
              <a:ext uri="{FF2B5EF4-FFF2-40B4-BE49-F238E27FC236}">
                <a16:creationId xmlns:a16="http://schemas.microsoft.com/office/drawing/2014/main" id="{C0225B70-1EA7-448A-A446-548CAB86FE2B}"/>
              </a:ext>
            </a:extLst>
          </p:cNvPr>
          <p:cNvSpPr>
            <a:spLocks xmlns:a="http://schemas.openxmlformats.org/drawingml/2006/main" noGrp="1"/>
          </p:cNvSpPr>
          <p:nvPr/>
        </p:nvSpPr>
        <p:spPr>
          <a:xfrm xmlns:a="http://schemas.openxmlformats.org/drawingml/2006/main">
            <a:off x="4585716" y="3438525"/>
            <a:ext cx="14287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75" b="1">
                <a:solidFill>
                  <a:srgbClr val="009CAB"/>
                </a:solidFill>
                <a:latin typeface="Aptos Display"/>
                <a:ea typeface="Aptos Display"/>
                <a:cs typeface="Aptos Display"/>
              </a:rPr>
              <a:t>2</a:t>
            </a:r>
            <a:endParaRPr sz="2700"/>
          </a:p>
        </p:txBody>
      </p:sp>
      <p:sp>
        <p:nvSpPr>
          <p:cNvPr id="15" name="Text 12">
            <a:extLst xmlns:a="http://schemas.openxmlformats.org/drawingml/2006/main">
              <a:ext uri="{FF2B5EF4-FFF2-40B4-BE49-F238E27FC236}">
                <a16:creationId xmlns:a16="http://schemas.microsoft.com/office/drawing/2014/main" id="{5613F099-37CD-43DB-B0CE-ADD4EC64F963}"/>
              </a:ext>
            </a:extLst>
          </p:cNvPr>
          <p:cNvSpPr>
            <a:spLocks xmlns:a="http://schemas.openxmlformats.org/drawingml/2006/main" noGrp="1"/>
          </p:cNvSpPr>
          <p:nvPr/>
        </p:nvSpPr>
        <p:spPr>
          <a:xfrm xmlns:a="http://schemas.openxmlformats.org/drawingml/2006/main">
            <a:off x="4585716" y="3914775"/>
            <a:ext cx="1524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2627A"/>
                </a:solidFill>
                <a:latin typeface="Aptos"/>
                <a:ea typeface="Aptos"/>
                <a:cs typeface="Aptos"/>
              </a:rPr>
              <a:t>input modes</a:t>
            </a:r>
            <a:endParaRPr sz="1120"/>
          </a:p>
        </p:txBody>
      </p:sp>
      <p:sp>
        <p:nvSpPr>
          <p:cNvPr id="16" name="Text 13">
            <a:extLst xmlns:a="http://schemas.openxmlformats.org/drawingml/2006/main">
              <a:ext uri="{FF2B5EF4-FFF2-40B4-BE49-F238E27FC236}">
                <a16:creationId xmlns:a16="http://schemas.microsoft.com/office/drawing/2014/main" id="{8BF8DC1C-F359-4E05-89E9-571E6C0662A4}"/>
              </a:ext>
            </a:extLst>
          </p:cNvPr>
          <p:cNvSpPr>
            <a:spLocks xmlns:a="http://schemas.openxmlformats.org/drawingml/2006/main" noGrp="1"/>
          </p:cNvSpPr>
          <p:nvPr/>
        </p:nvSpPr>
        <p:spPr>
          <a:xfrm xmlns:a="http://schemas.openxmlformats.org/drawingml/2006/main">
            <a:off x="6585966" y="3438525"/>
            <a:ext cx="14287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75" b="1">
                <a:solidFill>
                  <a:srgbClr val="E8AD12"/>
                </a:solidFill>
                <a:latin typeface="Aptos Display"/>
                <a:ea typeface="Aptos Display"/>
                <a:cs typeface="Aptos Display"/>
              </a:rPr>
              <a:t>1</a:t>
            </a:r>
            <a:endParaRPr sz="2700"/>
          </a:p>
        </p:txBody>
      </p:sp>
      <p:sp>
        <p:nvSpPr>
          <p:cNvPr id="17" name="Text 14">
            <a:extLst xmlns:a="http://schemas.openxmlformats.org/drawingml/2006/main">
              <a:ext uri="{FF2B5EF4-FFF2-40B4-BE49-F238E27FC236}">
                <a16:creationId xmlns:a16="http://schemas.microsoft.com/office/drawing/2014/main" id="{301C2194-28AF-499D-9A54-516F4C63252B}"/>
              </a:ext>
            </a:extLst>
          </p:cNvPr>
          <p:cNvSpPr>
            <a:spLocks xmlns:a="http://schemas.openxmlformats.org/drawingml/2006/main" noGrp="1"/>
          </p:cNvSpPr>
          <p:nvPr/>
        </p:nvSpPr>
        <p:spPr>
          <a:xfrm xmlns:a="http://schemas.openxmlformats.org/drawingml/2006/main">
            <a:off x="6585966" y="3914775"/>
            <a:ext cx="1524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2627A"/>
                </a:solidFill>
                <a:latin typeface="Aptos"/>
                <a:ea typeface="Aptos"/>
                <a:cs typeface="Aptos"/>
              </a:rPr>
              <a:t>human decision</a:t>
            </a:r>
            <a:endParaRPr sz="1120"/>
          </a:p>
        </p:txBody>
      </p:sp>
      <p:sp>
        <p:nvSpPr>
          <p:cNvPr id="18" name="Shape 15">
            <a:extLst xmlns:a="http://schemas.openxmlformats.org/drawingml/2006/main">
              <a:ext uri="{FF2B5EF4-FFF2-40B4-BE49-F238E27FC236}">
                <a16:creationId xmlns:a16="http://schemas.microsoft.com/office/drawing/2014/main" id="{12220E68-A288-497B-A20C-A20F0DFA7782}"/>
              </a:ext>
            </a:extLst>
          </p:cNvPr>
          <p:cNvSpPr>
            <a:spLocks xmlns:a="http://schemas.openxmlformats.org/drawingml/2006/main" noGrp="1"/>
          </p:cNvSpPr>
          <p:nvPr/>
        </p:nvSpPr>
        <p:spPr>
          <a:xfrm xmlns:a="http://schemas.openxmlformats.org/drawingml/2006/main">
            <a:off x="566928" y="4657725"/>
            <a:ext cx="8010144" cy="1295400"/>
          </a:xfrm>
          <a:prstGeom xmlns:a="http://schemas.openxmlformats.org/drawingml/2006/main" prst="roundRect">
            <a:avLst>
              <a:gd name="adj" fmla="val 5926"/>
            </a:avLst>
          </a:prstGeom>
          <a:solidFill xmlns:a="http://schemas.openxmlformats.org/drawingml/2006/main">
            <a:srgbClr val="FFFFFF"/>
          </a:solidFill>
          <a:ln xmlns:a="http://schemas.openxmlformats.org/drawingml/2006/main" w="10954">
            <a:solidFill>
              <a:srgbClr val="D7DEE8"/>
            </a:solidFill>
            <a:prstDash val="solid"/>
          </a:ln>
        </p:spPr>
      </p:sp>
      <p:sp>
        <p:nvSpPr>
          <p:cNvPr id="19" name="Text 16">
            <a:extLst xmlns:a="http://schemas.openxmlformats.org/drawingml/2006/main">
              <a:ext uri="{FF2B5EF4-FFF2-40B4-BE49-F238E27FC236}">
                <a16:creationId xmlns:a16="http://schemas.microsoft.com/office/drawing/2014/main" id="{C33E277D-34C7-45A4-A2EF-F1B95AA78DBF}"/>
              </a:ext>
            </a:extLst>
          </p:cNvPr>
          <p:cNvSpPr>
            <a:spLocks xmlns:a="http://schemas.openxmlformats.org/drawingml/2006/main" noGrp="1"/>
          </p:cNvSpPr>
          <p:nvPr/>
        </p:nvSpPr>
        <p:spPr>
          <a:xfrm xmlns:a="http://schemas.openxmlformats.org/drawingml/2006/main">
            <a:off x="838200" y="4924425"/>
            <a:ext cx="5143500" cy="2667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350" b="1">
                <a:solidFill>
                  <a:srgbClr val="18243A"/>
                </a:solidFill>
                <a:latin typeface="Aptos"/>
                <a:ea typeface="Aptos"/>
                <a:cs typeface="Aptos"/>
              </a:rPr>
              <a:t>Gautam Manchandani  ·  2023EBCS209</a:t>
            </a:r>
            <a:endParaRPr sz="1420"/>
          </a:p>
        </p:txBody>
      </p:sp>
      <p:sp>
        <p:nvSpPr>
          <p:cNvPr id="20" name="Text 17">
            <a:extLst xmlns:a="http://schemas.openxmlformats.org/drawingml/2006/main">
              <a:ext uri="{FF2B5EF4-FFF2-40B4-BE49-F238E27FC236}">
                <a16:creationId xmlns:a16="http://schemas.microsoft.com/office/drawing/2014/main" id="{51DDC52C-6A6B-4F38-9513-05130311F4BA}"/>
              </a:ext>
            </a:extLst>
          </p:cNvPr>
          <p:cNvSpPr>
            <a:spLocks xmlns:a="http://schemas.openxmlformats.org/drawingml/2006/main" noGrp="1"/>
          </p:cNvSpPr>
          <p:nvPr/>
        </p:nvSpPr>
        <p:spPr>
          <a:xfrm xmlns:a="http://schemas.openxmlformats.org/drawingml/2006/main">
            <a:off x="838200" y="5276850"/>
            <a:ext cx="5334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2627A"/>
                </a:solidFill>
                <a:latin typeface="Aptos"/>
                <a:ea typeface="Aptos"/>
                <a:cs typeface="Aptos"/>
              </a:rPr>
              <a:t>BSc Computer Science  ·  Academic Year 2025–2026</a:t>
            </a:r>
            <a:endParaRPr sz="1320"/>
          </a:p>
        </p:txBody>
      </p:sp>
      <p:sp>
        <p:nvSpPr>
          <p:cNvPr id="21" name="Text 18">
            <a:hlinkClick xmlns:r="http://schemas.openxmlformats.org/officeDocument/2006/relationships" xmlns:a="http://schemas.openxmlformats.org/drawingml/2006/main" r:id="R4742474e8e9444e4"/>
            <a:extLst xmlns:a="http://schemas.openxmlformats.org/drawingml/2006/main">
              <a:ext uri="{FF2B5EF4-FFF2-40B4-BE49-F238E27FC236}">
                <a16:creationId xmlns:a16="http://schemas.microsoft.com/office/drawing/2014/main" id="{CBA15F37-6919-4EE9-ADD1-3A9A74FC28E4}"/>
              </a:ext>
            </a:extLst>
          </p:cNvPr>
          <p:cNvSpPr>
            <a:spLocks xmlns:a="http://schemas.openxmlformats.org/drawingml/2006/main" noGrp="1"/>
          </p:cNvSpPr>
          <p:nvPr/>
        </p:nvSpPr>
        <p:spPr>
          <a:xfrm xmlns:a="http://schemas.openxmlformats.org/drawingml/2006/main">
            <a:off x="5762625" y="5095875"/>
            <a:ext cx="2524125" cy="32385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75" b="1" u="sng">
                <a:solidFill>
                  <a:srgbClr val="009CAB"/>
                </a:solidFill>
                <a:latin typeface="Aptos"/>
                <a:ea typeface="Aptos"/>
                <a:cs typeface="Aptos"/>
                <a:hlinkClick xmlns:r="http://schemas.openxmlformats.org/officeDocument/2006/relationships" r:id="R801609df6b7345ec"/>
              </a:rPr>
              <a:t>OPEN LIVE PROJECT</a:t>
            </a:r>
            <a:endParaRPr sz="1320"/>
          </a:p>
        </p:txBody>
      </p:sp>
      <p:sp>
        <p:nvSpPr>
          <p:cNvPr id="22" name="Text 19">
            <a:extLst xmlns:a="http://schemas.openxmlformats.org/drawingml/2006/main">
              <a:ext uri="{FF2B5EF4-FFF2-40B4-BE49-F238E27FC236}">
                <a16:creationId xmlns:a16="http://schemas.microsoft.com/office/drawing/2014/main" id="{5FDE3035-7895-4CB4-8D4A-1321571D65C2}"/>
              </a:ext>
            </a:extLst>
          </p:cNvPr>
          <p:cNvSpPr>
            <a:spLocks xmlns:a="http://schemas.openxmlformats.org/drawingml/2006/main" noGrp="1"/>
          </p:cNvSpPr>
          <p:nvPr/>
        </p:nvSpPr>
        <p:spPr>
          <a:xfrm xmlns:a="http://schemas.openxmlformats.org/drawingml/2006/main">
            <a:off x="585216" y="6315075"/>
            <a:ext cx="7955280" cy="190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25">
                <a:solidFill>
                  <a:srgbClr val="66758B"/>
                </a:solidFill>
                <a:latin typeface="Aptos"/>
                <a:ea typeface="Aptos"/>
                <a:cs typeface="Aptos"/>
              </a:rPr>
              <a:t>Educational prototype · synthetic evidence only · Human review required</a:t>
            </a:r>
            <a:endParaRPr sz="1020"/>
          </a:p>
        </p:txBody>
      </p:sp>
      <p:sp>
        <p:nvSpPr>
          <p:cNvPr id="23" name="Text 20">
            <a:extLst xmlns:a="http://schemas.openxmlformats.org/drawingml/2006/main">
              <a:ext uri="{FF2B5EF4-FFF2-40B4-BE49-F238E27FC236}">
                <a16:creationId xmlns:a16="http://schemas.microsoft.com/office/drawing/2014/main" id="{E0507D13-42CC-480A-A7F6-31C735038CCF}"/>
              </a:ext>
            </a:extLst>
          </p:cNvPr>
          <p:cNvSpPr>
            <a:spLocks xmlns:a="http://schemas.openxmlformats.org/drawingml/2006/main" noGrp="1"/>
          </p:cNvSpPr>
          <p:nvPr/>
        </p:nvSpPr>
        <p:spPr>
          <a:xfrm xmlns:a="http://schemas.openxmlformats.org/drawingml/2006/main">
            <a:off x="8458200" y="6336792"/>
            <a:ext cx="2286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1</a:t>
            </a:r>
            <a:endParaRPr sz="900"/>
          </a:p>
        </p:txBody>
      </p:sp>
      <p:sp>
        <p:nvSpPr>
          <p:cNvPr id="25" name="Metric divider 241.5">
            <a:extLst xmlns:a="http://schemas.openxmlformats.org/drawingml/2006/main">
              <a:ext uri="{FF2B5EF4-FFF2-40B4-BE49-F238E27FC236}">
                <a16:creationId xmlns:a16="http://schemas.microsoft.com/office/drawing/2014/main" id="{9F14658D-1DAA-44DD-BD16-87E0CAFAA877}"/>
              </a:ext>
            </a:extLst>
          </p:cNvPr>
          <p:cNvSpPr>
            <a:spLocks xmlns:a="http://schemas.openxmlformats.org/drawingml/2006/main" noGrp="1"/>
          </p:cNvSpPr>
          <p:nvPr/>
        </p:nvSpPr>
        <p:spPr>
          <a:xfrm xmlns:a="http://schemas.openxmlformats.org/drawingml/2006/main">
            <a:off x="2300288" y="3457575"/>
            <a:ext cx="11430" cy="666750"/>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26" name="Metric divider 451.5">
            <a:extLst xmlns:a="http://schemas.openxmlformats.org/drawingml/2006/main">
              <a:ext uri="{FF2B5EF4-FFF2-40B4-BE49-F238E27FC236}">
                <a16:creationId xmlns:a16="http://schemas.microsoft.com/office/drawing/2014/main" id="{DC411174-5A45-41EE-97E3-EF37B97525AE}"/>
              </a:ext>
            </a:extLst>
          </p:cNvPr>
          <p:cNvSpPr>
            <a:spLocks xmlns:a="http://schemas.openxmlformats.org/drawingml/2006/main" noGrp="1"/>
          </p:cNvSpPr>
          <p:nvPr/>
        </p:nvSpPr>
        <p:spPr>
          <a:xfrm xmlns:a="http://schemas.openxmlformats.org/drawingml/2006/main">
            <a:off x="4300538" y="3457575"/>
            <a:ext cx="11430" cy="666750"/>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27" name="Metric divider 661.5">
            <a:extLst xmlns:a="http://schemas.openxmlformats.org/drawingml/2006/main">
              <a:ext uri="{FF2B5EF4-FFF2-40B4-BE49-F238E27FC236}">
                <a16:creationId xmlns:a16="http://schemas.microsoft.com/office/drawing/2014/main" id="{94404E02-1234-4AC1-9EBE-5C661D81589B}"/>
              </a:ext>
            </a:extLst>
          </p:cNvPr>
          <p:cNvSpPr>
            <a:spLocks xmlns:a="http://schemas.openxmlformats.org/drawingml/2006/main" noGrp="1"/>
          </p:cNvSpPr>
          <p:nvPr/>
        </p:nvSpPr>
        <p:spPr>
          <a:xfrm xmlns:a="http://schemas.openxmlformats.org/drawingml/2006/main">
            <a:off x="6300788" y="3457575"/>
            <a:ext cx="11430" cy="666750"/>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28" name="Identity accent">
            <a:extLst xmlns:a="http://schemas.openxmlformats.org/drawingml/2006/main">
              <a:ext uri="{FF2B5EF4-FFF2-40B4-BE49-F238E27FC236}">
                <a16:creationId xmlns:a16="http://schemas.microsoft.com/office/drawing/2014/main" id="{6E333759-4A2C-4EBE-9BEB-377DC2D36016}"/>
              </a:ext>
            </a:extLst>
          </p:cNvPr>
          <p:cNvSpPr>
            <a:spLocks xmlns:a="http://schemas.openxmlformats.org/drawingml/2006/main" noGrp="1"/>
          </p:cNvSpPr>
          <p:nvPr/>
        </p:nvSpPr>
        <p:spPr>
          <a:xfrm xmlns:a="http://schemas.openxmlformats.org/drawingml/2006/main">
            <a:off x="566928" y="4657725"/>
            <a:ext cx="66675" cy="1295400"/>
          </a:xfrm>
          <a:prstGeom xmlns:a="http://schemas.openxmlformats.org/drawingml/2006/main" prst="rect">
            <a:avLst/>
          </a:prstGeom>
          <a:solidFill xmlns:a="http://schemas.openxmlformats.org/drawingml/2006/main">
            <a:srgbClr val="009CAB"/>
          </a:solidFill>
          <a:ln xmlns:a="http://schemas.openxmlformats.org/drawingml/2006/main" w="0">
            <a:solidFill>
              <a:srgbClr val="009CAB"/>
            </a:solidFill>
            <a:prstDash val="solid"/>
          </a:ln>
        </p:spPr>
      </p:sp>
      <p:sp>
        <p:nvSpPr>
          <p:cNvPr id="29" name="Supervisor">
            <a:extLst xmlns:a="http://schemas.openxmlformats.org/drawingml/2006/main">
              <a:ext uri="{FF2B5EF4-FFF2-40B4-BE49-F238E27FC236}">
                <a16:creationId xmlns:a16="http://schemas.microsoft.com/office/drawing/2014/main" id="{F1FF45D2-8A48-4D59-B479-081A0C0340A4}"/>
              </a:ext>
            </a:extLst>
          </p:cNvPr>
          <p:cNvSpPr>
            <a:spLocks xmlns:a="http://schemas.openxmlformats.org/drawingml/2006/main" noGrp="1"/>
          </p:cNvSpPr>
          <p:nvPr/>
        </p:nvSpPr>
        <p:spPr>
          <a:xfrm xmlns:a="http://schemas.openxmlformats.org/drawingml/2006/main">
            <a:off x="838200" y="5553075"/>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p xmlns:a="http://schemas.openxmlformats.org/drawingml/2006/main">
            <a:pPr>
              <a:buNone/>
              <a:defRPr sz="1050">
                <a:solidFill>
                  <a:srgbClr val="66758B"/>
                </a:solidFill>
                <a:latin typeface="Aptos"/>
                <a:ea typeface="Aptos"/>
                <a:cs typeface="Aptos"/>
              </a:defRPr>
            </a:pPr>
            <a:r>
              <a:rPr sz="1050">
                <a:solidFill>
                  <a:srgbClr val="66758B"/>
                </a:solidFill>
                <a:latin typeface="Aptos"/>
                <a:ea typeface="Aptos"/>
                <a:cs typeface="Aptos"/>
              </a:rPr>
              <a:t>Supervisor: Dr. Ashok Yemineni</a:t>
            </a:r>
          </a:p>
        </p:txBody>
      </p:sp>
      <p:sp>
        <p:nvSpPr>
          <p:cNvPr id="30" name="Live URL">
            <a:extLst xmlns:a="http://schemas.openxmlformats.org/drawingml/2006/main">
              <a:ext uri="{FF2B5EF4-FFF2-40B4-BE49-F238E27FC236}">
                <a16:creationId xmlns:a16="http://schemas.microsoft.com/office/drawing/2014/main" id="{EE01E4F9-149C-472C-88D4-6DD6B1F9A1D8}"/>
              </a:ext>
            </a:extLst>
          </p:cNvPr>
          <p:cNvSpPr>
            <a:spLocks xmlns:a="http://schemas.openxmlformats.org/drawingml/2006/main" noGrp="1"/>
          </p:cNvSpPr>
          <p:nvPr/>
        </p:nvSpPr>
        <p:spPr>
          <a:xfrm xmlns:a="http://schemas.openxmlformats.org/drawingml/2006/main">
            <a:off x="5762625" y="5448300"/>
            <a:ext cx="2524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p xmlns:a="http://schemas.openxmlformats.org/drawingml/2006/main">
            <a:pPr algn="r">
              <a:buNone/>
              <a:defRPr sz="900">
                <a:solidFill>
                  <a:srgbClr val="66758B"/>
                </a:solidFill>
                <a:latin typeface="Aptos"/>
                <a:ea typeface="Aptos"/>
                <a:cs typeface="Aptos"/>
              </a:defRPr>
            </a:pPr>
            <a:r>
              <a:rPr sz="900">
                <a:solidFill>
                  <a:srgbClr val="66758B"/>
                </a:solidFill>
                <a:latin typeface="Aptos"/>
                <a:ea typeface="Aptos"/>
                <a:cs typeface="Aptos"/>
              </a:rPr>
              <a:t>fraudlens-bharat.vercel.app</a:t>
            </a:r>
          </a:p>
        </p:txBody>
      </p:sp>
    </p:spTree>
    <p:extLst>
      <p:ext uri="{BB962C8B-B14F-4D97-AF65-F5344CB8AC3E}">
        <p14:creationId xmlns:p14="http://schemas.microsoft.com/office/powerpoint/2010/main" val="2048953872"/>
      </p:ext>
    </p:extLst>
  </p:cSld>
</p:sld>
</file>

<file path=ppt/slides/slide2.xml><?xml version="1.0" encoding="utf-8"?>
<p:sld xmlns:p="http://schemas.openxmlformats.org/presentationml/2006/main">
  <p:cSld>
    <p:bg>
      <p:bgPr>
        <a:blipFill xmlns:a="http://schemas.openxmlformats.org/drawingml/2006/main">
          <a:blip xmlns:r="http://schemas.openxmlformats.org/officeDocument/2006/relationships" r:embed="Rc0986a949c874e9f">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9FA414-F73A-40B1-B12F-F21594187E7A}"/>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Problem, Motivation &amp; Research Question</a:t>
            </a:r>
            <a:endParaRPr sz="2700"/>
          </a:p>
        </p:txBody>
      </p:sp>
      <p:sp>
        <p:nvSpPr>
          <p:cNvPr id="3" name="Text 1">
            <a:extLst xmlns:a="http://schemas.openxmlformats.org/drawingml/2006/main">
              <a:ext uri="{FF2B5EF4-FFF2-40B4-BE49-F238E27FC236}">
                <a16:creationId xmlns:a16="http://schemas.microsoft.com/office/drawing/2014/main" id="{A9BE2E08-4C3F-498C-B68B-15016076F980}"/>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50">
                <a:solidFill>
                  <a:srgbClr val="52627A"/>
                </a:solidFill>
                <a:latin typeface="Aptos"/>
                <a:ea typeface="Aptos"/>
                <a:cs typeface="Aptos"/>
              </a:rPr>
              <a:t>The project addresses the gap between a suspicious message and evidence a human can review or report.</a:t>
            </a:r>
            <a:endParaRPr sz="135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6e08e12cb231411c"/>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535DF41-0A06-4907-9265-D769ECBAD885}"/>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final_capstone_report.md §§1–2; NCRP [2]; Google Messages [15]</a:t>
            </a:r>
            <a:endParaRPr sz="830"/>
          </a:p>
        </p:txBody>
      </p:sp>
      <p:sp>
        <p:nvSpPr>
          <p:cNvPr id="6" name="Text 3">
            <a:extLst xmlns:a="http://schemas.openxmlformats.org/drawingml/2006/main">
              <a:ext uri="{FF2B5EF4-FFF2-40B4-BE49-F238E27FC236}">
                <a16:creationId xmlns:a16="http://schemas.microsoft.com/office/drawing/2014/main" id="{4E55AD93-F7A7-400C-B00A-F79E6D5BCE77}"/>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2</a:t>
            </a:r>
            <a:endParaRPr sz="900"/>
          </a:p>
        </p:txBody>
      </p:sp>
      <p:sp>
        <p:nvSpPr>
          <p:cNvPr id="7" name="Text 4">
            <a:extLst xmlns:a="http://schemas.openxmlformats.org/drawingml/2006/main">
              <a:ext uri="{FF2B5EF4-FFF2-40B4-BE49-F238E27FC236}">
                <a16:creationId xmlns:a16="http://schemas.microsoft.com/office/drawing/2014/main" id="{282D7650-2A37-4CA0-BA82-B7099365CE81}"/>
              </a:ext>
            </a:extLst>
          </p:cNvPr>
          <p:cNvSpPr>
            <a:spLocks xmlns:a="http://schemas.openxmlformats.org/drawingml/2006/main" noGrp="1"/>
          </p:cNvSpPr>
          <p:nvPr/>
        </p:nvSpPr>
        <p:spPr>
          <a:xfrm xmlns:a="http://schemas.openxmlformats.org/drawingml/2006/main">
            <a:off x="475488" y="1170432"/>
            <a:ext cx="411480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B32232"/>
                </a:solidFill>
                <a:latin typeface="Aptos"/>
                <a:ea typeface="Aptos"/>
                <a:cs typeface="Aptos"/>
              </a:rPr>
              <a:t>WHY EXISTING HANDLING BREAKS DOWN</a:t>
            </a:r>
            <a:endParaRPr sz="1050"/>
          </a:p>
        </p:txBody>
      </p:sp>
      <p:sp>
        <p:nvSpPr>
          <p:cNvPr id="8" name="Shape 5">
            <a:extLst xmlns:a="http://schemas.openxmlformats.org/drawingml/2006/main">
              <a:ext uri="{FF2B5EF4-FFF2-40B4-BE49-F238E27FC236}">
                <a16:creationId xmlns:a16="http://schemas.microsoft.com/office/drawing/2014/main" id="{9CC5ED8B-2BE6-4667-A392-9CB1A6D3DBD7}"/>
              </a:ext>
            </a:extLst>
          </p:cNvPr>
          <p:cNvSpPr>
            <a:spLocks xmlns:a="http://schemas.openxmlformats.org/drawingml/2006/main" noGrp="1"/>
          </p:cNvSpPr>
          <p:nvPr/>
        </p:nvSpPr>
        <p:spPr>
          <a:xfrm xmlns:a="http://schemas.openxmlformats.org/drawingml/2006/main">
            <a:off x="475488" y="1444752"/>
            <a:ext cx="4069080" cy="877824"/>
          </a:xfrm>
          <a:prstGeom xmlns:a="http://schemas.openxmlformats.org/drawingml/2006/main" prst="roundRect">
            <a:avLst>
              <a:gd name="adj" fmla="val 8333"/>
            </a:avLst>
          </a:prstGeom>
          <a:solidFill xmlns:a="http://schemas.openxmlformats.org/drawingml/2006/main">
            <a:srgbClr val="FCEDEF"/>
          </a:solidFill>
          <a:ln xmlns:a="http://schemas.openxmlformats.org/drawingml/2006/main" w="10160">
            <a:solidFill>
              <a:srgbClr val="D7DEE8"/>
            </a:solidFill>
            <a:prstDash val="solid"/>
          </a:ln>
        </p:spPr>
      </p:sp>
      <p:sp>
        <p:nvSpPr>
          <p:cNvPr id="9" name="Shape 6">
            <a:extLst xmlns:a="http://schemas.openxmlformats.org/drawingml/2006/main">
              <a:ext uri="{FF2B5EF4-FFF2-40B4-BE49-F238E27FC236}">
                <a16:creationId xmlns:a16="http://schemas.microsoft.com/office/drawing/2014/main" id="{95AB0885-63AC-4165-8F95-687AE66C6581}"/>
              </a:ext>
            </a:extLst>
          </p:cNvPr>
          <p:cNvSpPr>
            <a:spLocks xmlns:a="http://schemas.openxmlformats.org/drawingml/2006/main" noGrp="1"/>
          </p:cNvSpPr>
          <p:nvPr/>
        </p:nvSpPr>
        <p:spPr>
          <a:xfrm xmlns:a="http://schemas.openxmlformats.org/drawingml/2006/main">
            <a:off x="475488" y="1444752"/>
            <a:ext cx="64008" cy="877824"/>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10" name="Text 7">
            <a:extLst xmlns:a="http://schemas.openxmlformats.org/drawingml/2006/main">
              <a:ext uri="{FF2B5EF4-FFF2-40B4-BE49-F238E27FC236}">
                <a16:creationId xmlns:a16="http://schemas.microsoft.com/office/drawing/2014/main" id="{CD2B8542-DD35-49F3-BC4D-279A961E581B}"/>
              </a:ext>
            </a:extLst>
          </p:cNvPr>
          <p:cNvSpPr>
            <a:spLocks xmlns:a="http://schemas.openxmlformats.org/drawingml/2006/main" noGrp="1"/>
          </p:cNvSpPr>
          <p:nvPr/>
        </p:nvSpPr>
        <p:spPr>
          <a:xfrm xmlns:a="http://schemas.openxmlformats.org/drawingml/2006/main">
            <a:off x="658368" y="1563624"/>
            <a:ext cx="3639312"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20" b="1">
                <a:solidFill>
                  <a:srgbClr val="B32232"/>
                </a:solidFill>
                <a:latin typeface="Aptos Display"/>
                <a:ea typeface="Aptos Display"/>
                <a:cs typeface="Aptos Display"/>
              </a:rPr>
              <a:t>Mixed-language evidence</a:t>
            </a:r>
            <a:endParaRPr sz="1320"/>
          </a:p>
        </p:txBody>
      </p:sp>
      <p:sp>
        <p:nvSpPr>
          <p:cNvPr id="11" name="Text 8">
            <a:extLst xmlns:a="http://schemas.openxmlformats.org/drawingml/2006/main">
              <a:ext uri="{FF2B5EF4-FFF2-40B4-BE49-F238E27FC236}">
                <a16:creationId xmlns:a16="http://schemas.microsoft.com/office/drawing/2014/main" id="{7CFC8794-59C5-4FE2-8EAD-718AF100F75F}"/>
              </a:ext>
            </a:extLst>
          </p:cNvPr>
          <p:cNvSpPr>
            <a:spLocks xmlns:a="http://schemas.openxmlformats.org/drawingml/2006/main" noGrp="1"/>
          </p:cNvSpPr>
          <p:nvPr/>
        </p:nvSpPr>
        <p:spPr>
          <a:xfrm xmlns:a="http://schemas.openxmlformats.org/drawingml/2006/main">
            <a:off x="658368" y="1837944"/>
            <a:ext cx="363931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80">
                <a:solidFill>
                  <a:srgbClr val="1C2940"/>
                </a:solidFill>
                <a:latin typeface="Aptos"/>
                <a:ea typeface="Aptos"/>
                <a:cs typeface="Aptos"/>
              </a:rPr>
              <a:t>English + Romanized Hinglish, 36/28 rows; misspellings, urgency and impersonation complicate review.</a:t>
            </a:r>
            <a:endParaRPr sz="1080"/>
          </a:p>
        </p:txBody>
      </p:sp>
      <p:sp>
        <p:nvSpPr>
          <p:cNvPr id="12" name="Shape 9">
            <a:extLst xmlns:a="http://schemas.openxmlformats.org/drawingml/2006/main">
              <a:ext uri="{FF2B5EF4-FFF2-40B4-BE49-F238E27FC236}">
                <a16:creationId xmlns:a16="http://schemas.microsoft.com/office/drawing/2014/main" id="{9565A0D0-7C7B-4833-9CC8-A3246B80D01F}"/>
              </a:ext>
            </a:extLst>
          </p:cNvPr>
          <p:cNvSpPr>
            <a:spLocks xmlns:a="http://schemas.openxmlformats.org/drawingml/2006/main" noGrp="1"/>
          </p:cNvSpPr>
          <p:nvPr/>
        </p:nvSpPr>
        <p:spPr>
          <a:xfrm xmlns:a="http://schemas.openxmlformats.org/drawingml/2006/main">
            <a:off x="475488" y="2523744"/>
            <a:ext cx="4069080" cy="877824"/>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160">
            <a:solidFill>
              <a:srgbClr val="D7DEE8"/>
            </a:solidFill>
            <a:prstDash val="solid"/>
          </a:ln>
        </p:spPr>
      </p:sp>
      <p:sp>
        <p:nvSpPr>
          <p:cNvPr id="13" name="Shape 10">
            <a:extLst xmlns:a="http://schemas.openxmlformats.org/drawingml/2006/main">
              <a:ext uri="{FF2B5EF4-FFF2-40B4-BE49-F238E27FC236}">
                <a16:creationId xmlns:a16="http://schemas.microsoft.com/office/drawing/2014/main" id="{59DD9056-898B-485B-9054-A93B519E8C65}"/>
              </a:ext>
            </a:extLst>
          </p:cNvPr>
          <p:cNvSpPr>
            <a:spLocks xmlns:a="http://schemas.openxmlformats.org/drawingml/2006/main" noGrp="1"/>
          </p:cNvSpPr>
          <p:nvPr/>
        </p:nvSpPr>
        <p:spPr>
          <a:xfrm xmlns:a="http://schemas.openxmlformats.org/drawingml/2006/main">
            <a:off x="475488" y="2523744"/>
            <a:ext cx="64008" cy="877824"/>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14" name="Text 11">
            <a:extLst xmlns:a="http://schemas.openxmlformats.org/drawingml/2006/main">
              <a:ext uri="{FF2B5EF4-FFF2-40B4-BE49-F238E27FC236}">
                <a16:creationId xmlns:a16="http://schemas.microsoft.com/office/drawing/2014/main" id="{B9D771D9-E77E-4AB1-9EBF-423EB54EE763}"/>
              </a:ext>
            </a:extLst>
          </p:cNvPr>
          <p:cNvSpPr>
            <a:spLocks xmlns:a="http://schemas.openxmlformats.org/drawingml/2006/main" noGrp="1"/>
          </p:cNvSpPr>
          <p:nvPr/>
        </p:nvSpPr>
        <p:spPr>
          <a:xfrm xmlns:a="http://schemas.openxmlformats.org/drawingml/2006/main">
            <a:off x="658368" y="2642616"/>
            <a:ext cx="3639312"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20" b="1">
                <a:solidFill>
                  <a:srgbClr val="B32232"/>
                </a:solidFill>
                <a:latin typeface="Aptos Display"/>
                <a:ea typeface="Aptos Display"/>
                <a:cs typeface="Aptos Display"/>
              </a:rPr>
              <a:t>Fragmented signals</a:t>
            </a:r>
            <a:endParaRPr sz="1320"/>
          </a:p>
        </p:txBody>
      </p:sp>
      <p:sp>
        <p:nvSpPr>
          <p:cNvPr id="15" name="Text 12">
            <a:extLst xmlns:a="http://schemas.openxmlformats.org/drawingml/2006/main">
              <a:ext uri="{FF2B5EF4-FFF2-40B4-BE49-F238E27FC236}">
                <a16:creationId xmlns:a16="http://schemas.microsoft.com/office/drawing/2014/main" id="{904DBF20-7BD9-462D-B8CE-E45BB9A1E5FA}"/>
              </a:ext>
            </a:extLst>
          </p:cNvPr>
          <p:cNvSpPr>
            <a:spLocks xmlns:a="http://schemas.openxmlformats.org/drawingml/2006/main" noGrp="1"/>
          </p:cNvSpPr>
          <p:nvPr/>
        </p:nvSpPr>
        <p:spPr>
          <a:xfrm xmlns:a="http://schemas.openxmlformats.org/drawingml/2006/main">
            <a:off x="658368" y="2916936"/>
            <a:ext cx="363931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80">
                <a:solidFill>
                  <a:srgbClr val="1C2940"/>
                </a:solidFill>
                <a:latin typeface="Aptos"/>
                <a:ea typeface="Aptos"/>
                <a:cs typeface="Aptos"/>
              </a:rPr>
              <a:t>Phones, UPI IDs, emails, URLs, amounts, OTPs and threat cues remain buried in text or screenshots.</a:t>
            </a:r>
            <a:endParaRPr sz="1080"/>
          </a:p>
        </p:txBody>
      </p:sp>
      <p:sp>
        <p:nvSpPr>
          <p:cNvPr id="16" name="Shape 13">
            <a:extLst xmlns:a="http://schemas.openxmlformats.org/drawingml/2006/main">
              <a:ext uri="{FF2B5EF4-FFF2-40B4-BE49-F238E27FC236}">
                <a16:creationId xmlns:a16="http://schemas.microsoft.com/office/drawing/2014/main" id="{B79893F2-640D-4B10-AC26-8767E4C54D8B}"/>
              </a:ext>
            </a:extLst>
          </p:cNvPr>
          <p:cNvSpPr>
            <a:spLocks xmlns:a="http://schemas.openxmlformats.org/drawingml/2006/main" noGrp="1"/>
          </p:cNvSpPr>
          <p:nvPr/>
        </p:nvSpPr>
        <p:spPr>
          <a:xfrm xmlns:a="http://schemas.openxmlformats.org/drawingml/2006/main">
            <a:off x="475488" y="3602736"/>
            <a:ext cx="4069080" cy="877824"/>
          </a:xfrm>
          <a:prstGeom xmlns:a="http://schemas.openxmlformats.org/drawingml/2006/main" prst="roundRect">
            <a:avLst>
              <a:gd name="adj" fmla="val 8333"/>
            </a:avLst>
          </a:prstGeom>
          <a:solidFill xmlns:a="http://schemas.openxmlformats.org/drawingml/2006/main">
            <a:srgbClr val="FCEDEF"/>
          </a:solidFill>
          <a:ln xmlns:a="http://schemas.openxmlformats.org/drawingml/2006/main" w="10160">
            <a:solidFill>
              <a:srgbClr val="D7DEE8"/>
            </a:solidFill>
            <a:prstDash val="solid"/>
          </a:ln>
        </p:spPr>
      </p:sp>
      <p:sp>
        <p:nvSpPr>
          <p:cNvPr id="17" name="Shape 14">
            <a:extLst xmlns:a="http://schemas.openxmlformats.org/drawingml/2006/main">
              <a:ext uri="{FF2B5EF4-FFF2-40B4-BE49-F238E27FC236}">
                <a16:creationId xmlns:a16="http://schemas.microsoft.com/office/drawing/2014/main" id="{DE46E3FE-5877-4955-AA42-EC42D8C86870}"/>
              </a:ext>
            </a:extLst>
          </p:cNvPr>
          <p:cNvSpPr>
            <a:spLocks xmlns:a="http://schemas.openxmlformats.org/drawingml/2006/main" noGrp="1"/>
          </p:cNvSpPr>
          <p:nvPr/>
        </p:nvSpPr>
        <p:spPr>
          <a:xfrm xmlns:a="http://schemas.openxmlformats.org/drawingml/2006/main">
            <a:off x="475488" y="3602736"/>
            <a:ext cx="64008" cy="877824"/>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18" name="Text 15">
            <a:extLst xmlns:a="http://schemas.openxmlformats.org/drawingml/2006/main">
              <a:ext uri="{FF2B5EF4-FFF2-40B4-BE49-F238E27FC236}">
                <a16:creationId xmlns:a16="http://schemas.microsoft.com/office/drawing/2014/main" id="{212868B5-B885-463D-8D23-3BA448F775AE}"/>
              </a:ext>
            </a:extLst>
          </p:cNvPr>
          <p:cNvSpPr>
            <a:spLocks xmlns:a="http://schemas.openxmlformats.org/drawingml/2006/main" noGrp="1"/>
          </p:cNvSpPr>
          <p:nvPr/>
        </p:nvSpPr>
        <p:spPr>
          <a:xfrm xmlns:a="http://schemas.openxmlformats.org/drawingml/2006/main">
            <a:off x="658368" y="3721608"/>
            <a:ext cx="3639312"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20" b="1">
                <a:solidFill>
                  <a:srgbClr val="B32232"/>
                </a:solidFill>
                <a:latin typeface="Aptos Display"/>
                <a:ea typeface="Aptos Display"/>
                <a:cs typeface="Aptos Display"/>
              </a:rPr>
              <a:t>Opaque decisions</a:t>
            </a:r>
            <a:endParaRPr sz="1320"/>
          </a:p>
        </p:txBody>
      </p:sp>
      <p:sp>
        <p:nvSpPr>
          <p:cNvPr id="19" name="Text 16">
            <a:extLst xmlns:a="http://schemas.openxmlformats.org/drawingml/2006/main">
              <a:ext uri="{FF2B5EF4-FFF2-40B4-BE49-F238E27FC236}">
                <a16:creationId xmlns:a16="http://schemas.microsoft.com/office/drawing/2014/main" id="{60423006-0178-49CE-8508-524314DD2BBE}"/>
              </a:ext>
            </a:extLst>
          </p:cNvPr>
          <p:cNvSpPr>
            <a:spLocks xmlns:a="http://schemas.openxmlformats.org/drawingml/2006/main" noGrp="1"/>
          </p:cNvSpPr>
          <p:nvPr/>
        </p:nvSpPr>
        <p:spPr>
          <a:xfrm xmlns:a="http://schemas.openxmlformats.org/drawingml/2006/main">
            <a:off x="658368" y="3995928"/>
            <a:ext cx="363931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80">
                <a:solidFill>
                  <a:srgbClr val="1C2940"/>
                </a:solidFill>
                <a:latin typeface="Aptos"/>
                <a:ea typeface="Aptos"/>
                <a:cs typeface="Aptos"/>
              </a:rPr>
              <a:t>A label alone omits confidence, abstention, provenance, extracted evidence and the reasons behind risk.</a:t>
            </a:r>
            <a:endParaRPr sz="1080"/>
          </a:p>
        </p:txBody>
      </p:sp>
      <p:sp>
        <p:nvSpPr>
          <p:cNvPr id="20" name="Shape 17">
            <a:extLst xmlns:a="http://schemas.openxmlformats.org/drawingml/2006/main">
              <a:ext uri="{FF2B5EF4-FFF2-40B4-BE49-F238E27FC236}">
                <a16:creationId xmlns:a16="http://schemas.microsoft.com/office/drawing/2014/main" id="{B7E95952-8E36-4939-A4DC-5C5351E74B63}"/>
              </a:ext>
            </a:extLst>
          </p:cNvPr>
          <p:cNvSpPr>
            <a:spLocks xmlns:a="http://schemas.openxmlformats.org/drawingml/2006/main" noGrp="1"/>
          </p:cNvSpPr>
          <p:nvPr/>
        </p:nvSpPr>
        <p:spPr>
          <a:xfrm xmlns:a="http://schemas.openxmlformats.org/drawingml/2006/main">
            <a:off x="475488" y="4681728"/>
            <a:ext cx="4069080" cy="877824"/>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160">
            <a:solidFill>
              <a:srgbClr val="D7DEE8"/>
            </a:solidFill>
            <a:prstDash val="solid"/>
          </a:ln>
        </p:spPr>
      </p:sp>
      <p:sp>
        <p:nvSpPr>
          <p:cNvPr id="21" name="Shape 18">
            <a:extLst xmlns:a="http://schemas.openxmlformats.org/drawingml/2006/main">
              <a:ext uri="{FF2B5EF4-FFF2-40B4-BE49-F238E27FC236}">
                <a16:creationId xmlns:a16="http://schemas.microsoft.com/office/drawing/2014/main" id="{2CF50724-AD6E-4609-BB6B-26B5A01DA289}"/>
              </a:ext>
            </a:extLst>
          </p:cNvPr>
          <p:cNvSpPr>
            <a:spLocks xmlns:a="http://schemas.openxmlformats.org/drawingml/2006/main" noGrp="1"/>
          </p:cNvSpPr>
          <p:nvPr/>
        </p:nvSpPr>
        <p:spPr>
          <a:xfrm xmlns:a="http://schemas.openxmlformats.org/drawingml/2006/main">
            <a:off x="475488" y="4681728"/>
            <a:ext cx="64008" cy="877824"/>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22" name="Text 19">
            <a:extLst xmlns:a="http://schemas.openxmlformats.org/drawingml/2006/main">
              <a:ext uri="{FF2B5EF4-FFF2-40B4-BE49-F238E27FC236}">
                <a16:creationId xmlns:a16="http://schemas.microsoft.com/office/drawing/2014/main" id="{908599BA-4F3F-4A1C-8786-1812B1BE1895}"/>
              </a:ext>
            </a:extLst>
          </p:cNvPr>
          <p:cNvSpPr>
            <a:spLocks xmlns:a="http://schemas.openxmlformats.org/drawingml/2006/main" noGrp="1"/>
          </p:cNvSpPr>
          <p:nvPr/>
        </p:nvSpPr>
        <p:spPr>
          <a:xfrm xmlns:a="http://schemas.openxmlformats.org/drawingml/2006/main">
            <a:off x="658368" y="4800600"/>
            <a:ext cx="3639312"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20" b="1">
                <a:solidFill>
                  <a:srgbClr val="B32232"/>
                </a:solidFill>
                <a:latin typeface="Aptos Display"/>
                <a:ea typeface="Aptos Display"/>
                <a:cs typeface="Aptos Display"/>
              </a:rPr>
              <a:t>Manual reporting burden</a:t>
            </a:r>
            <a:endParaRPr sz="1320"/>
          </a:p>
        </p:txBody>
      </p:sp>
      <p:sp>
        <p:nvSpPr>
          <p:cNvPr id="23" name="Text 20">
            <a:extLst xmlns:a="http://schemas.openxmlformats.org/drawingml/2006/main">
              <a:ext uri="{FF2B5EF4-FFF2-40B4-BE49-F238E27FC236}">
                <a16:creationId xmlns:a16="http://schemas.microsoft.com/office/drawing/2014/main" id="{A6F9FBBC-20ED-467E-B3D1-8E2DADC3DC31}"/>
              </a:ext>
            </a:extLst>
          </p:cNvPr>
          <p:cNvSpPr>
            <a:spLocks xmlns:a="http://schemas.openxmlformats.org/drawingml/2006/main" noGrp="1"/>
          </p:cNvSpPr>
          <p:nvPr/>
        </p:nvSpPr>
        <p:spPr>
          <a:xfrm xmlns:a="http://schemas.openxmlformats.org/drawingml/2006/main">
            <a:off x="658368" y="5074920"/>
            <a:ext cx="363931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80">
                <a:solidFill>
                  <a:srgbClr val="1C2940"/>
                </a:solidFill>
                <a:latin typeface="Aptos"/>
                <a:ea typeface="Aptos"/>
                <a:cs typeface="Aptos"/>
              </a:rPr>
              <a:t>Users must reorganize evidence into a report; the prototype returns a masked, editable complaint starting point.</a:t>
            </a:r>
            <a:endParaRPr sz="1080"/>
          </a:p>
        </p:txBody>
      </p:sp>
      <p:sp>
        <p:nvSpPr>
          <p:cNvPr id="24" name="Text 21">
            <a:extLst xmlns:a="http://schemas.openxmlformats.org/drawingml/2006/main">
              <a:ext uri="{FF2B5EF4-FFF2-40B4-BE49-F238E27FC236}">
                <a16:creationId xmlns:a16="http://schemas.microsoft.com/office/drawing/2014/main" id="{97288955-A5A6-4197-A41C-8403E650BB26}"/>
              </a:ext>
            </a:extLst>
          </p:cNvPr>
          <p:cNvSpPr>
            <a:spLocks xmlns:a="http://schemas.openxmlformats.org/drawingml/2006/main" noGrp="1"/>
          </p:cNvSpPr>
          <p:nvPr/>
        </p:nvSpPr>
        <p:spPr>
          <a:xfrm xmlns:a="http://schemas.openxmlformats.org/drawingml/2006/main">
            <a:off x="4800600" y="1170432"/>
            <a:ext cx="384048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09CAB"/>
                </a:solidFill>
                <a:latin typeface="Aptos"/>
                <a:ea typeface="Aptos"/>
                <a:cs typeface="Aptos"/>
              </a:rPr>
              <a:t>RESEARCH FRAMING</a:t>
            </a:r>
            <a:endParaRPr sz="1050"/>
          </a:p>
        </p:txBody>
      </p:sp>
      <p:sp>
        <p:nvSpPr>
          <p:cNvPr id="25" name="Shape 22">
            <a:extLst xmlns:a="http://schemas.openxmlformats.org/drawingml/2006/main">
              <a:ext uri="{FF2B5EF4-FFF2-40B4-BE49-F238E27FC236}">
                <a16:creationId xmlns:a16="http://schemas.microsoft.com/office/drawing/2014/main" id="{6C5B0420-A006-471E-A1B5-7E59553D339F}"/>
              </a:ext>
            </a:extLst>
          </p:cNvPr>
          <p:cNvSpPr>
            <a:spLocks xmlns:a="http://schemas.openxmlformats.org/drawingml/2006/main" noGrp="1"/>
          </p:cNvSpPr>
          <p:nvPr/>
        </p:nvSpPr>
        <p:spPr>
          <a:xfrm xmlns:a="http://schemas.openxmlformats.org/drawingml/2006/main">
            <a:off x="4800600" y="1444752"/>
            <a:ext cx="3858768" cy="1261872"/>
          </a:xfrm>
          <a:prstGeom xmlns:a="http://schemas.openxmlformats.org/drawingml/2006/main" prst="roundRect">
            <a:avLst>
              <a:gd name="adj" fmla="val 5797"/>
            </a:avLst>
          </a:prstGeom>
          <a:solidFill xmlns:a="http://schemas.openxmlformats.org/drawingml/2006/main">
            <a:srgbClr val="E8F7F8"/>
          </a:solidFill>
          <a:ln xmlns:a="http://schemas.openxmlformats.org/drawingml/2006/main" w="10160">
            <a:solidFill>
              <a:srgbClr val="D7DEE8"/>
            </a:solidFill>
            <a:prstDash val="solid"/>
          </a:ln>
        </p:spPr>
      </p:sp>
      <p:sp>
        <p:nvSpPr>
          <p:cNvPr id="26" name="Shape 23">
            <a:extLst xmlns:a="http://schemas.openxmlformats.org/drawingml/2006/main">
              <a:ext uri="{FF2B5EF4-FFF2-40B4-BE49-F238E27FC236}">
                <a16:creationId xmlns:a16="http://schemas.microsoft.com/office/drawing/2014/main" id="{3E9FB992-9F93-4CCF-B714-8307019BD375}"/>
              </a:ext>
            </a:extLst>
          </p:cNvPr>
          <p:cNvSpPr>
            <a:spLocks xmlns:a="http://schemas.openxmlformats.org/drawingml/2006/main" noGrp="1"/>
          </p:cNvSpPr>
          <p:nvPr/>
        </p:nvSpPr>
        <p:spPr>
          <a:xfrm xmlns:a="http://schemas.openxmlformats.org/drawingml/2006/main">
            <a:off x="4800600" y="1444752"/>
            <a:ext cx="64008" cy="1261872"/>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27" name="Text 24">
            <a:extLst xmlns:a="http://schemas.openxmlformats.org/drawingml/2006/main">
              <a:ext uri="{FF2B5EF4-FFF2-40B4-BE49-F238E27FC236}">
                <a16:creationId xmlns:a16="http://schemas.microsoft.com/office/drawing/2014/main" id="{590CD712-E1CC-41D4-913D-A91763532893}"/>
              </a:ext>
            </a:extLst>
          </p:cNvPr>
          <p:cNvSpPr>
            <a:spLocks xmlns:a="http://schemas.openxmlformats.org/drawingml/2006/main" noGrp="1"/>
          </p:cNvSpPr>
          <p:nvPr/>
        </p:nvSpPr>
        <p:spPr>
          <a:xfrm xmlns:a="http://schemas.openxmlformats.org/drawingml/2006/main">
            <a:off x="5029200" y="1709928"/>
            <a:ext cx="340156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510" b="1">
                <a:solidFill>
                  <a:srgbClr val="18243A"/>
                </a:solidFill>
                <a:latin typeface="Aptos Display"/>
                <a:ea typeface="Aptos Display"/>
                <a:cs typeface="Aptos Display"/>
              </a:rPr>
              <a:t>Can a lightweight, explainable pipeline convert synthetic suspicious text and screenshots into structured, privacy-aware evidence while preserving uncertainty and human control?</a:t>
            </a:r>
            <a:endParaRPr sz="1510"/>
          </a:p>
        </p:txBody>
      </p:sp>
      <p:sp>
        <p:nvSpPr>
          <p:cNvPr id="28" name="Text 25">
            <a:extLst xmlns:a="http://schemas.openxmlformats.org/drawingml/2006/main">
              <a:ext uri="{FF2B5EF4-FFF2-40B4-BE49-F238E27FC236}">
                <a16:creationId xmlns:a16="http://schemas.microsoft.com/office/drawing/2014/main" id="{770A0269-EF97-4E32-9F6A-284008696B3A}"/>
              </a:ext>
            </a:extLst>
          </p:cNvPr>
          <p:cNvSpPr>
            <a:spLocks xmlns:a="http://schemas.openxmlformats.org/drawingml/2006/main" noGrp="1"/>
          </p:cNvSpPr>
          <p:nvPr/>
        </p:nvSpPr>
        <p:spPr>
          <a:xfrm xmlns:a="http://schemas.openxmlformats.org/drawingml/2006/main">
            <a:off x="4800600" y="2953512"/>
            <a:ext cx="384048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42073"/>
                </a:solidFill>
                <a:latin typeface="Aptos"/>
                <a:ea typeface="Aptos"/>
                <a:cs typeface="Aptos"/>
              </a:rPr>
              <a:t>TARGET USER JOURNEY</a:t>
            </a:r>
            <a:endParaRPr sz="1050"/>
          </a:p>
        </p:txBody>
      </p:sp>
      <p:sp>
        <p:nvSpPr>
          <p:cNvPr id="29" name="Shape 26">
            <a:extLst xmlns:a="http://schemas.openxmlformats.org/drawingml/2006/main">
              <a:ext uri="{FF2B5EF4-FFF2-40B4-BE49-F238E27FC236}">
                <a16:creationId xmlns:a16="http://schemas.microsoft.com/office/drawing/2014/main" id="{697BF557-D156-4E66-B9C4-4BF4AE4AD6F2}"/>
              </a:ext>
            </a:extLst>
          </p:cNvPr>
          <p:cNvSpPr>
            <a:spLocks xmlns:a="http://schemas.openxmlformats.org/drawingml/2006/main" noGrp="1"/>
          </p:cNvSpPr>
          <p:nvPr/>
        </p:nvSpPr>
        <p:spPr>
          <a:xfrm xmlns:a="http://schemas.openxmlformats.org/drawingml/2006/main">
            <a:off x="4809744" y="3264408"/>
            <a:ext cx="347472" cy="347472"/>
          </a:xfrm>
          <a:prstGeom xmlns:a="http://schemas.openxmlformats.org/drawingml/2006/main" prst="ellipse">
            <a:avLst/>
          </a:prstGeom>
          <a:solidFill xmlns:a="http://schemas.openxmlformats.org/drawingml/2006/main">
            <a:srgbClr val="542073"/>
          </a:solidFill>
          <a:ln xmlns:a="http://schemas.openxmlformats.org/drawingml/2006/main" w="12700">
            <a:solidFill>
              <a:srgbClr val="FFFFFF"/>
            </a:solidFill>
            <a:prstDash val="solid"/>
          </a:ln>
        </p:spPr>
      </p:sp>
      <p:sp>
        <p:nvSpPr>
          <p:cNvPr id="30" name="Text 27">
            <a:extLst xmlns:a="http://schemas.openxmlformats.org/drawingml/2006/main">
              <a:ext uri="{FF2B5EF4-FFF2-40B4-BE49-F238E27FC236}">
                <a16:creationId xmlns:a16="http://schemas.microsoft.com/office/drawing/2014/main" id="{C0319A98-9E8B-44C9-BE78-60549CC74861}"/>
              </a:ext>
            </a:extLst>
          </p:cNvPr>
          <p:cNvSpPr>
            <a:spLocks xmlns:a="http://schemas.openxmlformats.org/drawingml/2006/main" noGrp="1"/>
          </p:cNvSpPr>
          <p:nvPr/>
        </p:nvSpPr>
        <p:spPr>
          <a:xfrm xmlns:a="http://schemas.openxmlformats.org/drawingml/2006/main">
            <a:off x="4809744" y="326440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1</a:t>
            </a:r>
            <a:endParaRPr sz="1050"/>
          </a:p>
        </p:txBody>
      </p:sp>
      <p:sp>
        <p:nvSpPr>
          <p:cNvPr id="31" name="Text 28">
            <a:extLst xmlns:a="http://schemas.openxmlformats.org/drawingml/2006/main">
              <a:ext uri="{FF2B5EF4-FFF2-40B4-BE49-F238E27FC236}">
                <a16:creationId xmlns:a16="http://schemas.microsoft.com/office/drawing/2014/main" id="{C1608207-6754-40CB-90FC-15DC89E404F4}"/>
              </a:ext>
            </a:extLst>
          </p:cNvPr>
          <p:cNvSpPr>
            <a:spLocks xmlns:a="http://schemas.openxmlformats.org/drawingml/2006/main" noGrp="1"/>
          </p:cNvSpPr>
          <p:nvPr/>
        </p:nvSpPr>
        <p:spPr>
          <a:xfrm xmlns:a="http://schemas.openxmlformats.org/drawingml/2006/main">
            <a:off x="5285232" y="3236976"/>
            <a:ext cx="8229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40" b="1">
                <a:solidFill>
                  <a:srgbClr val="1C2940"/>
                </a:solidFill>
                <a:latin typeface="Aptos Display"/>
                <a:ea typeface="Aptos Display"/>
                <a:cs typeface="Aptos Display"/>
              </a:rPr>
              <a:t>Submit</a:t>
            </a:r>
            <a:endParaRPr sz="1340"/>
          </a:p>
        </p:txBody>
      </p:sp>
      <p:sp>
        <p:nvSpPr>
          <p:cNvPr id="32" name="Text 29">
            <a:extLst xmlns:a="http://schemas.openxmlformats.org/drawingml/2006/main">
              <a:ext uri="{FF2B5EF4-FFF2-40B4-BE49-F238E27FC236}">
                <a16:creationId xmlns:a16="http://schemas.microsoft.com/office/drawing/2014/main" id="{80CEB2C8-8F43-4FB3-B4A7-6747E6610C74}"/>
              </a:ext>
            </a:extLst>
          </p:cNvPr>
          <p:cNvSpPr>
            <a:spLocks xmlns:a="http://schemas.openxmlformats.org/drawingml/2006/main" noGrp="1"/>
          </p:cNvSpPr>
          <p:nvPr/>
        </p:nvSpPr>
        <p:spPr>
          <a:xfrm xmlns:a="http://schemas.openxmlformats.org/drawingml/2006/main">
            <a:off x="6089904" y="3236976"/>
            <a:ext cx="245059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10">
                <a:solidFill>
                  <a:srgbClr val="52627A"/>
                </a:solidFill>
                <a:latin typeface="Aptos"/>
                <a:ea typeface="Aptos"/>
                <a:cs typeface="Aptos"/>
              </a:rPr>
              <a:t>Paste ≤20,000 characters or upload a bounded PNG/JPEG screenshot</a:t>
            </a:r>
            <a:endParaRPr sz="1110"/>
          </a:p>
        </p:txBody>
      </p:sp>
      <p:sp>
        <p:nvSpPr>
          <p:cNvPr id="33" name="Shape 30">
            <a:extLst xmlns:a="http://schemas.openxmlformats.org/drawingml/2006/main">
              <a:ext uri="{FF2B5EF4-FFF2-40B4-BE49-F238E27FC236}">
                <a16:creationId xmlns:a16="http://schemas.microsoft.com/office/drawing/2014/main" id="{294B6D87-7490-4D6C-8226-9A6DEF677211}"/>
              </a:ext>
            </a:extLst>
          </p:cNvPr>
          <p:cNvSpPr>
            <a:spLocks xmlns:a="http://schemas.openxmlformats.org/drawingml/2006/main" noGrp="1"/>
          </p:cNvSpPr>
          <p:nvPr/>
        </p:nvSpPr>
        <p:spPr>
          <a:xfrm xmlns:a="http://schemas.openxmlformats.org/drawingml/2006/main">
            <a:off x="4809744" y="3904488"/>
            <a:ext cx="347472" cy="347472"/>
          </a:xfrm>
          <a:prstGeom xmlns:a="http://schemas.openxmlformats.org/drawingml/2006/main" prst="ellipse">
            <a:avLst/>
          </a:prstGeom>
          <a:solidFill xmlns:a="http://schemas.openxmlformats.org/drawingml/2006/main">
            <a:srgbClr val="542073"/>
          </a:solidFill>
          <a:ln xmlns:a="http://schemas.openxmlformats.org/drawingml/2006/main" w="12700">
            <a:solidFill>
              <a:srgbClr val="FFFFFF"/>
            </a:solidFill>
            <a:prstDash val="solid"/>
          </a:ln>
        </p:spPr>
      </p:sp>
      <p:sp>
        <p:nvSpPr>
          <p:cNvPr id="34" name="Text 31">
            <a:extLst xmlns:a="http://schemas.openxmlformats.org/drawingml/2006/main">
              <a:ext uri="{FF2B5EF4-FFF2-40B4-BE49-F238E27FC236}">
                <a16:creationId xmlns:a16="http://schemas.microsoft.com/office/drawing/2014/main" id="{217DCD99-A016-46AC-A22C-107F2545563A}"/>
              </a:ext>
            </a:extLst>
          </p:cNvPr>
          <p:cNvSpPr>
            <a:spLocks xmlns:a="http://schemas.openxmlformats.org/drawingml/2006/main" noGrp="1"/>
          </p:cNvSpPr>
          <p:nvPr/>
        </p:nvSpPr>
        <p:spPr>
          <a:xfrm xmlns:a="http://schemas.openxmlformats.org/drawingml/2006/main">
            <a:off x="4809744" y="390448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2</a:t>
            </a:r>
            <a:endParaRPr sz="1050"/>
          </a:p>
        </p:txBody>
      </p:sp>
      <p:sp>
        <p:nvSpPr>
          <p:cNvPr id="35" name="Text 32">
            <a:extLst xmlns:a="http://schemas.openxmlformats.org/drawingml/2006/main">
              <a:ext uri="{FF2B5EF4-FFF2-40B4-BE49-F238E27FC236}">
                <a16:creationId xmlns:a16="http://schemas.microsoft.com/office/drawing/2014/main" id="{0CC3104D-48EE-4FB3-A699-649DFBAC5E6F}"/>
              </a:ext>
            </a:extLst>
          </p:cNvPr>
          <p:cNvSpPr>
            <a:spLocks xmlns:a="http://schemas.openxmlformats.org/drawingml/2006/main" noGrp="1"/>
          </p:cNvSpPr>
          <p:nvPr/>
        </p:nvSpPr>
        <p:spPr>
          <a:xfrm xmlns:a="http://schemas.openxmlformats.org/drawingml/2006/main">
            <a:off x="5285232" y="3877056"/>
            <a:ext cx="8229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40" b="1">
                <a:solidFill>
                  <a:srgbClr val="1C2940"/>
                </a:solidFill>
                <a:latin typeface="Aptos Display"/>
                <a:ea typeface="Aptos Display"/>
                <a:cs typeface="Aptos Display"/>
              </a:rPr>
              <a:t>Inspect</a:t>
            </a:r>
            <a:endParaRPr sz="1340"/>
          </a:p>
        </p:txBody>
      </p:sp>
      <p:sp>
        <p:nvSpPr>
          <p:cNvPr id="36" name="Text 33">
            <a:extLst xmlns:a="http://schemas.openxmlformats.org/drawingml/2006/main">
              <a:ext uri="{FF2B5EF4-FFF2-40B4-BE49-F238E27FC236}">
                <a16:creationId xmlns:a16="http://schemas.microsoft.com/office/drawing/2014/main" id="{80AB7F5D-132B-4F4A-BC9E-A01AD71514E0}"/>
              </a:ext>
            </a:extLst>
          </p:cNvPr>
          <p:cNvSpPr>
            <a:spLocks xmlns:a="http://schemas.openxmlformats.org/drawingml/2006/main" noGrp="1"/>
          </p:cNvSpPr>
          <p:nvPr/>
        </p:nvSpPr>
        <p:spPr>
          <a:xfrm xmlns:a="http://schemas.openxmlformats.org/drawingml/2006/main">
            <a:off x="6089904" y="3877056"/>
            <a:ext cx="245059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10">
                <a:solidFill>
                  <a:srgbClr val="52627A"/>
                </a:solidFill>
                <a:latin typeface="Aptos"/>
                <a:ea typeface="Aptos"/>
                <a:cs typeface="Aptos"/>
              </a:rPr>
              <a:t>Review label, confidence, coverage, signals, URL checks and reasons</a:t>
            </a:r>
            <a:endParaRPr sz="1110"/>
          </a:p>
        </p:txBody>
      </p:sp>
      <p:sp>
        <p:nvSpPr>
          <p:cNvPr id="37" name="Shape 34">
            <a:extLst xmlns:a="http://schemas.openxmlformats.org/drawingml/2006/main">
              <a:ext uri="{FF2B5EF4-FFF2-40B4-BE49-F238E27FC236}">
                <a16:creationId xmlns:a16="http://schemas.microsoft.com/office/drawing/2014/main" id="{714DB690-7351-44D5-8069-132649657A02}"/>
              </a:ext>
            </a:extLst>
          </p:cNvPr>
          <p:cNvSpPr>
            <a:spLocks xmlns:a="http://schemas.openxmlformats.org/drawingml/2006/main" noGrp="1"/>
          </p:cNvSpPr>
          <p:nvPr/>
        </p:nvSpPr>
        <p:spPr>
          <a:xfrm xmlns:a="http://schemas.openxmlformats.org/drawingml/2006/main">
            <a:off x="4809744" y="4544568"/>
            <a:ext cx="347472" cy="347472"/>
          </a:xfrm>
          <a:prstGeom xmlns:a="http://schemas.openxmlformats.org/drawingml/2006/main" prst="ellipse">
            <a:avLst/>
          </a:prstGeom>
          <a:solidFill xmlns:a="http://schemas.openxmlformats.org/drawingml/2006/main">
            <a:srgbClr val="542073"/>
          </a:solidFill>
          <a:ln xmlns:a="http://schemas.openxmlformats.org/drawingml/2006/main" w="12700">
            <a:solidFill>
              <a:srgbClr val="FFFFFF"/>
            </a:solidFill>
            <a:prstDash val="solid"/>
          </a:ln>
        </p:spPr>
      </p:sp>
      <p:sp>
        <p:nvSpPr>
          <p:cNvPr id="38" name="Text 35">
            <a:extLst xmlns:a="http://schemas.openxmlformats.org/drawingml/2006/main">
              <a:ext uri="{FF2B5EF4-FFF2-40B4-BE49-F238E27FC236}">
                <a16:creationId xmlns:a16="http://schemas.microsoft.com/office/drawing/2014/main" id="{3ED79761-E798-4FC6-B6D9-ABF107D16BB7}"/>
              </a:ext>
            </a:extLst>
          </p:cNvPr>
          <p:cNvSpPr>
            <a:spLocks xmlns:a="http://schemas.openxmlformats.org/drawingml/2006/main" noGrp="1"/>
          </p:cNvSpPr>
          <p:nvPr/>
        </p:nvSpPr>
        <p:spPr>
          <a:xfrm xmlns:a="http://schemas.openxmlformats.org/drawingml/2006/main">
            <a:off x="4809744" y="454456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3</a:t>
            </a:r>
            <a:endParaRPr sz="1050"/>
          </a:p>
        </p:txBody>
      </p:sp>
      <p:sp>
        <p:nvSpPr>
          <p:cNvPr id="39" name="Text 36">
            <a:extLst xmlns:a="http://schemas.openxmlformats.org/drawingml/2006/main">
              <a:ext uri="{FF2B5EF4-FFF2-40B4-BE49-F238E27FC236}">
                <a16:creationId xmlns:a16="http://schemas.microsoft.com/office/drawing/2014/main" id="{E9C25BB4-893F-4D31-9FB4-AD6803EA18A7}"/>
              </a:ext>
            </a:extLst>
          </p:cNvPr>
          <p:cNvSpPr>
            <a:spLocks xmlns:a="http://schemas.openxmlformats.org/drawingml/2006/main" noGrp="1"/>
          </p:cNvSpPr>
          <p:nvPr/>
        </p:nvSpPr>
        <p:spPr>
          <a:xfrm xmlns:a="http://schemas.openxmlformats.org/drawingml/2006/main">
            <a:off x="5285232" y="4517136"/>
            <a:ext cx="8229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40" b="1">
                <a:solidFill>
                  <a:srgbClr val="1C2940"/>
                </a:solidFill>
                <a:latin typeface="Aptos Display"/>
                <a:ea typeface="Aptos Display"/>
                <a:cs typeface="Aptos Display"/>
              </a:rPr>
              <a:t>Decide</a:t>
            </a:r>
            <a:endParaRPr sz="1340"/>
          </a:p>
        </p:txBody>
      </p:sp>
      <p:sp>
        <p:nvSpPr>
          <p:cNvPr id="40" name="Text 37">
            <a:extLst xmlns:a="http://schemas.openxmlformats.org/drawingml/2006/main">
              <a:ext uri="{FF2B5EF4-FFF2-40B4-BE49-F238E27FC236}">
                <a16:creationId xmlns:a16="http://schemas.microsoft.com/office/drawing/2014/main" id="{00713C5F-56B6-4CC5-BF9D-0532CD71A735}"/>
              </a:ext>
            </a:extLst>
          </p:cNvPr>
          <p:cNvSpPr>
            <a:spLocks xmlns:a="http://schemas.openxmlformats.org/drawingml/2006/main" noGrp="1"/>
          </p:cNvSpPr>
          <p:nvPr/>
        </p:nvSpPr>
        <p:spPr>
          <a:xfrm xmlns:a="http://schemas.openxmlformats.org/drawingml/2006/main">
            <a:off x="6089904" y="4517136"/>
            <a:ext cx="245059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10">
                <a:solidFill>
                  <a:srgbClr val="52627A"/>
                </a:solidFill>
                <a:latin typeface="Aptos"/>
                <a:ea typeface="Aptos"/>
                <a:cs typeface="Aptos"/>
              </a:rPr>
              <a:t>Keep the human verdict; edit the complaint draft before reporting</a:t>
            </a:r>
            <a:endParaRPr sz="1110"/>
          </a:p>
        </p:txBody>
      </p:sp>
      <p:sp>
        <p:nvSpPr>
          <p:cNvPr id="41" name="Shape 38">
            <a:extLst xmlns:a="http://schemas.openxmlformats.org/drawingml/2006/main">
              <a:ext uri="{FF2B5EF4-FFF2-40B4-BE49-F238E27FC236}">
                <a16:creationId xmlns:a16="http://schemas.microsoft.com/office/drawing/2014/main" id="{921CD59C-1E17-43D6-A048-0FB1F8574078}"/>
              </a:ext>
            </a:extLst>
          </p:cNvPr>
          <p:cNvSpPr>
            <a:spLocks xmlns:a="http://schemas.openxmlformats.org/drawingml/2006/main" noGrp="1"/>
          </p:cNvSpPr>
          <p:nvPr/>
        </p:nvSpPr>
        <p:spPr>
          <a:xfrm xmlns:a="http://schemas.openxmlformats.org/drawingml/2006/main">
            <a:off x="4809744" y="5184648"/>
            <a:ext cx="347472" cy="347472"/>
          </a:xfrm>
          <a:prstGeom xmlns:a="http://schemas.openxmlformats.org/drawingml/2006/main" prst="ellipse">
            <a:avLst/>
          </a:prstGeom>
          <a:solidFill xmlns:a="http://schemas.openxmlformats.org/drawingml/2006/main">
            <a:srgbClr val="23805D"/>
          </a:solidFill>
          <a:ln xmlns:a="http://schemas.openxmlformats.org/drawingml/2006/main" w="12700">
            <a:solidFill>
              <a:srgbClr val="FFFFFF"/>
            </a:solidFill>
            <a:prstDash val="solid"/>
          </a:ln>
        </p:spPr>
      </p:sp>
      <p:sp>
        <p:nvSpPr>
          <p:cNvPr id="42" name="Text 39">
            <a:extLst xmlns:a="http://schemas.openxmlformats.org/drawingml/2006/main">
              <a:ext uri="{FF2B5EF4-FFF2-40B4-BE49-F238E27FC236}">
                <a16:creationId xmlns:a16="http://schemas.microsoft.com/office/drawing/2014/main" id="{F769F00A-649F-4B96-96AD-7B0D287DFE26}"/>
              </a:ext>
            </a:extLst>
          </p:cNvPr>
          <p:cNvSpPr>
            <a:spLocks xmlns:a="http://schemas.openxmlformats.org/drawingml/2006/main" noGrp="1"/>
          </p:cNvSpPr>
          <p:nvPr/>
        </p:nvSpPr>
        <p:spPr>
          <a:xfrm xmlns:a="http://schemas.openxmlformats.org/drawingml/2006/main">
            <a:off x="4809744" y="51846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4</a:t>
            </a:r>
            <a:endParaRPr sz="1050"/>
          </a:p>
        </p:txBody>
      </p:sp>
      <p:sp>
        <p:nvSpPr>
          <p:cNvPr id="43" name="Text 40">
            <a:extLst xmlns:a="http://schemas.openxmlformats.org/drawingml/2006/main">
              <a:ext uri="{FF2B5EF4-FFF2-40B4-BE49-F238E27FC236}">
                <a16:creationId xmlns:a16="http://schemas.microsoft.com/office/drawing/2014/main" id="{28AAC8A3-975E-4D3E-A150-31B59388D6A6}"/>
              </a:ext>
            </a:extLst>
          </p:cNvPr>
          <p:cNvSpPr>
            <a:spLocks xmlns:a="http://schemas.openxmlformats.org/drawingml/2006/main" noGrp="1"/>
          </p:cNvSpPr>
          <p:nvPr/>
        </p:nvSpPr>
        <p:spPr>
          <a:xfrm xmlns:a="http://schemas.openxmlformats.org/drawingml/2006/main">
            <a:off x="5285232" y="5157216"/>
            <a:ext cx="8229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40" b="1">
                <a:solidFill>
                  <a:srgbClr val="1C2940"/>
                </a:solidFill>
                <a:latin typeface="Aptos Display"/>
                <a:ea typeface="Aptos Display"/>
                <a:cs typeface="Aptos Display"/>
              </a:rPr>
              <a:t>Link</a:t>
            </a:r>
            <a:endParaRPr sz="1340"/>
          </a:p>
        </p:txBody>
      </p:sp>
      <p:sp>
        <p:nvSpPr>
          <p:cNvPr id="44" name="Text 41">
            <a:extLst xmlns:a="http://schemas.openxmlformats.org/drawingml/2006/main">
              <a:ext uri="{FF2B5EF4-FFF2-40B4-BE49-F238E27FC236}">
                <a16:creationId xmlns:a16="http://schemas.microsoft.com/office/drawing/2014/main" id="{C29D5B16-3DED-4EB2-A048-11B3ED224860}"/>
              </a:ext>
            </a:extLst>
          </p:cNvPr>
          <p:cNvSpPr>
            <a:spLocks xmlns:a="http://schemas.openxmlformats.org/drawingml/2006/main" noGrp="1"/>
          </p:cNvSpPr>
          <p:nvPr/>
        </p:nvSpPr>
        <p:spPr>
          <a:xfrm xmlns:a="http://schemas.openxmlformats.org/drawingml/2006/main">
            <a:off x="6089904" y="5157216"/>
            <a:ext cx="245059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110">
                <a:solidFill>
                  <a:srgbClr val="52627A"/>
                </a:solidFill>
                <a:latin typeface="Aptos"/>
                <a:ea typeface="Aptos"/>
                <a:cs typeface="Aptos"/>
              </a:rPr>
              <a:t>With consent, inspect masked repeats from unexpired retained cases</a:t>
            </a:r>
            <a:endParaRPr sz="1110"/>
          </a:p>
        </p:txBody>
      </p:sp>
      <p:sp>
        <p:nvSpPr>
          <p:cNvPr id="45" name="Shape 42">
            <a:extLst xmlns:a="http://schemas.openxmlformats.org/drawingml/2006/main">
              <a:ext uri="{FF2B5EF4-FFF2-40B4-BE49-F238E27FC236}">
                <a16:creationId xmlns:a16="http://schemas.microsoft.com/office/drawing/2014/main" id="{AA824A0B-003C-4EB5-8F2A-342572674245}"/>
              </a:ext>
            </a:extLst>
          </p:cNvPr>
          <p:cNvSpPr>
            <a:spLocks xmlns:a="http://schemas.openxmlformats.org/drawingml/2006/main" noGrp="1"/>
          </p:cNvSpPr>
          <p:nvPr/>
        </p:nvSpPr>
        <p:spPr>
          <a:xfrm xmlns:a="http://schemas.openxmlformats.org/drawingml/2006/main">
            <a:off x="4800600" y="5870448"/>
            <a:ext cx="3858768" cy="475488"/>
          </a:xfrm>
          <a:prstGeom xmlns:a="http://schemas.openxmlformats.org/drawingml/2006/main" prst="roundRect">
            <a:avLst>
              <a:gd name="adj" fmla="val 15385"/>
            </a:avLst>
          </a:prstGeom>
          <a:solidFill xmlns:a="http://schemas.openxmlformats.org/drawingml/2006/main">
            <a:srgbClr val="FFF7DF"/>
          </a:solidFill>
          <a:ln xmlns:a="http://schemas.openxmlformats.org/drawingml/2006/main" w="10160">
            <a:solidFill>
              <a:srgbClr val="E8CD7D"/>
            </a:solidFill>
            <a:prstDash val="solid"/>
          </a:ln>
        </p:spPr>
      </p:sp>
      <p:sp>
        <p:nvSpPr>
          <p:cNvPr id="46" name="Text 43">
            <a:extLst xmlns:a="http://schemas.openxmlformats.org/drawingml/2006/main">
              <a:ext uri="{FF2B5EF4-FFF2-40B4-BE49-F238E27FC236}">
                <a16:creationId xmlns:a16="http://schemas.microsoft.com/office/drawing/2014/main" id="{F780658E-001E-48EE-8845-0518CF4AD5AB}"/>
              </a:ext>
            </a:extLst>
          </p:cNvPr>
          <p:cNvSpPr>
            <a:spLocks xmlns:a="http://schemas.openxmlformats.org/drawingml/2006/main" noGrp="1"/>
          </p:cNvSpPr>
          <p:nvPr/>
        </p:nvSpPr>
        <p:spPr>
          <a:xfrm xmlns:a="http://schemas.openxmlformats.org/drawingml/2006/main">
            <a:off x="5010912" y="6016752"/>
            <a:ext cx="343814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48214"/>
          </a:bodyPr>
          <a:lstStyle xmlns:a="http://schemas.openxmlformats.org/drawingml/2006/main"/>
          <a:p xmlns:a="http://schemas.openxmlformats.org/drawingml/2006/main">
            <a:pPr marL="0" indent="0">
              <a:buNone/>
            </a:pPr>
            <a:r>
              <a:rPr sz="1120" b="1">
                <a:solidFill>
                  <a:srgbClr val="7B5B00"/>
                </a:solidFill>
                <a:latin typeface="Aptos"/>
                <a:ea typeface="Aptos"/>
                <a:cs typeface="Aptos"/>
              </a:rPr>
              <a:t>Design principle: organize inspectable evidence for human review; keep the verdict and complaint submission manual.</a:t>
            </a:r>
            <a:endParaRPr sz="1120"/>
          </a:p>
        </p:txBody>
      </p:sp>
    </p:spTree>
    <p:extLst>
      <p:ext uri="{BB962C8B-B14F-4D97-AF65-F5344CB8AC3E}">
        <p14:creationId xmlns:p14="http://schemas.microsoft.com/office/powerpoint/2010/main" val="1711855750"/>
      </p:ext>
    </p:extLst>
  </p:cSld>
</p:sld>
</file>

<file path=ppt/slides/slide3.xml><?xml version="1.0" encoding="utf-8"?>
<p:sld xmlns:p="http://schemas.openxmlformats.org/presentationml/2006/main">
  <p:cSld>
    <p:bg>
      <p:bgPr>
        <a:blipFill xmlns:a="http://schemas.openxmlformats.org/drawingml/2006/main">
          <a:blip xmlns:r="http://schemas.openxmlformats.org/officeDocument/2006/relationships" r:embed="R0eee1f64930a42ca">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2A05AAE-3357-40C2-8ABD-99E4F0FA8772}"/>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Objectives, Scope &amp; Success Criteria</a:t>
            </a:r>
            <a:endParaRPr sz="2700"/>
          </a:p>
        </p:txBody>
      </p:sp>
      <p:sp>
        <p:nvSpPr>
          <p:cNvPr id="3" name="Text 1">
            <a:extLst xmlns:a="http://schemas.openxmlformats.org/drawingml/2006/main">
              <a:ext uri="{FF2B5EF4-FFF2-40B4-BE49-F238E27FC236}">
                <a16:creationId xmlns:a16="http://schemas.microsoft.com/office/drawing/2014/main" id="{FC962B15-D450-4B8E-8878-BBD4E25FBF77}"/>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50">
                <a:solidFill>
                  <a:srgbClr val="52627A"/>
                </a:solidFill>
                <a:latin typeface="Aptos"/>
                <a:ea typeface="Aptos"/>
                <a:cs typeface="Aptos"/>
              </a:rPr>
              <a:t>Each objective maps to an implemented subsystem and an observable acceptance condition.</a:t>
            </a:r>
            <a:endParaRPr sz="1350"/>
          </a:p>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167c32349d1f400e"/>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18480A23-800C-4FAB-9484-5AF43D3D459F}"/>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README.md; final_capstone_report.md §§3–5; automated suite at main c3e8de0</a:t>
            </a:r>
            <a:endParaRPr sz="830"/>
          </a:p>
        </p:txBody>
      </p:sp>
      <p:sp>
        <p:nvSpPr>
          <p:cNvPr id="6" name="Text 3">
            <a:extLst xmlns:a="http://schemas.openxmlformats.org/drawingml/2006/main">
              <a:ext uri="{FF2B5EF4-FFF2-40B4-BE49-F238E27FC236}">
                <a16:creationId xmlns:a16="http://schemas.microsoft.com/office/drawing/2014/main" id="{20679A6A-97C3-4F39-A3EE-22AF4E3A731F}"/>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3</a:t>
            </a:r>
            <a:endParaRPr sz="900"/>
          </a:p>
        </p:txBody>
      </p:sp>
      <p:graphicFrame>
        <p:nvGraphicFramePr>
          <p:cNvPr id="23" name="Table 0"/>
          <p:cNvGraphicFramePr/>
          <p:nvPr/>
        </p:nvGraphicFramePr>
        <p:xfrm>
          <a:off xmlns:a="http://schemas.openxmlformats.org/drawingml/2006/main" x="475488" y="1207008"/>
          <a:ext xmlns:a="http://schemas.openxmlformats.org/drawingml/2006/main" cx="8193024" cy="3355848"/>
        </p:xfrm>
        <a:graphic xmlns:a="http://schemas.openxmlformats.org/drawingml/2006/main">
          <a:graphicData uri="http://schemas.openxmlformats.org/drawingml/2006/table">
            <a:tbl>
              <a:tblPr/>
              <a:tblGrid>
                <a:gridCol w="1417320"/>
                <a:gridCol w="3246120"/>
                <a:gridCol w="3529584"/>
              </a:tblGrid>
              <a:tr h="347472">
                <a:tc>
                  <a:txBody>
                    <a:bodyPr/>
                    <a:lstStyle/>
                    <a:p>
                      <a:pPr marL="0" indent="0">
                        <a:buNone/>
                      </a:pPr>
                      <a:r>
                        <a:rPr sz="1220" b="1">
                          <a:solidFill>
                            <a:srgbClr val="FFFFFF"/>
                          </a:solidFill>
                          <a:latin typeface="Aptos"/>
                          <a:ea typeface="Aptos"/>
                          <a:cs typeface="Aptos"/>
                        </a:rPr>
                        <a:t>Objective</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18243A"/>
                    </a:solidFill>
                  </a:tcPr>
                </a:tc>
                <a:tc>
                  <a:txBody>
                    <a:bodyPr/>
                    <a:lstStyle/>
                    <a:p>
                      <a:pPr marL="0" indent="0">
                        <a:buNone/>
                      </a:pPr>
                      <a:r>
                        <a:rPr sz="1220" b="1">
                          <a:solidFill>
                            <a:srgbClr val="FFFFFF"/>
                          </a:solidFill>
                          <a:latin typeface="Aptos"/>
                          <a:ea typeface="Aptos"/>
                          <a:cs typeface="Aptos"/>
                        </a:rPr>
                        <a:t>Implemented evidence</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18243A"/>
                    </a:solidFill>
                  </a:tcPr>
                </a:tc>
                <a:tc>
                  <a:txBody>
                    <a:bodyPr/>
                    <a:lstStyle/>
                    <a:p>
                      <a:pPr marL="0" indent="0">
                        <a:buNone/>
                      </a:pPr>
                      <a:r>
                        <a:rPr sz="1220" b="1">
                          <a:solidFill>
                            <a:srgbClr val="FFFFFF"/>
                          </a:solidFill>
                          <a:latin typeface="Aptos"/>
                          <a:ea typeface="Aptos"/>
                          <a:cs typeface="Aptos"/>
                        </a:rPr>
                        <a:t>Acceptance condition</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18243A"/>
                    </a:solidFill>
                  </a:tcPr>
                </a:tc>
              </a:tr>
              <a:tr h="576072">
                <a:tc>
                  <a:txBody>
                    <a:bodyPr/>
                    <a:lstStyle/>
                    <a:p>
                      <a:pPr marL="0" indent="0">
                        <a:buNone/>
                      </a:pPr>
                      <a:r>
                        <a:rPr sz="1220">
                          <a:solidFill>
                            <a:srgbClr val="1C2940"/>
                          </a:solidFill>
                          <a:latin typeface="Aptos"/>
                          <a:ea typeface="Aptos"/>
                          <a:cs typeface="Aptos"/>
                        </a:rPr>
                        <a:t>01 · Classify</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Eight Indian scam-message categories with calibrated TF-IDF inference</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Return category or explicit abstention with provenance</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r>
              <a:tr h="576072">
                <a:tc>
                  <a:txBody>
                    <a:bodyPr/>
                    <a:lstStyle/>
                    <a:p>
                      <a:pPr marL="0" indent="0">
                        <a:buNone/>
                      </a:pPr>
                      <a:r>
                        <a:rPr sz="1220">
                          <a:solidFill>
                            <a:srgbClr val="1C2940"/>
                          </a:solidFill>
                          <a:latin typeface="Aptos"/>
                          <a:ea typeface="Aptos"/>
                          <a:cs typeface="Aptos"/>
                        </a:rPr>
                        <a:t>02 · Preserve</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Extract and mask phone, UPI, email, URL, amount and OTP evidence</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No raw sensitive identifier in graph output or logs</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r>
              <a:tr h="576072">
                <a:tc>
                  <a:txBody>
                    <a:bodyPr/>
                    <a:lstStyle/>
                    <a:p>
                      <a:pPr marL="0" indent="0">
                        <a:buNone/>
                      </a:pPr>
                      <a:r>
                        <a:rPr sz="1220">
                          <a:solidFill>
                            <a:srgbClr val="1C2940"/>
                          </a:solidFill>
                          <a:latin typeface="Aptos"/>
                          <a:ea typeface="Aptos"/>
                          <a:cs typeface="Aptos"/>
                        </a:rPr>
                        <a:t>03 · Explain</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Confidence, coverage, abstention, risk band, reasons and URL checks</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Reviewer can inspect why a result was produced</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r>
              <a:tr h="576072">
                <a:tc>
                  <a:txBody>
                    <a:bodyPr/>
                    <a:lstStyle/>
                    <a:p>
                      <a:pPr marL="0" indent="0">
                        <a:buNone/>
                      </a:pPr>
                      <a:r>
                        <a:rPr sz="1220">
                          <a:solidFill>
                            <a:srgbClr val="1C2940"/>
                          </a:solidFill>
                          <a:latin typeface="Aptos"/>
                          <a:ea typeface="Aptos"/>
                          <a:cs typeface="Aptos"/>
                        </a:rPr>
                        <a:t>04 · Accept</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Pasted text plus bounded PNG/JPEG OCR using local eng+hin Tesseract</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Same analysis service handles text and extracted OCR text</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r>
              <a:tr h="576072">
                <a:tc>
                  <a:txBody>
                    <a:bodyPr/>
                    <a:lstStyle/>
                    <a:p>
                      <a:pPr marL="0" indent="0">
                        <a:buNone/>
                      </a:pPr>
                      <a:r>
                        <a:rPr sz="1220">
                          <a:solidFill>
                            <a:srgbClr val="1C2940"/>
                          </a:solidFill>
                          <a:latin typeface="Aptos"/>
                          <a:ea typeface="Aptos"/>
                          <a:cs typeface="Aptos"/>
                        </a:rPr>
                        <a:t>05 · Connect</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Consent-gated SQLite retention and repeated-entity relationship graph</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c>
                  <a:txBody>
                    <a:bodyPr/>
                    <a:lstStyle/>
                    <a:p>
                      <a:pPr marL="0" indent="0">
                        <a:buNone/>
                      </a:pPr>
                      <a:r>
                        <a:rPr sz="1220">
                          <a:solidFill>
                            <a:srgbClr val="1C2940"/>
                          </a:solidFill>
                          <a:latin typeface="Aptos"/>
                          <a:ea typeface="Aptos"/>
                          <a:cs typeface="Aptos"/>
                        </a:rPr>
                        <a:t>Only unexpired retained cases contribute; graph stays observational</a:t>
                      </a:r>
                      <a:endParaRPr sz="1220">
                        <a:latin typeface="Aptos"/>
                        <a:ea typeface="Aptos"/>
                        <a:cs typeface="Aptos"/>
                      </a:endParaRPr>
                    </a:p>
                  </a:txBody>
                  <a:tcPr marL="73152" marR="73152" marT="73152" marB="73152" anchor="ctr">
                    <a:lnL w="8890" cmpd="sng">
                      <a:solidFill>
                        <a:srgbClr val="D7DEE8"/>
                      </a:solidFill>
                      <a:prstDash val="solid"/>
                    </a:lnL>
                    <a:lnR w="8890" cmpd="sng">
                      <a:solidFill>
                        <a:srgbClr val="D7DEE8"/>
                      </a:solidFill>
                      <a:prstDash val="solid"/>
                    </a:lnR>
                    <a:lnT w="8890" cmpd="sng">
                      <a:solidFill>
                        <a:srgbClr val="D7DEE8"/>
                      </a:solidFill>
                      <a:prstDash val="solid"/>
                    </a:lnT>
                    <a:lnB w="8890" cmpd="sng">
                      <a:solidFill>
                        <a:srgbClr val="D7DEE8"/>
                      </a:solidFill>
                      <a:prstDash val="solid"/>
                    </a:lnB>
                    <a:solidFill>
                      <a:srgbClr val="FFFFFF"/>
                    </a:solidFill>
                  </a:tcPr>
                </a:tc>
              </a:tr>
            </a:tbl>
          </a:graphicData>
        </a:graphic>
      </p:graphicFrame>
      <p:sp>
        <p:nvSpPr>
          <p:cNvPr id="8" name="Shape 4">
            <a:extLst xmlns:a="http://schemas.openxmlformats.org/drawingml/2006/main">
              <a:ext uri="{FF2B5EF4-FFF2-40B4-BE49-F238E27FC236}">
                <a16:creationId xmlns:a16="http://schemas.microsoft.com/office/drawing/2014/main" id="{A0F55B09-FBCF-44F3-9C79-A701A59F2D98}"/>
              </a:ext>
            </a:extLst>
          </p:cNvPr>
          <p:cNvSpPr>
            <a:spLocks xmlns:a="http://schemas.openxmlformats.org/drawingml/2006/main" noGrp="1"/>
          </p:cNvSpPr>
          <p:nvPr/>
        </p:nvSpPr>
        <p:spPr>
          <a:xfrm xmlns:a="http://schemas.openxmlformats.org/drawingml/2006/main">
            <a:off x="475488" y="4773168"/>
            <a:ext cx="3959352" cy="1536192"/>
          </a:xfrm>
          <a:prstGeom xmlns:a="http://schemas.openxmlformats.org/drawingml/2006/main" prst="roundRect">
            <a:avLst>
              <a:gd name="adj" fmla="val 4762"/>
            </a:avLst>
          </a:prstGeom>
          <a:solidFill xmlns:a="http://schemas.openxmlformats.org/drawingml/2006/main">
            <a:srgbClr val="EAF7F1"/>
          </a:solidFill>
          <a:ln xmlns:a="http://schemas.openxmlformats.org/drawingml/2006/main" w="10160">
            <a:solidFill>
              <a:srgbClr val="D7DEE8"/>
            </a:solidFill>
            <a:prstDash val="solid"/>
          </a:ln>
        </p:spPr>
      </p:sp>
      <p:sp>
        <p:nvSpPr>
          <p:cNvPr id="9" name="Shape 5">
            <a:extLst xmlns:a="http://schemas.openxmlformats.org/drawingml/2006/main">
              <a:ext uri="{FF2B5EF4-FFF2-40B4-BE49-F238E27FC236}">
                <a16:creationId xmlns:a16="http://schemas.microsoft.com/office/drawing/2014/main" id="{8A8C10A2-41EA-4124-B3CF-C3604FBD4352}"/>
              </a:ext>
            </a:extLst>
          </p:cNvPr>
          <p:cNvSpPr>
            <a:spLocks xmlns:a="http://schemas.openxmlformats.org/drawingml/2006/main" noGrp="1"/>
          </p:cNvSpPr>
          <p:nvPr/>
        </p:nvSpPr>
        <p:spPr>
          <a:xfrm xmlns:a="http://schemas.openxmlformats.org/drawingml/2006/main">
            <a:off x="475488" y="4773168"/>
            <a:ext cx="64008" cy="1536192"/>
          </a:xfrm>
          <a:prstGeom xmlns:a="http://schemas.openxmlformats.org/drawingml/2006/main" prst="rect">
            <a:avLst/>
          </a:prstGeom>
          <a:solidFill xmlns:a="http://schemas.openxmlformats.org/drawingml/2006/main">
            <a:srgbClr val="23805D"/>
          </a:solidFill>
          <a:ln xmlns:a="http://schemas.openxmlformats.org/drawingml/2006/main" w="12700">
            <a:solidFill>
              <a:srgbClr val="23805D">
                <a:alpha val="0"/>
              </a:srgbClr>
            </a:solidFill>
            <a:prstDash val="solid"/>
          </a:ln>
        </p:spPr>
      </p:sp>
      <p:sp>
        <p:nvSpPr>
          <p:cNvPr id="10" name="Text 6">
            <a:extLst xmlns:a="http://schemas.openxmlformats.org/drawingml/2006/main">
              <a:ext uri="{FF2B5EF4-FFF2-40B4-BE49-F238E27FC236}">
                <a16:creationId xmlns:a16="http://schemas.microsoft.com/office/drawing/2014/main" id="{B794AE51-1315-4BBF-82B2-865970715AEB}"/>
              </a:ext>
            </a:extLst>
          </p:cNvPr>
          <p:cNvSpPr>
            <a:spLocks xmlns:a="http://schemas.openxmlformats.org/drawingml/2006/main" noGrp="1"/>
          </p:cNvSpPr>
          <p:nvPr/>
        </p:nvSpPr>
        <p:spPr>
          <a:xfrm xmlns:a="http://schemas.openxmlformats.org/drawingml/2006/main">
            <a:off x="713232" y="4983480"/>
            <a:ext cx="329184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805D"/>
                </a:solidFill>
                <a:latin typeface="Aptos"/>
                <a:ea typeface="Aptos"/>
                <a:cs typeface="Aptos"/>
              </a:rPr>
              <a:t>IMPLEMENTED SCOPE</a:t>
            </a:r>
            <a:endParaRPr sz="1050"/>
          </a:p>
        </p:txBody>
      </p:sp>
      <p:sp>
        <p:nvSpPr>
          <p:cNvPr id="11" name="Text 7">
            <a:extLst xmlns:a="http://schemas.openxmlformats.org/drawingml/2006/main">
              <a:ext uri="{FF2B5EF4-FFF2-40B4-BE49-F238E27FC236}">
                <a16:creationId xmlns:a16="http://schemas.microsoft.com/office/drawing/2014/main" id="{F9F5FAA0-98B6-495A-A4F6-C880CED09C54}"/>
              </a:ext>
            </a:extLst>
          </p:cNvPr>
          <p:cNvSpPr>
            <a:spLocks xmlns:a="http://schemas.openxmlformats.org/drawingml/2006/main" noGrp="1"/>
          </p:cNvSpPr>
          <p:nvPr/>
        </p:nvSpPr>
        <p:spPr>
          <a:xfrm xmlns:a="http://schemas.openxmlformats.org/drawingml/2006/main">
            <a:off x="694944" y="5266944"/>
            <a:ext cx="3493008" cy="832104"/>
          </a:xfrm>
          <a:prstGeom xmlns:a="http://schemas.openxmlformats.org/drawingml/2006/main" prst="rect">
            <a:avLst/>
          </a:prstGeom>
          <a:noFill xmlns:a="http://schemas.openxmlformats.org/drawingml/2006/main"/>
        </p:spPr>
        <p:txBody>
          <a:bodyPr xmlns:a="http://schemas.openxmlformats.org/drawingml/2006/main" wrap="square" lIns="508" tIns="508" rIns="508" bIns="508" anchor="t">
            <a:normAutofit fontScale="94841"/>
          </a:bodyPr>
          <a:lstStyle xmlns:a="http://schemas.openxmlformats.org/drawingml/2006/main"/>
          <a:p xmlns:a="http://schemas.openxmlformats.org/drawingml/2006/main">
            <a:pPr marL="165100" indent="-165100">
              <a:buSzPct val="100000"/>
              <a:buChar char="•"/>
            </a:pPr>
            <a:r>
              <a:rPr sz="1150">
                <a:solidFill>
                  <a:srgbClr val="1C2940"/>
                </a:solidFill>
                <a:latin typeface="Aptos"/>
                <a:ea typeface="Aptos"/>
                <a:cs typeface="Aptos"/>
              </a:rPr>
              <a:t>Next.js website + FastAPI with health/readiness</a:t>
            </a:r>
            <a:endParaRPr sz="1150"/>
          </a:p>
          <a:p xmlns:a="http://schemas.openxmlformats.org/drawingml/2006/main">
            <a:pPr marL="165100" indent="-165100">
              <a:buSzPct val="100000"/>
              <a:buChar char="•"/>
            </a:pPr>
            <a:r>
              <a:rPr sz="1150">
                <a:solidFill>
                  <a:srgbClr val="1C2940"/>
                </a:solidFill>
                <a:latin typeface="Aptos"/>
                <a:ea typeface="Aptos"/>
                <a:cs typeface="Aptos"/>
              </a:rPr>
              <a:t>Eight-class text/screenshot triage + complaint draft</a:t>
            </a:r>
            <a:endParaRPr sz="1150"/>
          </a:p>
          <a:p xmlns:a="http://schemas.openxmlformats.org/drawingml/2006/main">
            <a:pPr marL="165100" indent="-165100">
              <a:buSzPct val="100000"/>
              <a:buChar char="•"/>
            </a:pPr>
            <a:r>
              <a:rPr sz="1150">
                <a:solidFill>
                  <a:srgbClr val="1C2940"/>
                </a:solidFill>
                <a:latin typeface="Aptos"/>
                <a:ea typeface="Aptos"/>
                <a:cs typeface="Aptos"/>
              </a:rPr>
              <a:t>Consent-gated retention, expiry + masked graph</a:t>
            </a:r>
            <a:endParaRPr sz="1150"/>
          </a:p>
          <a:p xmlns:a="http://schemas.openxmlformats.org/drawingml/2006/main">
            <a:pPr marL="165100" indent="-165100">
              <a:buSzPct val="100000"/>
              <a:buChar char="•"/>
            </a:pPr>
            <a:r>
              <a:rPr sz="1150">
                <a:solidFill>
                  <a:srgbClr val="1C2940"/>
                </a:solidFill>
                <a:latin typeface="Aptos"/>
                <a:ea typeface="Aptos"/>
                <a:cs typeface="Aptos"/>
              </a:rPr>
              <a:t>Docker Compose, hosted demo + reproducible evidence</a:t>
            </a:r>
            <a:endParaRPr sz="1150"/>
          </a:p>
        </p:txBody>
      </p:sp>
      <p:sp>
        <p:nvSpPr>
          <p:cNvPr id="12" name="Shape 8">
            <a:extLst xmlns:a="http://schemas.openxmlformats.org/drawingml/2006/main">
              <a:ext uri="{FF2B5EF4-FFF2-40B4-BE49-F238E27FC236}">
                <a16:creationId xmlns:a16="http://schemas.microsoft.com/office/drawing/2014/main" id="{25F3AD02-2E62-4382-8600-F7C7286CB12D}"/>
              </a:ext>
            </a:extLst>
          </p:cNvPr>
          <p:cNvSpPr>
            <a:spLocks xmlns:a="http://schemas.openxmlformats.org/drawingml/2006/main" noGrp="1"/>
          </p:cNvSpPr>
          <p:nvPr/>
        </p:nvSpPr>
        <p:spPr>
          <a:xfrm xmlns:a="http://schemas.openxmlformats.org/drawingml/2006/main">
            <a:off x="4700016" y="4773168"/>
            <a:ext cx="3968496" cy="1536192"/>
          </a:xfrm>
          <a:prstGeom xmlns:a="http://schemas.openxmlformats.org/drawingml/2006/main" prst="roundRect">
            <a:avLst>
              <a:gd name="adj" fmla="val 4762"/>
            </a:avLst>
          </a:prstGeom>
          <a:solidFill xmlns:a="http://schemas.openxmlformats.org/drawingml/2006/main">
            <a:srgbClr val="FCEDEF"/>
          </a:solidFill>
          <a:ln xmlns:a="http://schemas.openxmlformats.org/drawingml/2006/main" w="10160">
            <a:solidFill>
              <a:srgbClr val="D7DEE8"/>
            </a:solidFill>
            <a:prstDash val="solid"/>
          </a:ln>
        </p:spPr>
      </p:sp>
      <p:sp>
        <p:nvSpPr>
          <p:cNvPr id="13" name="Shape 9">
            <a:extLst xmlns:a="http://schemas.openxmlformats.org/drawingml/2006/main">
              <a:ext uri="{FF2B5EF4-FFF2-40B4-BE49-F238E27FC236}">
                <a16:creationId xmlns:a16="http://schemas.microsoft.com/office/drawing/2014/main" id="{79EBAC1C-12C5-4A3F-9846-18616046A0CC}"/>
              </a:ext>
            </a:extLst>
          </p:cNvPr>
          <p:cNvSpPr>
            <a:spLocks xmlns:a="http://schemas.openxmlformats.org/drawingml/2006/main" noGrp="1"/>
          </p:cNvSpPr>
          <p:nvPr/>
        </p:nvSpPr>
        <p:spPr>
          <a:xfrm xmlns:a="http://schemas.openxmlformats.org/drawingml/2006/main">
            <a:off x="4700016" y="4773168"/>
            <a:ext cx="64008" cy="1536192"/>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14" name="Text 10">
            <a:extLst xmlns:a="http://schemas.openxmlformats.org/drawingml/2006/main">
              <a:ext uri="{FF2B5EF4-FFF2-40B4-BE49-F238E27FC236}">
                <a16:creationId xmlns:a16="http://schemas.microsoft.com/office/drawing/2014/main" id="{79BE467A-2A7D-4AA2-AFC4-69809BEAA87F}"/>
              </a:ext>
            </a:extLst>
          </p:cNvPr>
          <p:cNvSpPr>
            <a:spLocks xmlns:a="http://schemas.openxmlformats.org/drawingml/2006/main" noGrp="1"/>
          </p:cNvSpPr>
          <p:nvPr/>
        </p:nvSpPr>
        <p:spPr>
          <a:xfrm xmlns:a="http://schemas.openxmlformats.org/drawingml/2006/main">
            <a:off x="4937760" y="4983480"/>
            <a:ext cx="329184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B32232"/>
                </a:solidFill>
                <a:latin typeface="Aptos"/>
                <a:ea typeface="Aptos"/>
                <a:cs typeface="Aptos"/>
              </a:rPr>
              <a:t>EXPLICITLY OUT OF SCOPE</a:t>
            </a:r>
            <a:endParaRPr sz="1050"/>
          </a:p>
        </p:txBody>
      </p:sp>
      <p:sp>
        <p:nvSpPr>
          <p:cNvPr id="15" name="Text 11">
            <a:extLst xmlns:a="http://schemas.openxmlformats.org/drawingml/2006/main">
              <a:ext uri="{FF2B5EF4-FFF2-40B4-BE49-F238E27FC236}">
                <a16:creationId xmlns:a16="http://schemas.microsoft.com/office/drawing/2014/main" id="{6AD4D463-63B0-4DA5-AAC0-4DAFB6CAE571}"/>
              </a:ext>
            </a:extLst>
          </p:cNvPr>
          <p:cNvSpPr>
            <a:spLocks xmlns:a="http://schemas.openxmlformats.org/drawingml/2006/main" noGrp="1"/>
          </p:cNvSpPr>
          <p:nvPr/>
        </p:nvSpPr>
        <p:spPr>
          <a:xfrm xmlns:a="http://schemas.openxmlformats.org/drawingml/2006/main">
            <a:off x="4919472" y="5266944"/>
            <a:ext cx="3511296" cy="832104"/>
          </a:xfrm>
          <a:prstGeom xmlns:a="http://schemas.openxmlformats.org/drawingml/2006/main" prst="rect">
            <a:avLst/>
          </a:prstGeom>
          <a:noFill xmlns:a="http://schemas.openxmlformats.org/drawingml/2006/main"/>
        </p:spPr>
        <p:txBody>
          <a:bodyPr xmlns:a="http://schemas.openxmlformats.org/drawingml/2006/main" wrap="square" lIns="508" tIns="508" rIns="508" bIns="508" anchor="t">
            <a:normAutofit fontScale="96147"/>
          </a:bodyPr>
          <a:lstStyle xmlns:a="http://schemas.openxmlformats.org/drawingml/2006/main"/>
          <a:p xmlns:a="http://schemas.openxmlformats.org/drawingml/2006/main">
            <a:pPr marL="165100" indent="-165100">
              <a:buSzPct val="100000"/>
              <a:buChar char="•"/>
            </a:pPr>
            <a:r>
              <a:rPr sz="1150">
                <a:solidFill>
                  <a:srgbClr val="1C2940"/>
                </a:solidFill>
                <a:latin typeface="Aptos"/>
                <a:ea typeface="Aptos"/>
                <a:cs typeface="Aptos"/>
              </a:rPr>
              <a:t>Automatic NCRP filing or account/transaction action</a:t>
            </a:r>
            <a:endParaRPr sz="1150"/>
          </a:p>
          <a:p xmlns:a="http://schemas.openxmlformats.org/drawingml/2006/main">
            <a:pPr marL="165100" indent="-165100">
              <a:buSzPct val="100000"/>
              <a:buChar char="•"/>
            </a:pPr>
            <a:r>
              <a:rPr sz="1150">
                <a:solidFill>
                  <a:srgbClr val="1C2940"/>
                </a:solidFill>
                <a:latin typeface="Aptos"/>
                <a:ea typeface="Aptos"/>
                <a:cs typeface="Aptos"/>
              </a:rPr>
              <a:t>Production, legal or victim-risk decisions</a:t>
            </a:r>
            <a:endParaRPr sz="1150"/>
          </a:p>
          <a:p xmlns:a="http://schemas.openxmlformats.org/drawingml/2006/main">
            <a:pPr marL="165100" indent="-165100">
              <a:buSzPct val="100000"/>
              <a:buChar char="•"/>
            </a:pPr>
            <a:r>
              <a:rPr sz="1150">
                <a:solidFill>
                  <a:srgbClr val="1C2940"/>
                </a:solidFill>
                <a:latin typeface="Aptos"/>
                <a:ea typeface="Aptos"/>
                <a:cs typeface="Aptos"/>
              </a:rPr>
              <a:t>Public multi-user operation or distributed rate limiting</a:t>
            </a:r>
            <a:endParaRPr sz="1150"/>
          </a:p>
          <a:p xmlns:a="http://schemas.openxmlformats.org/drawingml/2006/main">
            <a:pPr marL="165100" indent="-165100">
              <a:buSzPct val="100000"/>
              <a:buChar char="•"/>
            </a:pPr>
            <a:r>
              <a:rPr sz="1150">
                <a:solidFill>
                  <a:srgbClr val="1C2940"/>
                </a:solidFill>
                <a:latin typeface="Aptos"/>
                <a:ea typeface="Aptos"/>
                <a:cs typeface="Aptos"/>
              </a:rPr>
              <a:t>Transformer/GNN claims without task-specific labels</a:t>
            </a:r>
            <a:endParaRPr sz="1150"/>
          </a:p>
        </p:txBody>
      </p:sp>
    </p:spTree>
    <p:extLst>
      <p:ext uri="{BB962C8B-B14F-4D97-AF65-F5344CB8AC3E}">
        <p14:creationId xmlns:p14="http://schemas.microsoft.com/office/powerpoint/2010/main" val="702259819"/>
      </p:ext>
    </p:extLst>
  </p:cSld>
</p:sld>
</file>

<file path=ppt/slides/slide4.xml><?xml version="1.0" encoding="utf-8"?>
<p:sld xmlns:p="http://schemas.openxmlformats.org/presentationml/2006/main">
  <p:cSld>
    <p:bg>
      <p:bgPr>
        <a:blipFill xmlns:a="http://schemas.openxmlformats.org/drawingml/2006/main">
          <a:blip xmlns:r="http://schemas.openxmlformats.org/officeDocument/2006/relationships" r:embed="Ra281cd2cee21481e">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7B6C4AD-AB63-4453-BC22-8B85CDF0BCD7}"/>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Existing Solutions &amp; Research Positioning</a:t>
            </a:r>
            <a:endParaRPr sz="2700"/>
          </a:p>
        </p:txBody>
      </p:sp>
      <p:sp>
        <p:nvSpPr>
          <p:cNvPr id="3" name="Text 1">
            <a:extLst xmlns:a="http://schemas.openxmlformats.org/drawingml/2006/main">
              <a:ext uri="{FF2B5EF4-FFF2-40B4-BE49-F238E27FC236}">
                <a16:creationId xmlns:a16="http://schemas.microsoft.com/office/drawing/2014/main" id="{B80E8544-85E9-464B-A6D4-3B2C2A713CD9}"/>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3425"/>
          </a:bodyPr>
          <a:lstStyle xmlns:a="http://schemas.openxmlformats.org/drawingml/2006/main"/>
          <a:p xmlns:a="http://schemas.openxmlformats.org/drawingml/2006/main">
            <a:pPr marL="0" indent="0">
              <a:buNone/>
            </a:pPr>
            <a:r>
              <a:rPr sz="1350">
                <a:solidFill>
                  <a:srgbClr val="52627A"/>
                </a:solidFill>
                <a:latin typeface="Aptos"/>
                <a:ea typeface="Aptos"/>
                <a:cs typeface="Aptos"/>
              </a:rPr>
              <a:t>FraudLens is positioned as an inspectable evidence workflow; external accuracy values remain task- and dataset-specific context.</a:t>
            </a:r>
            <a:endParaRPr sz="1350"/>
          </a:p>
        </p:txBody>
      </p:sp>
      <p:pic>
        <p:nvPicPr>
          <p:cNvPr id="14" name="Image 0"/>
          <p:cNvPicPr>
            <a:picLocks xmlns:a="http://schemas.openxmlformats.org/drawingml/2006/main" noChangeAspect="1"/>
          </p:cNvPicPr>
          <p:nvPr/>
        </p:nvPicPr>
        <p:blipFill>
          <a:blip xmlns:r="http://schemas.openxmlformats.org/officeDocument/2006/relationships" xmlns:a="http://schemas.openxmlformats.org/drawingml/2006/main" r:embed="R2ebdec00d9e24582"/>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06D00F-B3EC-42BB-997C-34FA84F41DF9}"/>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NCRP [2]; Rani et al. [7]; Ghalechyan et al. [9]; financial-fraud GNN review [10]; Google Messages [15]</a:t>
            </a:r>
            <a:endParaRPr sz="830"/>
          </a:p>
        </p:txBody>
      </p:sp>
      <p:sp>
        <p:nvSpPr>
          <p:cNvPr id="6" name="Text 3">
            <a:extLst xmlns:a="http://schemas.openxmlformats.org/drawingml/2006/main">
              <a:ext uri="{FF2B5EF4-FFF2-40B4-BE49-F238E27FC236}">
                <a16:creationId xmlns:a16="http://schemas.microsoft.com/office/drawing/2014/main" id="{193D3E62-AB21-4420-BDFA-C915C32B8F0C}"/>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4</a:t>
            </a:r>
            <a:endParaRPr sz="900"/>
          </a:p>
        </p:txBody>
      </p:sp>
      <p:graphicFrame>
        <p:nvGraphicFramePr>
          <p:cNvPr id="17" name="Table 0"/>
          <p:cNvGraphicFramePr/>
          <p:nvPr/>
        </p:nvGraphicFramePr>
        <p:xfrm>
          <a:off xmlns:a="http://schemas.openxmlformats.org/drawingml/2006/main" x="411480" y="1133856"/>
          <a:ext xmlns:a="http://schemas.openxmlformats.org/drawingml/2006/main" cx="8321040" cy="4754880"/>
        </p:xfrm>
        <a:graphic xmlns:a="http://schemas.openxmlformats.org/drawingml/2006/main">
          <a:graphicData uri="http://schemas.openxmlformats.org/drawingml/2006/table">
            <a:tbl>
              <a:tblPr/>
              <a:tblGrid>
                <a:gridCol w="1920240"/>
                <a:gridCol w="1828800"/>
                <a:gridCol w="2148840"/>
                <a:gridCol w="2423160"/>
              </a:tblGrid>
              <a:tr h="420624">
                <a:tc>
                  <a:txBody>
                    <a:bodyPr/>
                    <a:lstStyle/>
                    <a:p>
                      <a:pPr marL="0" indent="0">
                        <a:buNone/>
                      </a:pPr>
                      <a:r>
                        <a:rPr sz="1070" b="1">
                          <a:solidFill>
                            <a:srgbClr val="FFFFFF"/>
                          </a:solidFill>
                          <a:latin typeface="Aptos"/>
                          <a:ea typeface="Aptos"/>
                          <a:cs typeface="Aptos"/>
                        </a:rPr>
                        <a:t>Solution / evidence</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18243A"/>
                    </a:solidFill>
                  </a:tcPr>
                </a:tc>
                <a:tc>
                  <a:txBody>
                    <a:bodyPr/>
                    <a:lstStyle/>
                    <a:p>
                      <a:pPr marL="0" indent="0">
                        <a:buNone/>
                      </a:pPr>
                      <a:r>
                        <a:rPr sz="1070" b="1">
                          <a:solidFill>
                            <a:srgbClr val="FFFFFF"/>
                          </a:solidFill>
                          <a:latin typeface="Aptos"/>
                          <a:ea typeface="Aptos"/>
                          <a:cs typeface="Aptos"/>
                        </a:rPr>
                        <a:t>Strength</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18243A"/>
                    </a:solidFill>
                  </a:tcPr>
                </a:tc>
                <a:tc>
                  <a:txBody>
                    <a:bodyPr/>
                    <a:lstStyle/>
                    <a:p>
                      <a:pPr marL="0" indent="0">
                        <a:buNone/>
                      </a:pPr>
                      <a:r>
                        <a:rPr sz="1070" b="1">
                          <a:solidFill>
                            <a:srgbClr val="FFFFFF"/>
                          </a:solidFill>
                          <a:latin typeface="Aptos"/>
                          <a:ea typeface="Aptos"/>
                          <a:cs typeface="Aptos"/>
                        </a:rPr>
                        <a:t>Weakness / boundary</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18243A"/>
                    </a:solidFill>
                  </a:tcPr>
                </a:tc>
                <a:tc>
                  <a:txBody>
                    <a:bodyPr/>
                    <a:lstStyle/>
                    <a:p>
                      <a:pPr marL="0" indent="0">
                        <a:buNone/>
                      </a:pPr>
                      <a:r>
                        <a:rPr sz="1070" b="1">
                          <a:solidFill>
                            <a:srgbClr val="FFFFFF"/>
                          </a:solidFill>
                          <a:latin typeface="Aptos"/>
                          <a:ea typeface="Aptos"/>
                          <a:cs typeface="Aptos"/>
                        </a:rPr>
                        <a:t>FraudLens position</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18243A"/>
                    </a:solidFill>
                  </a:tcPr>
                </a:tc>
              </a:tr>
              <a:tr h="685800">
                <a:tc>
                  <a:txBody>
                    <a:bodyPr/>
                    <a:lstStyle/>
                    <a:p>
                      <a:pPr marL="0" indent="0">
                        <a:buNone/>
                      </a:pPr>
                      <a:r>
                        <a:rPr sz="1070">
                          <a:solidFill>
                            <a:srgbClr val="1C2940"/>
                          </a:solidFill>
                          <a:latin typeface="Aptos"/>
                          <a:ea typeface="Aptos"/>
                          <a:cs typeface="Aptos"/>
                        </a:rPr>
                        <a:t>NCRP [2]</a:t>
                      </a:r>
                      <a:endParaRPr sz="1070">
                        <a:latin typeface="Aptos"/>
                        <a:ea typeface="Aptos"/>
                        <a:cs typeface="Aptos"/>
                      </a:endParaRPr>
                    </a:p>
                    <a:p>
                      <a:pPr marL="0" indent="0">
                        <a:buNone/>
                      </a:pPr>
                      <a:r>
                        <a:rPr sz="1070">
                          <a:solidFill>
                            <a:srgbClr val="1C2940"/>
                          </a:solidFill>
                          <a:latin typeface="Aptos"/>
                          <a:ea typeface="Aptos"/>
                          <a:cs typeface="Aptos"/>
                        </a:rPr>
                        <a:t>Official reporting; accuracy N/A</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Authoritative citizen complaint channel</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Reporting starts after users organize evidence</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Creates a reviewable evidence bundle and draft before manual reporting</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r>
              <a:tr h="685800">
                <a:tc>
                  <a:txBody>
                    <a:bodyPr/>
                    <a:lstStyle/>
                    <a:p>
                      <a:pPr marL="0" indent="0">
                        <a:buNone/>
                      </a:pPr>
                      <a:r>
                        <a:rPr sz="1070">
                          <a:solidFill>
                            <a:srgbClr val="1C2940"/>
                          </a:solidFill>
                          <a:latin typeface="Aptos"/>
                          <a:ea typeface="Aptos"/>
                          <a:cs typeface="Aptos"/>
                        </a:rPr>
                        <a:t>Google Messages [15]</a:t>
                      </a:r>
                      <a:endParaRPr sz="1070">
                        <a:latin typeface="Aptos"/>
                        <a:ea typeface="Aptos"/>
                        <a:cs typeface="Aptos"/>
                      </a:endParaRPr>
                    </a:p>
                    <a:p>
                      <a:pPr marL="0" indent="0">
                        <a:buNone/>
                      </a:pPr>
                      <a:r>
                        <a:rPr sz="1070">
                          <a:solidFill>
                            <a:srgbClr val="1C2940"/>
                          </a:solidFill>
                          <a:latin typeface="Aptos"/>
                          <a:ea typeface="Aptos"/>
                          <a:cs typeface="Aptos"/>
                        </a:rPr>
                        <a:t>Spam + URL protection; accuracy undisclosed</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Inbox-scale warning and filtering</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Decision internals and category evidence are not the project focus</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Exposes category, evidence, confidence, reasons and uncertainty</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r>
              <a:tr h="749808">
                <a:tc>
                  <a:txBody>
                    <a:bodyPr/>
                    <a:lstStyle/>
                    <a:p>
                      <a:pPr marL="0" indent="0">
                        <a:buNone/>
                      </a:pPr>
                      <a:r>
                        <a:rPr sz="1070">
                          <a:solidFill>
                            <a:srgbClr val="1C2940"/>
                          </a:solidFill>
                          <a:latin typeface="Aptos"/>
                          <a:ea typeface="Aptos"/>
                          <a:cs typeface="Aptos"/>
                        </a:rPr>
                        <a:t>HingRoBERTa [7]</a:t>
                      </a:r>
                      <a:endParaRPr sz="1070">
                        <a:latin typeface="Aptos"/>
                        <a:ea typeface="Aptos"/>
                        <a:cs typeface="Aptos"/>
                      </a:endParaRPr>
                    </a:p>
                    <a:p>
                      <a:pPr marL="0" indent="0">
                        <a:buNone/>
                      </a:pPr>
                      <a:r>
                        <a:rPr sz="1070">
                          <a:solidFill>
                            <a:srgbClr val="1C2940"/>
                          </a:solidFill>
                          <a:latin typeface="Aptos"/>
                          <a:ea typeface="Aptos"/>
                          <a:cs typeface="Aptos"/>
                        </a:rPr>
                        <a:t>74.41% accuracy; 71.49% F1</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Contextual Hinglish complaint classification</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Different I4C task/data; higher compute and fine-tuning cost</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Lightweight local baseline plus OCR, privacy and review workflow</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r>
              <a:tr h="685800">
                <a:tc>
                  <a:txBody>
                    <a:bodyPr/>
                    <a:lstStyle/>
                    <a:p>
                      <a:pPr marL="0" indent="0">
                        <a:buNone/>
                      </a:pPr>
                      <a:r>
                        <a:rPr sz="1070">
                          <a:solidFill>
                            <a:srgbClr val="1C2940"/>
                          </a:solidFill>
                          <a:latin typeface="Aptos"/>
                          <a:ea typeface="Aptos"/>
                          <a:cs typeface="Aptos"/>
                        </a:rPr>
                        <a:t>Neural URL detector [9]</a:t>
                      </a:r>
                      <a:endParaRPr sz="1070">
                        <a:latin typeface="Aptos"/>
                        <a:ea typeface="Aptos"/>
                        <a:cs typeface="Aptos"/>
                      </a:endParaRPr>
                    </a:p>
                    <a:p>
                      <a:pPr marL="0" indent="0">
                        <a:buNone/>
                      </a:pPr>
                      <a:r>
                        <a:rPr sz="1070">
                          <a:solidFill>
                            <a:srgbClr val="1C2940"/>
                          </a:solidFill>
                          <a:latin typeface="Aptos"/>
                          <a:ea typeface="Aptos"/>
                          <a:cs typeface="Aptos"/>
                        </a:rPr>
                        <a:t>~97% validation accuracy</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Large specialized binary URL detector</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Narrow task; not message/screenshot triage</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Uses URL checks as one visible signal within full-message analysis</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r>
              <a:tr h="749808">
                <a:tc>
                  <a:txBody>
                    <a:bodyPr/>
                    <a:lstStyle/>
                    <a:p>
                      <a:pPr marL="0" indent="0">
                        <a:buNone/>
                      </a:pPr>
                      <a:r>
                        <a:rPr sz="1070">
                          <a:solidFill>
                            <a:srgbClr val="1C2940"/>
                          </a:solidFill>
                          <a:latin typeface="Aptos"/>
                          <a:ea typeface="Aptos"/>
                          <a:cs typeface="Aptos"/>
                        </a:rPr>
                        <a:t>Financial-fraud GNNs [10]</a:t>
                      </a:r>
                      <a:endParaRPr sz="1070">
                        <a:latin typeface="Aptos"/>
                        <a:ea typeface="Aptos"/>
                        <a:cs typeface="Aptos"/>
                      </a:endParaRPr>
                    </a:p>
                    <a:p>
                      <a:pPr marL="0" indent="0">
                        <a:buNone/>
                      </a:pPr>
                      <a:r>
                        <a:rPr sz="1070">
                          <a:solidFill>
                            <a:srgbClr val="1C2940"/>
                          </a:solidFill>
                          <a:latin typeface="Aptos"/>
                          <a:ea typeface="Aptos"/>
                          <a:cs typeface="Aptos"/>
                        </a:rPr>
                        <a:t>No universal score</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Learns patterns in labelled temporal graphs</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Needs labels, time structure and imbalance controls</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Observational masked repeat graph; no GNN detection claim</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r>
              <a:tr h="777240">
                <a:tc>
                  <a:txBody>
                    <a:bodyPr/>
                    <a:lstStyle/>
                    <a:p>
                      <a:pPr marL="0" indent="0">
                        <a:buNone/>
                      </a:pPr>
                      <a:r>
                        <a:rPr sz="1070">
                          <a:solidFill>
                            <a:srgbClr val="1C2940"/>
                          </a:solidFill>
                          <a:latin typeface="Aptos"/>
                          <a:ea typeface="Aptos"/>
                          <a:cs typeface="Aptos"/>
                        </a:rPr>
                        <a:t>FraudLens Bharat</a:t>
                      </a:r>
                      <a:endParaRPr sz="1070">
                        <a:latin typeface="Aptos"/>
                        <a:ea typeface="Aptos"/>
                        <a:cs typeface="Aptos"/>
                      </a:endParaRPr>
                    </a:p>
                    <a:p>
                      <a:pPr marL="0" indent="0">
                        <a:buNone/>
                      </a:pPr>
                      <a:r>
                        <a:rPr sz="1070">
                          <a:solidFill>
                            <a:srgbClr val="1C2940"/>
                          </a:solidFill>
                          <a:latin typeface="Aptos"/>
                          <a:ea typeface="Aptos"/>
                          <a:cs typeface="Aptos"/>
                        </a:rPr>
                        <a:t>75% research candidate; 50% deployed runtime</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One inspectable path from intake to complaint draft</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64 synthetic fraud-only rows; eight-row frozen test</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c>
                  <a:txBody>
                    <a:bodyPr/>
                    <a:lstStyle/>
                    <a:p>
                      <a:pPr marL="0" indent="0">
                        <a:buNone/>
                      </a:pPr>
                      <a:r>
                        <a:rPr sz="1070">
                          <a:solidFill>
                            <a:srgbClr val="1C2940"/>
                          </a:solidFill>
                          <a:latin typeface="Aptos"/>
                          <a:ea typeface="Aptos"/>
                          <a:cs typeface="Aptos"/>
                        </a:rPr>
                        <a:t>Differentiator is end-to-end evidence handling and reproducibility</a:t>
                      </a:r>
                      <a:endParaRPr sz="1070">
                        <a:latin typeface="Aptos"/>
                        <a:ea typeface="Aptos"/>
                        <a:cs typeface="Aptos"/>
                      </a:endParaRPr>
                    </a:p>
                  </a:txBody>
                  <a:tcPr marL="54864" marR="54864" marT="54864" marB="54864" anchor="ctr">
                    <a:lnL w="6985" cmpd="sng">
                      <a:solidFill>
                        <a:srgbClr val="D7DEE8"/>
                      </a:solidFill>
                      <a:prstDash val="solid"/>
                    </a:lnL>
                    <a:lnR w="6985" cmpd="sng">
                      <a:solidFill>
                        <a:srgbClr val="D7DEE8"/>
                      </a:solidFill>
                      <a:prstDash val="solid"/>
                    </a:lnR>
                    <a:lnT w="6985" cmpd="sng">
                      <a:solidFill>
                        <a:srgbClr val="D7DEE8"/>
                      </a:solidFill>
                      <a:prstDash val="solid"/>
                    </a:lnT>
                    <a:lnB w="6985" cmpd="sng">
                      <a:solidFill>
                        <a:srgbClr val="D7DEE8"/>
                      </a:solidFill>
                      <a:prstDash val="solid"/>
                    </a:lnB>
                    <a:solidFill>
                      <a:srgbClr val="FFFFFF"/>
                    </a:solidFill>
                  </a:tcPr>
                </a:tc>
              </a:tr>
            </a:tbl>
          </a:graphicData>
        </a:graphic>
      </p:graphicFrame>
      <p:sp>
        <p:nvSpPr>
          <p:cNvPr id="8" name="Shape 4">
            <a:extLst xmlns:a="http://schemas.openxmlformats.org/drawingml/2006/main">
              <a:ext uri="{FF2B5EF4-FFF2-40B4-BE49-F238E27FC236}">
                <a16:creationId xmlns:a16="http://schemas.microsoft.com/office/drawing/2014/main" id="{E3DEBF00-0F71-4B6C-9C17-E882E00E5F34}"/>
              </a:ext>
            </a:extLst>
          </p:cNvPr>
          <p:cNvSpPr>
            <a:spLocks xmlns:a="http://schemas.openxmlformats.org/drawingml/2006/main" noGrp="1"/>
          </p:cNvSpPr>
          <p:nvPr/>
        </p:nvSpPr>
        <p:spPr>
          <a:xfrm xmlns:a="http://schemas.openxmlformats.org/drawingml/2006/main">
            <a:off x="475488" y="6016752"/>
            <a:ext cx="8193024" cy="393192"/>
          </a:xfrm>
          <a:prstGeom xmlns:a="http://schemas.openxmlformats.org/drawingml/2006/main" prst="roundRect">
            <a:avLst>
              <a:gd name="adj" fmla="val 18605"/>
            </a:avLst>
          </a:prstGeom>
          <a:solidFill xmlns:a="http://schemas.openxmlformats.org/drawingml/2006/main">
            <a:srgbClr val="FFF7DF"/>
          </a:solidFill>
          <a:ln xmlns:a="http://schemas.openxmlformats.org/drawingml/2006/main" w="10160">
            <a:solidFill>
              <a:srgbClr val="E8CD7D"/>
            </a:solidFill>
            <a:prstDash val="solid"/>
          </a:ln>
        </p:spPr>
      </p:sp>
      <p:sp>
        <p:nvSpPr>
          <p:cNvPr id="9" name="Text 5">
            <a:extLst xmlns:a="http://schemas.openxmlformats.org/drawingml/2006/main">
              <a:ext uri="{FF2B5EF4-FFF2-40B4-BE49-F238E27FC236}">
                <a16:creationId xmlns:a16="http://schemas.microsoft.com/office/drawing/2014/main" id="{44CD0266-5014-42E4-A6B7-FAD6EE055602}"/>
              </a:ext>
            </a:extLst>
          </p:cNvPr>
          <p:cNvSpPr>
            <a:spLocks xmlns:a="http://schemas.openxmlformats.org/drawingml/2006/main" noGrp="1"/>
          </p:cNvSpPr>
          <p:nvPr/>
        </p:nvSpPr>
        <p:spPr>
          <a:xfrm xmlns:a="http://schemas.openxmlformats.org/drawingml/2006/main">
            <a:off x="667512" y="6126480"/>
            <a:ext cx="7808976"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7614"/>
          </a:bodyPr>
          <a:lstStyle xmlns:a="http://schemas.openxmlformats.org/drawingml/2006/main"/>
          <a:p xmlns:a="http://schemas.openxmlformats.org/drawingml/2006/main">
            <a:pPr marL="0" indent="0">
              <a:buNone/>
            </a:pPr>
            <a:r>
              <a:rPr sz="1080" b="1">
                <a:solidFill>
                  <a:srgbClr val="715400"/>
                </a:solidFill>
                <a:latin typeface="Aptos"/>
                <a:ea typeface="Aptos"/>
                <a:cs typeface="Aptos"/>
              </a:rPr>
              <a:t>Compare: Macro-F1 + balanced accuracy · calibration/Brier · coverage + abstention · MCC · fitted bytes · privacy · explainability · workflow completeness.</a:t>
            </a:r>
            <a:endParaRPr sz="1080"/>
          </a:p>
        </p:txBody>
      </p:sp>
    </p:spTree>
    <p:extLst>
      <p:ext uri="{BB962C8B-B14F-4D97-AF65-F5344CB8AC3E}">
        <p14:creationId xmlns:p14="http://schemas.microsoft.com/office/powerpoint/2010/main" val="566010844"/>
      </p:ext>
    </p:extLst>
  </p:cSld>
</p:sld>
</file>

<file path=ppt/slides/slide5.xml><?xml version="1.0" encoding="utf-8"?>
<p:sld xmlns:p="http://schemas.openxmlformats.org/presentationml/2006/main">
  <p:cSld>
    <p:bg>
      <p:bgPr>
        <a:blipFill xmlns:a="http://schemas.openxmlformats.org/drawingml/2006/main">
          <a:blip xmlns:r="http://schemas.openxmlformats.org/officeDocument/2006/relationships" r:embed="Rf0a75bab4ae94de8">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291679C-5B6C-4848-8E00-BDBE757FCA4A}"/>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System Architecture &amp; Data Flow</a:t>
            </a:r>
            <a:endParaRPr sz="2700"/>
          </a:p>
        </p:txBody>
      </p:sp>
      <p:sp>
        <p:nvSpPr>
          <p:cNvPr id="3" name="Text 1">
            <a:extLst xmlns:a="http://schemas.openxmlformats.org/drawingml/2006/main">
              <a:ext uri="{FF2B5EF4-FFF2-40B4-BE49-F238E27FC236}">
                <a16:creationId xmlns:a16="http://schemas.microsoft.com/office/drawing/2014/main" id="{BAB92315-0980-4BD3-9BDD-E38CE09F1F10}"/>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4919"/>
          </a:bodyPr>
          <a:lstStyle xmlns:a="http://schemas.openxmlformats.org/drawingml/2006/main"/>
          <a:p xmlns:a="http://schemas.openxmlformats.org/drawingml/2006/main">
            <a:pPr marL="0" indent="0">
              <a:buNone/>
            </a:pPr>
            <a:r>
              <a:rPr sz="1350">
                <a:solidFill>
                  <a:srgbClr val="52627A"/>
                </a:solidFill>
                <a:latin typeface="Aptos"/>
                <a:ea typeface="Aptos"/>
                <a:cs typeface="Aptos"/>
              </a:rPr>
              <a:t>A same-origin web gateway connects the research interface to one bounded analysis service and consent-aware evidence store.</a:t>
            </a:r>
            <a:endParaRPr sz="1350"/>
          </a:p>
        </p:txBody>
      </p:sp>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9081bfab7ac844dd"/>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7488063E-E761-48E6-B160-77045EB76DC3}"/>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README.md architecture; final_capstone_report.md §§3–5; render.yaml; web API routes</a:t>
            </a:r>
            <a:endParaRPr sz="830"/>
          </a:p>
        </p:txBody>
      </p:sp>
      <p:sp>
        <p:nvSpPr>
          <p:cNvPr id="6" name="Text 3">
            <a:extLst xmlns:a="http://schemas.openxmlformats.org/drawingml/2006/main">
              <a:ext uri="{FF2B5EF4-FFF2-40B4-BE49-F238E27FC236}">
                <a16:creationId xmlns:a16="http://schemas.microsoft.com/office/drawing/2014/main" id="{C9DAE979-A0A9-4832-918E-FC9F34861CBC}"/>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5</a:t>
            </a:r>
            <a:endParaRPr sz="900"/>
          </a:p>
        </p:txBody>
      </p:sp>
      <p:sp>
        <p:nvSpPr>
          <p:cNvPr id="7" name="Shape 4">
            <a:extLst xmlns:a="http://schemas.openxmlformats.org/drawingml/2006/main">
              <a:ext uri="{FF2B5EF4-FFF2-40B4-BE49-F238E27FC236}">
                <a16:creationId xmlns:a16="http://schemas.microsoft.com/office/drawing/2014/main" id="{499443FD-1798-4D9B-9F1D-06CCB363E343}"/>
              </a:ext>
            </a:extLst>
          </p:cNvPr>
          <p:cNvSpPr>
            <a:spLocks xmlns:a="http://schemas.openxmlformats.org/drawingml/2006/main" noGrp="1"/>
          </p:cNvSpPr>
          <p:nvPr/>
        </p:nvSpPr>
        <p:spPr>
          <a:xfrm xmlns:a="http://schemas.openxmlformats.org/drawingml/2006/main">
            <a:off x="438912" y="1261872"/>
            <a:ext cx="1572768" cy="1417320"/>
          </a:xfrm>
          <a:prstGeom xmlns:a="http://schemas.openxmlformats.org/drawingml/2006/main" prst="roundRect">
            <a:avLst>
              <a:gd name="adj" fmla="val 5161"/>
            </a:avLst>
          </a:prstGeom>
          <a:solidFill xmlns:a="http://schemas.openxmlformats.org/drawingml/2006/main">
            <a:srgbClr val="FFFFFF"/>
          </a:solidFill>
          <a:ln xmlns:a="http://schemas.openxmlformats.org/drawingml/2006/main" w="10160">
            <a:solidFill>
              <a:srgbClr val="542073"/>
            </a:solidFill>
            <a:prstDash val="solid"/>
          </a:ln>
        </p:spPr>
      </p:sp>
      <p:sp>
        <p:nvSpPr>
          <p:cNvPr id="8" name="Shape 5">
            <a:extLst xmlns:a="http://schemas.openxmlformats.org/drawingml/2006/main">
              <a:ext uri="{FF2B5EF4-FFF2-40B4-BE49-F238E27FC236}">
                <a16:creationId xmlns:a16="http://schemas.microsoft.com/office/drawing/2014/main" id="{1627BABE-B770-4295-8691-46CCE5D680F9}"/>
              </a:ext>
            </a:extLst>
          </p:cNvPr>
          <p:cNvSpPr>
            <a:spLocks xmlns:a="http://schemas.openxmlformats.org/drawingml/2006/main" noGrp="1"/>
          </p:cNvSpPr>
          <p:nvPr/>
        </p:nvSpPr>
        <p:spPr>
          <a:xfrm xmlns:a="http://schemas.openxmlformats.org/drawingml/2006/main">
            <a:off x="548640" y="1408176"/>
            <a:ext cx="320040" cy="320040"/>
          </a:xfrm>
          <a:prstGeom xmlns:a="http://schemas.openxmlformats.org/drawingml/2006/main" prst="ellipse">
            <a:avLst/>
          </a:prstGeom>
          <a:solidFill xmlns:a="http://schemas.openxmlformats.org/drawingml/2006/main">
            <a:srgbClr val="542073"/>
          </a:solidFill>
          <a:ln xmlns:a="http://schemas.openxmlformats.org/drawingml/2006/main" w="12700">
            <a:solidFill>
              <a:srgbClr val="542073">
                <a:alpha val="0"/>
              </a:srgbClr>
            </a:solidFill>
            <a:prstDash val="solid"/>
          </a:ln>
        </p:spPr>
      </p:sp>
      <p:sp>
        <p:nvSpPr>
          <p:cNvPr id="9" name="Text 6">
            <a:extLst xmlns:a="http://schemas.openxmlformats.org/drawingml/2006/main">
              <a:ext uri="{FF2B5EF4-FFF2-40B4-BE49-F238E27FC236}">
                <a16:creationId xmlns:a16="http://schemas.microsoft.com/office/drawing/2014/main" id="{BF2E7472-C789-4DD7-9C88-46AA9340A86A}"/>
              </a:ext>
            </a:extLst>
          </p:cNvPr>
          <p:cNvSpPr>
            <a:spLocks xmlns:a="http://schemas.openxmlformats.org/drawingml/2006/main" noGrp="1"/>
          </p:cNvSpPr>
          <p:nvPr/>
        </p:nvSpPr>
        <p:spPr>
          <a:xfrm xmlns:a="http://schemas.openxmlformats.org/drawingml/2006/main">
            <a:off x="548640" y="1408176"/>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1</a:t>
            </a:r>
            <a:endParaRPr sz="1050"/>
          </a:p>
        </p:txBody>
      </p:sp>
      <p:sp>
        <p:nvSpPr>
          <p:cNvPr id="10" name="Text 7">
            <a:extLst xmlns:a="http://schemas.openxmlformats.org/drawingml/2006/main">
              <a:ext uri="{FF2B5EF4-FFF2-40B4-BE49-F238E27FC236}">
                <a16:creationId xmlns:a16="http://schemas.microsoft.com/office/drawing/2014/main" id="{F1E4C272-A71F-447E-A5A9-804F7BE9BC7F}"/>
              </a:ext>
            </a:extLst>
          </p:cNvPr>
          <p:cNvSpPr>
            <a:spLocks xmlns:a="http://schemas.openxmlformats.org/drawingml/2006/main" noGrp="1"/>
          </p:cNvSpPr>
          <p:nvPr/>
        </p:nvSpPr>
        <p:spPr>
          <a:xfrm xmlns:a="http://schemas.openxmlformats.org/drawingml/2006/main">
            <a:off x="950976" y="1380744"/>
            <a:ext cx="95097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450" b="1">
                <a:solidFill>
                  <a:srgbClr val="1C2940"/>
                </a:solidFill>
                <a:latin typeface="Aptos Display"/>
                <a:ea typeface="Aptos Display"/>
                <a:cs typeface="Aptos Display"/>
              </a:rPr>
              <a:t>Evidence intake</a:t>
            </a:r>
            <a:endParaRPr sz="1450"/>
          </a:p>
        </p:txBody>
      </p:sp>
      <p:sp>
        <p:nvSpPr>
          <p:cNvPr id="11" name="Text 8">
            <a:extLst xmlns:a="http://schemas.openxmlformats.org/drawingml/2006/main">
              <a:ext uri="{FF2B5EF4-FFF2-40B4-BE49-F238E27FC236}">
                <a16:creationId xmlns:a16="http://schemas.microsoft.com/office/drawing/2014/main" id="{56C20686-B10C-4107-B29F-EB467B7C5E9E}"/>
              </a:ext>
            </a:extLst>
          </p:cNvPr>
          <p:cNvSpPr>
            <a:spLocks xmlns:a="http://schemas.openxmlformats.org/drawingml/2006/main" noGrp="1"/>
          </p:cNvSpPr>
          <p:nvPr/>
        </p:nvSpPr>
        <p:spPr>
          <a:xfrm xmlns:a="http://schemas.openxmlformats.org/drawingml/2006/main">
            <a:off x="566928" y="1737360"/>
            <a:ext cx="1316736" cy="8503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buNone/>
            </a:pPr>
            <a:r>
              <a:rPr sz="1130">
                <a:solidFill>
                  <a:srgbClr val="52627A"/>
                </a:solidFill>
                <a:latin typeface="Aptos"/>
                <a:ea typeface="Aptos"/>
                <a:cs typeface="Aptos"/>
              </a:rPr>
              <a:t>Text ≤20k characters or PNG/JPEG screenshot ≤4 MB</a:t>
            </a:r>
            <a:r>
              <a:rPr sz="1130">
                <a:solidFill>
                  <a:srgbClr val="52627A"/>
                </a:solidFill>
                <a:latin typeface="Aptos"/>
                <a:ea typeface="Aptos"/>
                <a:cs typeface="Aptos"/>
              </a:rPr>
              <a:t>.</a:t>
            </a:r>
            <a:endParaRPr sz="1130"/>
          </a:p>
        </p:txBody>
      </p:sp>
      <p:sp>
        <p:nvSpPr>
          <p:cNvPr id="12" name="Shape 9">
            <a:extLst xmlns:a="http://schemas.openxmlformats.org/drawingml/2006/main">
              <a:ext uri="{FF2B5EF4-FFF2-40B4-BE49-F238E27FC236}">
                <a16:creationId xmlns:a16="http://schemas.microsoft.com/office/drawing/2014/main" id="{3028C80B-401E-407F-B6DE-46A77902D4E5}"/>
              </a:ext>
            </a:extLst>
          </p:cNvPr>
          <p:cNvSpPr>
            <a:spLocks xmlns:a="http://schemas.openxmlformats.org/drawingml/2006/main" noGrp="1"/>
          </p:cNvSpPr>
          <p:nvPr/>
        </p:nvSpPr>
        <p:spPr>
          <a:xfrm xmlns:a="http://schemas.openxmlformats.org/drawingml/2006/main">
            <a:off x="2057400" y="1755648"/>
            <a:ext cx="256032" cy="310896"/>
          </a:xfrm>
          <a:prstGeom xmlns:a="http://schemas.openxmlformats.org/drawingml/2006/main" prst="chevron">
            <a:avLst/>
          </a:prstGeom>
          <a:solidFill xmlns:a="http://schemas.openxmlformats.org/drawingml/2006/main">
            <a:srgbClr val="542073">
              <a:alpha val="90000"/>
            </a:srgbClr>
          </a:solidFill>
          <a:ln xmlns:a="http://schemas.openxmlformats.org/drawingml/2006/main" w="12700">
            <a:solidFill>
              <a:srgbClr val="542073">
                <a:alpha val="0"/>
              </a:srgbClr>
            </a:solidFill>
            <a:prstDash val="solid"/>
          </a:ln>
        </p:spPr>
      </p:sp>
      <p:sp>
        <p:nvSpPr>
          <p:cNvPr id="13" name="Shape 10">
            <a:extLst xmlns:a="http://schemas.openxmlformats.org/drawingml/2006/main">
              <a:ext uri="{FF2B5EF4-FFF2-40B4-BE49-F238E27FC236}">
                <a16:creationId xmlns:a16="http://schemas.microsoft.com/office/drawing/2014/main" id="{1BCB5171-1D1E-4B6B-8CE1-1A46F1A79EEA}"/>
              </a:ext>
            </a:extLst>
          </p:cNvPr>
          <p:cNvSpPr>
            <a:spLocks xmlns:a="http://schemas.openxmlformats.org/drawingml/2006/main" noGrp="1"/>
          </p:cNvSpPr>
          <p:nvPr/>
        </p:nvSpPr>
        <p:spPr>
          <a:xfrm xmlns:a="http://schemas.openxmlformats.org/drawingml/2006/main">
            <a:off x="2359152" y="1261872"/>
            <a:ext cx="1572768" cy="1417320"/>
          </a:xfrm>
          <a:prstGeom xmlns:a="http://schemas.openxmlformats.org/drawingml/2006/main" prst="roundRect">
            <a:avLst>
              <a:gd name="adj" fmla="val 5161"/>
            </a:avLst>
          </a:prstGeom>
          <a:solidFill xmlns:a="http://schemas.openxmlformats.org/drawingml/2006/main">
            <a:srgbClr val="FFFFFF"/>
          </a:solidFill>
          <a:ln xmlns:a="http://schemas.openxmlformats.org/drawingml/2006/main" w="10160">
            <a:solidFill>
              <a:srgbClr val="009CAB"/>
            </a:solidFill>
            <a:prstDash val="solid"/>
          </a:ln>
        </p:spPr>
      </p:sp>
      <p:sp>
        <p:nvSpPr>
          <p:cNvPr id="14" name="Shape 11">
            <a:extLst xmlns:a="http://schemas.openxmlformats.org/drawingml/2006/main">
              <a:ext uri="{FF2B5EF4-FFF2-40B4-BE49-F238E27FC236}">
                <a16:creationId xmlns:a16="http://schemas.microsoft.com/office/drawing/2014/main" id="{0ADDCFD2-7731-4135-BA5C-98DC8B33158B}"/>
              </a:ext>
            </a:extLst>
          </p:cNvPr>
          <p:cNvSpPr>
            <a:spLocks xmlns:a="http://schemas.openxmlformats.org/drawingml/2006/main" noGrp="1"/>
          </p:cNvSpPr>
          <p:nvPr/>
        </p:nvSpPr>
        <p:spPr>
          <a:xfrm xmlns:a="http://schemas.openxmlformats.org/drawingml/2006/main">
            <a:off x="2468880" y="1408176"/>
            <a:ext cx="320040" cy="320040"/>
          </a:xfrm>
          <a:prstGeom xmlns:a="http://schemas.openxmlformats.org/drawingml/2006/main" prst="ellipse">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15" name="Text 12">
            <a:extLst xmlns:a="http://schemas.openxmlformats.org/drawingml/2006/main">
              <a:ext uri="{FF2B5EF4-FFF2-40B4-BE49-F238E27FC236}">
                <a16:creationId xmlns:a16="http://schemas.microsoft.com/office/drawing/2014/main" id="{03A17A6D-91F5-4538-A79A-4ECA9CDEA4B8}"/>
              </a:ext>
            </a:extLst>
          </p:cNvPr>
          <p:cNvSpPr>
            <a:spLocks xmlns:a="http://schemas.openxmlformats.org/drawingml/2006/main" noGrp="1"/>
          </p:cNvSpPr>
          <p:nvPr/>
        </p:nvSpPr>
        <p:spPr>
          <a:xfrm xmlns:a="http://schemas.openxmlformats.org/drawingml/2006/main">
            <a:off x="2468880" y="1408176"/>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2</a:t>
            </a:r>
            <a:endParaRPr sz="1050"/>
          </a:p>
        </p:txBody>
      </p:sp>
      <p:sp>
        <p:nvSpPr>
          <p:cNvPr id="16" name="Text 13">
            <a:extLst xmlns:a="http://schemas.openxmlformats.org/drawingml/2006/main">
              <a:ext uri="{FF2B5EF4-FFF2-40B4-BE49-F238E27FC236}">
                <a16:creationId xmlns:a16="http://schemas.microsoft.com/office/drawing/2014/main" id="{F73E9D26-25CD-4874-A0EB-31BA052B6243}"/>
              </a:ext>
            </a:extLst>
          </p:cNvPr>
          <p:cNvSpPr>
            <a:spLocks xmlns:a="http://schemas.openxmlformats.org/drawingml/2006/main" noGrp="1"/>
          </p:cNvSpPr>
          <p:nvPr/>
        </p:nvSpPr>
        <p:spPr>
          <a:xfrm xmlns:a="http://schemas.openxmlformats.org/drawingml/2006/main">
            <a:off x="2871216" y="1380744"/>
            <a:ext cx="95097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450" b="1">
                <a:solidFill>
                  <a:srgbClr val="1C2940"/>
                </a:solidFill>
                <a:latin typeface="Aptos Display"/>
                <a:ea typeface="Aptos Display"/>
                <a:cs typeface="Aptos Display"/>
              </a:rPr>
              <a:t>Next.js gateway</a:t>
            </a:r>
            <a:endParaRPr sz="1450"/>
          </a:p>
        </p:txBody>
      </p:sp>
      <p:sp>
        <p:nvSpPr>
          <p:cNvPr id="17" name="Text 14">
            <a:extLst xmlns:a="http://schemas.openxmlformats.org/drawingml/2006/main">
              <a:ext uri="{FF2B5EF4-FFF2-40B4-BE49-F238E27FC236}">
                <a16:creationId xmlns:a16="http://schemas.microsoft.com/office/drawing/2014/main" id="{39CC92DD-F42D-4068-867D-4E486E1C128D}"/>
              </a:ext>
            </a:extLst>
          </p:cNvPr>
          <p:cNvSpPr>
            <a:spLocks xmlns:a="http://schemas.openxmlformats.org/drawingml/2006/main" noGrp="1"/>
          </p:cNvSpPr>
          <p:nvPr/>
        </p:nvSpPr>
        <p:spPr>
          <a:xfrm xmlns:a="http://schemas.openxmlformats.org/drawingml/2006/main">
            <a:off x="2487168" y="1737360"/>
            <a:ext cx="1316736" cy="8503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1130">
                <a:solidFill>
                  <a:srgbClr val="52627A"/>
                </a:solidFill>
                <a:latin typeface="Aptos"/>
                <a:ea typeface="Aptos"/>
                <a:cs typeface="Aptos"/>
              </a:rPr>
              <a:t>Vercel UI, same-origin BFF, server-only FastAPI URL and optional gateway key.</a:t>
            </a:r>
            <a:endParaRPr sz="1130"/>
          </a:p>
        </p:txBody>
      </p:sp>
      <p:sp>
        <p:nvSpPr>
          <p:cNvPr id="18" name="Shape 15">
            <a:extLst xmlns:a="http://schemas.openxmlformats.org/drawingml/2006/main">
              <a:ext uri="{FF2B5EF4-FFF2-40B4-BE49-F238E27FC236}">
                <a16:creationId xmlns:a16="http://schemas.microsoft.com/office/drawing/2014/main" id="{C17B7D1A-34FA-4D8B-9BB3-D39EFE874139}"/>
              </a:ext>
            </a:extLst>
          </p:cNvPr>
          <p:cNvSpPr>
            <a:spLocks xmlns:a="http://schemas.openxmlformats.org/drawingml/2006/main" noGrp="1"/>
          </p:cNvSpPr>
          <p:nvPr/>
        </p:nvSpPr>
        <p:spPr>
          <a:xfrm xmlns:a="http://schemas.openxmlformats.org/drawingml/2006/main">
            <a:off x="3977640" y="1755648"/>
            <a:ext cx="256032" cy="310896"/>
          </a:xfrm>
          <a:prstGeom xmlns:a="http://schemas.openxmlformats.org/drawingml/2006/main" prst="chevron">
            <a:avLst/>
          </a:prstGeom>
          <a:solidFill xmlns:a="http://schemas.openxmlformats.org/drawingml/2006/main">
            <a:srgbClr val="009CAB">
              <a:alpha val="90000"/>
            </a:srgbClr>
          </a:solidFill>
          <a:ln xmlns:a="http://schemas.openxmlformats.org/drawingml/2006/main" w="12700">
            <a:solidFill>
              <a:srgbClr val="009CAB">
                <a:alpha val="0"/>
              </a:srgbClr>
            </a:solidFill>
            <a:prstDash val="solid"/>
          </a:ln>
        </p:spPr>
      </p:sp>
      <p:sp>
        <p:nvSpPr>
          <p:cNvPr id="19" name="Shape 16">
            <a:extLst xmlns:a="http://schemas.openxmlformats.org/drawingml/2006/main">
              <a:ext uri="{FF2B5EF4-FFF2-40B4-BE49-F238E27FC236}">
                <a16:creationId xmlns:a16="http://schemas.microsoft.com/office/drawing/2014/main" id="{CDCB5F09-7608-4778-87C2-F860EE7F77EA}"/>
              </a:ext>
            </a:extLst>
          </p:cNvPr>
          <p:cNvSpPr>
            <a:spLocks xmlns:a="http://schemas.openxmlformats.org/drawingml/2006/main" noGrp="1"/>
          </p:cNvSpPr>
          <p:nvPr/>
        </p:nvSpPr>
        <p:spPr>
          <a:xfrm xmlns:a="http://schemas.openxmlformats.org/drawingml/2006/main">
            <a:off x="4279392" y="1261872"/>
            <a:ext cx="1572768" cy="1417320"/>
          </a:xfrm>
          <a:prstGeom xmlns:a="http://schemas.openxmlformats.org/drawingml/2006/main" prst="roundRect">
            <a:avLst>
              <a:gd name="adj" fmla="val 5161"/>
            </a:avLst>
          </a:prstGeom>
          <a:solidFill xmlns:a="http://schemas.openxmlformats.org/drawingml/2006/main">
            <a:srgbClr val="FFFFFF"/>
          </a:solidFill>
          <a:ln xmlns:a="http://schemas.openxmlformats.org/drawingml/2006/main" w="10160">
            <a:solidFill>
              <a:srgbClr val="E8AD12"/>
            </a:solidFill>
            <a:prstDash val="solid"/>
          </a:ln>
        </p:spPr>
      </p:sp>
      <p:sp>
        <p:nvSpPr>
          <p:cNvPr id="20" name="Shape 17">
            <a:extLst xmlns:a="http://schemas.openxmlformats.org/drawingml/2006/main">
              <a:ext uri="{FF2B5EF4-FFF2-40B4-BE49-F238E27FC236}">
                <a16:creationId xmlns:a16="http://schemas.microsoft.com/office/drawing/2014/main" id="{E216E1EC-441F-4BF9-8EB3-3B8A465732F0}"/>
              </a:ext>
            </a:extLst>
          </p:cNvPr>
          <p:cNvSpPr>
            <a:spLocks xmlns:a="http://schemas.openxmlformats.org/drawingml/2006/main" noGrp="1"/>
          </p:cNvSpPr>
          <p:nvPr/>
        </p:nvSpPr>
        <p:spPr>
          <a:xfrm xmlns:a="http://schemas.openxmlformats.org/drawingml/2006/main">
            <a:off x="4389120" y="1408176"/>
            <a:ext cx="320040" cy="320040"/>
          </a:xfrm>
          <a:prstGeom xmlns:a="http://schemas.openxmlformats.org/drawingml/2006/main" prst="ellipse">
            <a:avLst/>
          </a:prstGeom>
          <a:solidFill xmlns:a="http://schemas.openxmlformats.org/drawingml/2006/main">
            <a:srgbClr val="E8AD12"/>
          </a:solidFill>
          <a:ln xmlns:a="http://schemas.openxmlformats.org/drawingml/2006/main" w="12700">
            <a:solidFill>
              <a:srgbClr val="E8AD12">
                <a:alpha val="0"/>
              </a:srgbClr>
            </a:solidFill>
            <a:prstDash val="solid"/>
          </a:ln>
        </p:spPr>
      </p:sp>
      <p:sp>
        <p:nvSpPr>
          <p:cNvPr id="21" name="Text 18">
            <a:extLst xmlns:a="http://schemas.openxmlformats.org/drawingml/2006/main">
              <a:ext uri="{FF2B5EF4-FFF2-40B4-BE49-F238E27FC236}">
                <a16:creationId xmlns:a16="http://schemas.microsoft.com/office/drawing/2014/main" id="{B321581E-2841-419B-96F4-6765C01ED8F9}"/>
              </a:ext>
            </a:extLst>
          </p:cNvPr>
          <p:cNvSpPr>
            <a:spLocks xmlns:a="http://schemas.openxmlformats.org/drawingml/2006/main" noGrp="1"/>
          </p:cNvSpPr>
          <p:nvPr/>
        </p:nvSpPr>
        <p:spPr>
          <a:xfrm xmlns:a="http://schemas.openxmlformats.org/drawingml/2006/main">
            <a:off x="4389120" y="1408176"/>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3</a:t>
            </a:r>
            <a:endParaRPr sz="1050"/>
          </a:p>
        </p:txBody>
      </p:sp>
      <p:sp>
        <p:nvSpPr>
          <p:cNvPr id="22" name="Text 19">
            <a:extLst xmlns:a="http://schemas.openxmlformats.org/drawingml/2006/main">
              <a:ext uri="{FF2B5EF4-FFF2-40B4-BE49-F238E27FC236}">
                <a16:creationId xmlns:a16="http://schemas.microsoft.com/office/drawing/2014/main" id="{9D84601A-FCE7-4049-A956-325831AF92F2}"/>
              </a:ext>
            </a:extLst>
          </p:cNvPr>
          <p:cNvSpPr>
            <a:spLocks xmlns:a="http://schemas.openxmlformats.org/drawingml/2006/main" noGrp="1"/>
          </p:cNvSpPr>
          <p:nvPr/>
        </p:nvSpPr>
        <p:spPr>
          <a:xfrm xmlns:a="http://schemas.openxmlformats.org/drawingml/2006/main">
            <a:off x="4791456" y="1380744"/>
            <a:ext cx="95097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450" b="1">
                <a:solidFill>
                  <a:srgbClr val="1C2940"/>
                </a:solidFill>
                <a:latin typeface="Aptos Display"/>
                <a:ea typeface="Aptos Display"/>
                <a:cs typeface="Aptos Display"/>
              </a:rPr>
              <a:t>FastAPI boundary</a:t>
            </a:r>
            <a:endParaRPr sz="1450"/>
          </a:p>
        </p:txBody>
      </p:sp>
      <p:sp>
        <p:nvSpPr>
          <p:cNvPr id="23" name="Text 20">
            <a:extLst xmlns:a="http://schemas.openxmlformats.org/drawingml/2006/main">
              <a:ext uri="{FF2B5EF4-FFF2-40B4-BE49-F238E27FC236}">
                <a16:creationId xmlns:a16="http://schemas.microsoft.com/office/drawing/2014/main" id="{6EB8DA03-CDD2-44FB-B401-381ADB70D8DC}"/>
              </a:ext>
            </a:extLst>
          </p:cNvPr>
          <p:cNvSpPr>
            <a:spLocks xmlns:a="http://schemas.openxmlformats.org/drawingml/2006/main" noGrp="1"/>
          </p:cNvSpPr>
          <p:nvPr/>
        </p:nvSpPr>
        <p:spPr>
          <a:xfrm xmlns:a="http://schemas.openxmlformats.org/drawingml/2006/main">
            <a:off x="4407408" y="1737360"/>
            <a:ext cx="1316736" cy="8503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1130">
                <a:solidFill>
                  <a:srgbClr val="52627A"/>
                </a:solidFill>
                <a:latin typeface="Aptos"/>
                <a:ea typeface="Aptos"/>
                <a:cs typeface="Aptos"/>
              </a:rPr>
              <a:t>Content-type, payload, image and authorization checks before analysis.</a:t>
            </a:r>
            <a:endParaRPr sz="1130"/>
          </a:p>
        </p:txBody>
      </p:sp>
      <p:sp>
        <p:nvSpPr>
          <p:cNvPr id="24" name="Shape 21">
            <a:extLst xmlns:a="http://schemas.openxmlformats.org/drawingml/2006/main">
              <a:ext uri="{FF2B5EF4-FFF2-40B4-BE49-F238E27FC236}">
                <a16:creationId xmlns:a16="http://schemas.microsoft.com/office/drawing/2014/main" id="{7C0CEA53-4E5B-4C96-A9D3-12EB782518F2}"/>
              </a:ext>
            </a:extLst>
          </p:cNvPr>
          <p:cNvSpPr>
            <a:spLocks xmlns:a="http://schemas.openxmlformats.org/drawingml/2006/main" noGrp="1"/>
          </p:cNvSpPr>
          <p:nvPr/>
        </p:nvSpPr>
        <p:spPr>
          <a:xfrm xmlns:a="http://schemas.openxmlformats.org/drawingml/2006/main">
            <a:off x="5897880" y="1755648"/>
            <a:ext cx="256032" cy="310896"/>
          </a:xfrm>
          <a:prstGeom xmlns:a="http://schemas.openxmlformats.org/drawingml/2006/main" prst="chevron">
            <a:avLst/>
          </a:prstGeom>
          <a:solidFill xmlns:a="http://schemas.openxmlformats.org/drawingml/2006/main">
            <a:srgbClr val="E8AD12">
              <a:alpha val="90000"/>
            </a:srgbClr>
          </a:solidFill>
          <a:ln xmlns:a="http://schemas.openxmlformats.org/drawingml/2006/main" w="12700">
            <a:solidFill>
              <a:srgbClr val="E8AD12">
                <a:alpha val="0"/>
              </a:srgbClr>
            </a:solidFill>
            <a:prstDash val="solid"/>
          </a:ln>
        </p:spPr>
      </p:sp>
      <p:sp>
        <p:nvSpPr>
          <p:cNvPr id="25" name="Shape 22">
            <a:extLst xmlns:a="http://schemas.openxmlformats.org/drawingml/2006/main">
              <a:ext uri="{FF2B5EF4-FFF2-40B4-BE49-F238E27FC236}">
                <a16:creationId xmlns:a16="http://schemas.microsoft.com/office/drawing/2014/main" id="{F9346BD6-5D30-4284-BFC0-79C5DE292324}"/>
              </a:ext>
            </a:extLst>
          </p:cNvPr>
          <p:cNvSpPr>
            <a:spLocks xmlns:a="http://schemas.openxmlformats.org/drawingml/2006/main" noGrp="1"/>
          </p:cNvSpPr>
          <p:nvPr/>
        </p:nvSpPr>
        <p:spPr>
          <a:xfrm xmlns:a="http://schemas.openxmlformats.org/drawingml/2006/main">
            <a:off x="6199632" y="1261872"/>
            <a:ext cx="2487168" cy="1417320"/>
          </a:xfrm>
          <a:prstGeom xmlns:a="http://schemas.openxmlformats.org/drawingml/2006/main" prst="roundRect">
            <a:avLst>
              <a:gd name="adj" fmla="val 5161"/>
            </a:avLst>
          </a:prstGeom>
          <a:solidFill xmlns:a="http://schemas.openxmlformats.org/drawingml/2006/main">
            <a:srgbClr val="FFFFFF"/>
          </a:solidFill>
          <a:ln xmlns:a="http://schemas.openxmlformats.org/drawingml/2006/main" w="10160">
            <a:solidFill>
              <a:srgbClr val="B32232"/>
            </a:solidFill>
            <a:prstDash val="solid"/>
          </a:ln>
        </p:spPr>
      </p:sp>
      <p:sp>
        <p:nvSpPr>
          <p:cNvPr id="26" name="Shape 23">
            <a:extLst xmlns:a="http://schemas.openxmlformats.org/drawingml/2006/main">
              <a:ext uri="{FF2B5EF4-FFF2-40B4-BE49-F238E27FC236}">
                <a16:creationId xmlns:a16="http://schemas.microsoft.com/office/drawing/2014/main" id="{65689F63-2EF3-427C-904D-15B915C9F23C}"/>
              </a:ext>
            </a:extLst>
          </p:cNvPr>
          <p:cNvSpPr>
            <a:spLocks xmlns:a="http://schemas.openxmlformats.org/drawingml/2006/main" noGrp="1"/>
          </p:cNvSpPr>
          <p:nvPr/>
        </p:nvSpPr>
        <p:spPr>
          <a:xfrm xmlns:a="http://schemas.openxmlformats.org/drawingml/2006/main">
            <a:off x="6309360" y="1408176"/>
            <a:ext cx="320040" cy="320040"/>
          </a:xfrm>
          <a:prstGeom xmlns:a="http://schemas.openxmlformats.org/drawingml/2006/main" prst="ellipse">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27" name="Text 24">
            <a:extLst xmlns:a="http://schemas.openxmlformats.org/drawingml/2006/main">
              <a:ext uri="{FF2B5EF4-FFF2-40B4-BE49-F238E27FC236}">
                <a16:creationId xmlns:a16="http://schemas.microsoft.com/office/drawing/2014/main" id="{B6E7FA08-5589-4FD1-8D4A-3F86E5A2EBB8}"/>
              </a:ext>
            </a:extLst>
          </p:cNvPr>
          <p:cNvSpPr>
            <a:spLocks xmlns:a="http://schemas.openxmlformats.org/drawingml/2006/main" noGrp="1"/>
          </p:cNvSpPr>
          <p:nvPr/>
        </p:nvSpPr>
        <p:spPr>
          <a:xfrm xmlns:a="http://schemas.openxmlformats.org/drawingml/2006/main">
            <a:off x="6309360" y="1408176"/>
            <a:ext cx="3200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FFFFFF"/>
                </a:solidFill>
                <a:latin typeface="Aptos"/>
                <a:ea typeface="Aptos"/>
                <a:cs typeface="Aptos"/>
              </a:rPr>
              <a:t>4</a:t>
            </a:r>
            <a:endParaRPr sz="1050"/>
          </a:p>
        </p:txBody>
      </p:sp>
      <p:sp>
        <p:nvSpPr>
          <p:cNvPr id="28" name="Text 25">
            <a:extLst xmlns:a="http://schemas.openxmlformats.org/drawingml/2006/main">
              <a:ext uri="{FF2B5EF4-FFF2-40B4-BE49-F238E27FC236}">
                <a16:creationId xmlns:a16="http://schemas.microsoft.com/office/drawing/2014/main" id="{FAA8C58B-9C97-42C1-ACD4-C8971D550BF1}"/>
              </a:ext>
            </a:extLst>
          </p:cNvPr>
          <p:cNvSpPr>
            <a:spLocks xmlns:a="http://schemas.openxmlformats.org/drawingml/2006/main" noGrp="1"/>
          </p:cNvSpPr>
          <p:nvPr/>
        </p:nvSpPr>
        <p:spPr>
          <a:xfrm xmlns:a="http://schemas.openxmlformats.org/drawingml/2006/main">
            <a:off x="6711696" y="1380744"/>
            <a:ext cx="186537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450" b="1">
                <a:solidFill>
                  <a:srgbClr val="1C2940"/>
                </a:solidFill>
                <a:latin typeface="Aptos Display"/>
                <a:ea typeface="Aptos Display"/>
                <a:cs typeface="Aptos Display"/>
              </a:rPr>
              <a:t>Analysis service</a:t>
            </a:r>
            <a:endParaRPr sz="1450"/>
          </a:p>
        </p:txBody>
      </p:sp>
      <p:sp>
        <p:nvSpPr>
          <p:cNvPr id="29" name="Text 26">
            <a:extLst xmlns:a="http://schemas.openxmlformats.org/drawingml/2006/main">
              <a:ext uri="{FF2B5EF4-FFF2-40B4-BE49-F238E27FC236}">
                <a16:creationId xmlns:a16="http://schemas.microsoft.com/office/drawing/2014/main" id="{3F708642-8EAC-4A3F-BAB0-5D935CD6011C}"/>
              </a:ext>
            </a:extLst>
          </p:cNvPr>
          <p:cNvSpPr>
            <a:spLocks xmlns:a="http://schemas.openxmlformats.org/drawingml/2006/main" noGrp="1"/>
          </p:cNvSpPr>
          <p:nvPr/>
        </p:nvSpPr>
        <p:spPr>
          <a:xfrm xmlns:a="http://schemas.openxmlformats.org/drawingml/2006/main">
            <a:off x="6327648" y="1737360"/>
            <a:ext cx="2231136" cy="8503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buNone/>
            </a:pPr>
            <a:r>
              <a:rPr sz="1130">
                <a:solidFill>
                  <a:srgbClr val="52627A"/>
                </a:solidFill>
                <a:latin typeface="Aptos"/>
                <a:ea typeface="Aptos"/>
                <a:cs typeface="Aptos"/>
              </a:rPr>
              <a:t>OCR/normalize → model → abstention → entities/URL signals → risk reasons → complaint draft.</a:t>
            </a:r>
            <a:endParaRPr sz="1130"/>
          </a:p>
        </p:txBody>
      </p:sp>
      <p:sp>
        <p:nvSpPr>
          <p:cNvPr id="30" name="Shape 27">
            <a:extLst xmlns:a="http://schemas.openxmlformats.org/drawingml/2006/main">
              <a:ext uri="{FF2B5EF4-FFF2-40B4-BE49-F238E27FC236}">
                <a16:creationId xmlns:a16="http://schemas.microsoft.com/office/drawing/2014/main" id="{71C9DF68-E3D8-4E10-B12E-A923DC74FA0D}"/>
              </a:ext>
            </a:extLst>
          </p:cNvPr>
          <p:cNvSpPr>
            <a:spLocks xmlns:a="http://schemas.openxmlformats.org/drawingml/2006/main" noGrp="1"/>
          </p:cNvSpPr>
          <p:nvPr/>
        </p:nvSpPr>
        <p:spPr>
          <a:xfrm xmlns:a="http://schemas.openxmlformats.org/drawingml/2006/main">
            <a:off x="457200" y="2907792"/>
            <a:ext cx="8211312" cy="667512"/>
          </a:xfrm>
          <a:prstGeom xmlns:a="http://schemas.openxmlformats.org/drawingml/2006/main" prst="roundRect">
            <a:avLst>
              <a:gd name="adj" fmla="val 10959"/>
            </a:avLst>
          </a:prstGeom>
          <a:solidFill xmlns:a="http://schemas.openxmlformats.org/drawingml/2006/main">
            <a:srgbClr val="18243A"/>
          </a:solidFill>
          <a:ln xmlns:a="http://schemas.openxmlformats.org/drawingml/2006/main" w="10160">
            <a:solidFill>
              <a:srgbClr val="18243A"/>
            </a:solidFill>
            <a:prstDash val="solid"/>
          </a:ln>
        </p:spPr>
      </p:sp>
      <p:sp>
        <p:nvSpPr>
          <p:cNvPr id="31" name="Text 28">
            <a:extLst xmlns:a="http://schemas.openxmlformats.org/drawingml/2006/main">
              <a:ext uri="{FF2B5EF4-FFF2-40B4-BE49-F238E27FC236}">
                <a16:creationId xmlns:a16="http://schemas.microsoft.com/office/drawing/2014/main" id="{1F1D34EA-85C0-49C7-83B7-5FFAD85D0DE6}"/>
              </a:ext>
            </a:extLst>
          </p:cNvPr>
          <p:cNvSpPr>
            <a:spLocks xmlns:a="http://schemas.openxmlformats.org/drawingml/2006/main" noGrp="1"/>
          </p:cNvSpPr>
          <p:nvPr/>
        </p:nvSpPr>
        <p:spPr>
          <a:xfrm xmlns:a="http://schemas.openxmlformats.org/drawingml/2006/main">
            <a:off x="658368" y="3108960"/>
            <a:ext cx="1078992"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68D5DE"/>
                </a:solidFill>
                <a:latin typeface="Aptos"/>
                <a:ea typeface="Aptos"/>
                <a:cs typeface="Aptos"/>
              </a:rPr>
              <a:t>TRUST BOUNDARY</a:t>
            </a:r>
            <a:endParaRPr sz="1050"/>
          </a:p>
        </p:txBody>
      </p:sp>
      <p:sp>
        <p:nvSpPr>
          <p:cNvPr id="32" name="Text 29">
            <a:extLst xmlns:a="http://schemas.openxmlformats.org/drawingml/2006/main">
              <a:ext uri="{FF2B5EF4-FFF2-40B4-BE49-F238E27FC236}">
                <a16:creationId xmlns:a16="http://schemas.microsoft.com/office/drawing/2014/main" id="{1D39F059-900E-493C-857E-66ED40F99939}"/>
              </a:ext>
            </a:extLst>
          </p:cNvPr>
          <p:cNvSpPr>
            <a:spLocks xmlns:a="http://schemas.openxmlformats.org/drawingml/2006/main" noGrp="1"/>
          </p:cNvSpPr>
          <p:nvPr/>
        </p:nvSpPr>
        <p:spPr>
          <a:xfrm xmlns:a="http://schemas.openxmlformats.org/drawingml/2006/main">
            <a:off x="1719072" y="3072384"/>
            <a:ext cx="6675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50" b="1">
                <a:solidFill>
                  <a:srgbClr val="FFFFFF"/>
                </a:solidFill>
                <a:latin typeface="Aptos"/>
                <a:ea typeface="Aptos"/>
                <a:cs typeface="Aptos"/>
              </a:rPr>
              <a:t>Storage OFF by default  ·  image bytes never retained  ·  OCR text stored only with consent  ·  expiry removes graph links  ·  private payloads excluded from logs</a:t>
            </a:r>
            <a:endParaRPr sz="1050"/>
          </a:p>
        </p:txBody>
      </p:sp>
      <p:sp>
        <p:nvSpPr>
          <p:cNvPr id="33" name="Text 30">
            <a:extLst xmlns:a="http://schemas.openxmlformats.org/drawingml/2006/main">
              <a:ext uri="{FF2B5EF4-FFF2-40B4-BE49-F238E27FC236}">
                <a16:creationId xmlns:a16="http://schemas.microsoft.com/office/drawing/2014/main" id="{93FF5788-57ED-48F0-86C5-C8839C74BDD4}"/>
              </a:ext>
            </a:extLst>
          </p:cNvPr>
          <p:cNvSpPr>
            <a:spLocks xmlns:a="http://schemas.openxmlformats.org/drawingml/2006/main" noGrp="1"/>
          </p:cNvSpPr>
          <p:nvPr/>
        </p:nvSpPr>
        <p:spPr>
          <a:xfrm xmlns:a="http://schemas.openxmlformats.org/drawingml/2006/main">
            <a:off x="457200" y="3767328"/>
            <a:ext cx="402336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09CAB"/>
                </a:solidFill>
                <a:latin typeface="Aptos"/>
                <a:ea typeface="Aptos"/>
                <a:cs typeface="Aptos"/>
              </a:rPr>
              <a:t>DECISION AND EVIDENCE OUTPUTS</a:t>
            </a:r>
            <a:endParaRPr sz="1050"/>
          </a:p>
        </p:txBody>
      </p:sp>
      <p:sp>
        <p:nvSpPr>
          <p:cNvPr id="34" name="Shape 31">
            <a:extLst xmlns:a="http://schemas.openxmlformats.org/drawingml/2006/main">
              <a:ext uri="{FF2B5EF4-FFF2-40B4-BE49-F238E27FC236}">
                <a16:creationId xmlns:a16="http://schemas.microsoft.com/office/drawing/2014/main" id="{9F744B01-04C3-4F82-B742-E9EDDEC851A4}"/>
              </a:ext>
            </a:extLst>
          </p:cNvPr>
          <p:cNvSpPr>
            <a:spLocks xmlns:a="http://schemas.openxmlformats.org/drawingml/2006/main" noGrp="1"/>
          </p:cNvSpPr>
          <p:nvPr/>
        </p:nvSpPr>
        <p:spPr>
          <a:xfrm xmlns:a="http://schemas.openxmlformats.org/drawingml/2006/main">
            <a:off x="457200" y="4041648"/>
            <a:ext cx="2578608" cy="1078992"/>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0160">
            <a:solidFill>
              <a:srgbClr val="D7DEE8"/>
            </a:solidFill>
            <a:prstDash val="solid"/>
          </a:ln>
        </p:spPr>
      </p:sp>
      <p:sp>
        <p:nvSpPr>
          <p:cNvPr id="35" name="Shape 32">
            <a:extLst xmlns:a="http://schemas.openxmlformats.org/drawingml/2006/main">
              <a:ext uri="{FF2B5EF4-FFF2-40B4-BE49-F238E27FC236}">
                <a16:creationId xmlns:a16="http://schemas.microsoft.com/office/drawing/2014/main" id="{1B39EDC1-3233-4462-8C6C-319A9D2F24EF}"/>
              </a:ext>
            </a:extLst>
          </p:cNvPr>
          <p:cNvSpPr>
            <a:spLocks xmlns:a="http://schemas.openxmlformats.org/drawingml/2006/main" noGrp="1"/>
          </p:cNvSpPr>
          <p:nvPr/>
        </p:nvSpPr>
        <p:spPr>
          <a:xfrm xmlns:a="http://schemas.openxmlformats.org/drawingml/2006/main">
            <a:off x="457200" y="4041648"/>
            <a:ext cx="64008" cy="1078992"/>
          </a:xfrm>
          <a:prstGeom xmlns:a="http://schemas.openxmlformats.org/drawingml/2006/main" prst="rect">
            <a:avLst/>
          </a:prstGeom>
          <a:solidFill xmlns:a="http://schemas.openxmlformats.org/drawingml/2006/main">
            <a:srgbClr val="542073"/>
          </a:solidFill>
          <a:ln xmlns:a="http://schemas.openxmlformats.org/drawingml/2006/main" w="12700">
            <a:solidFill>
              <a:srgbClr val="542073">
                <a:alpha val="0"/>
              </a:srgbClr>
            </a:solidFill>
            <a:prstDash val="solid"/>
          </a:ln>
        </p:spPr>
      </p:sp>
      <p:sp>
        <p:nvSpPr>
          <p:cNvPr id="36" name="Text 33">
            <a:extLst xmlns:a="http://schemas.openxmlformats.org/drawingml/2006/main">
              <a:ext uri="{FF2B5EF4-FFF2-40B4-BE49-F238E27FC236}">
                <a16:creationId xmlns:a16="http://schemas.microsoft.com/office/drawing/2014/main" id="{307A995A-2CDE-4C80-B4F3-AA0879E14A25}"/>
              </a:ext>
            </a:extLst>
          </p:cNvPr>
          <p:cNvSpPr>
            <a:spLocks xmlns:a="http://schemas.openxmlformats.org/drawingml/2006/main" noGrp="1"/>
          </p:cNvSpPr>
          <p:nvPr/>
        </p:nvSpPr>
        <p:spPr>
          <a:xfrm xmlns:a="http://schemas.openxmlformats.org/drawingml/2006/main">
            <a:off x="640080" y="4215384"/>
            <a:ext cx="217627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542073"/>
                </a:solidFill>
                <a:latin typeface="Aptos Display"/>
                <a:ea typeface="Aptos Display"/>
                <a:cs typeface="Aptos Display"/>
              </a:rPr>
              <a:t>Prediction</a:t>
            </a:r>
            <a:endParaRPr sz="1500"/>
          </a:p>
        </p:txBody>
      </p:sp>
      <p:sp>
        <p:nvSpPr>
          <p:cNvPr id="37" name="Text 34">
            <a:extLst xmlns:a="http://schemas.openxmlformats.org/drawingml/2006/main">
              <a:ext uri="{FF2B5EF4-FFF2-40B4-BE49-F238E27FC236}">
                <a16:creationId xmlns:a16="http://schemas.microsoft.com/office/drawing/2014/main" id="{7649B4ED-BEF1-454D-97EC-A3378C478F87}"/>
              </a:ext>
            </a:extLst>
          </p:cNvPr>
          <p:cNvSpPr>
            <a:spLocks xmlns:a="http://schemas.openxmlformats.org/drawingml/2006/main" noGrp="1"/>
          </p:cNvSpPr>
          <p:nvPr/>
        </p:nvSpPr>
        <p:spPr>
          <a:xfrm xmlns:a="http://schemas.openxmlformats.org/drawingml/2006/main">
            <a:off x="640080" y="4535424"/>
            <a:ext cx="2176272" cy="3566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90">
                <a:solidFill>
                  <a:srgbClr val="1C2940"/>
                </a:solidFill>
                <a:latin typeface="Aptos"/>
                <a:ea typeface="Aptos"/>
                <a:cs typeface="Aptos"/>
              </a:rPr>
              <a:t>Eight classes or abstain; confidence and model provenance</a:t>
            </a:r>
            <a:endParaRPr sz="1090"/>
          </a:p>
        </p:txBody>
      </p:sp>
      <p:sp>
        <p:nvSpPr>
          <p:cNvPr id="38" name="Shape 35">
            <a:extLst xmlns:a="http://schemas.openxmlformats.org/drawingml/2006/main">
              <a:ext uri="{FF2B5EF4-FFF2-40B4-BE49-F238E27FC236}">
                <a16:creationId xmlns:a16="http://schemas.microsoft.com/office/drawing/2014/main" id="{6E91E3F9-D1DA-4F3B-9F65-8CBC757F63E0}"/>
              </a:ext>
            </a:extLst>
          </p:cNvPr>
          <p:cNvSpPr>
            <a:spLocks xmlns:a="http://schemas.openxmlformats.org/drawingml/2006/main" noGrp="1"/>
          </p:cNvSpPr>
          <p:nvPr/>
        </p:nvSpPr>
        <p:spPr>
          <a:xfrm xmlns:a="http://schemas.openxmlformats.org/drawingml/2006/main">
            <a:off x="3273552" y="4041648"/>
            <a:ext cx="2578608" cy="1078992"/>
          </a:xfrm>
          <a:prstGeom xmlns:a="http://schemas.openxmlformats.org/drawingml/2006/main" prst="roundRect">
            <a:avLst>
              <a:gd name="adj" fmla="val 6780"/>
            </a:avLst>
          </a:prstGeom>
          <a:solidFill xmlns:a="http://schemas.openxmlformats.org/drawingml/2006/main">
            <a:srgbClr val="E8F7F8"/>
          </a:solidFill>
          <a:ln xmlns:a="http://schemas.openxmlformats.org/drawingml/2006/main" w="10160">
            <a:solidFill>
              <a:srgbClr val="D7DEE8"/>
            </a:solidFill>
            <a:prstDash val="solid"/>
          </a:ln>
        </p:spPr>
      </p:sp>
      <p:sp>
        <p:nvSpPr>
          <p:cNvPr id="39" name="Shape 36">
            <a:extLst xmlns:a="http://schemas.openxmlformats.org/drawingml/2006/main">
              <a:ext uri="{FF2B5EF4-FFF2-40B4-BE49-F238E27FC236}">
                <a16:creationId xmlns:a16="http://schemas.microsoft.com/office/drawing/2014/main" id="{F8710524-B7B6-41D4-95AB-6BC4E312DDB1}"/>
              </a:ext>
            </a:extLst>
          </p:cNvPr>
          <p:cNvSpPr>
            <a:spLocks xmlns:a="http://schemas.openxmlformats.org/drawingml/2006/main" noGrp="1"/>
          </p:cNvSpPr>
          <p:nvPr/>
        </p:nvSpPr>
        <p:spPr>
          <a:xfrm xmlns:a="http://schemas.openxmlformats.org/drawingml/2006/main">
            <a:off x="3273552" y="4041648"/>
            <a:ext cx="64008" cy="1078992"/>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40" name="Text 37">
            <a:extLst xmlns:a="http://schemas.openxmlformats.org/drawingml/2006/main">
              <a:ext uri="{FF2B5EF4-FFF2-40B4-BE49-F238E27FC236}">
                <a16:creationId xmlns:a16="http://schemas.microsoft.com/office/drawing/2014/main" id="{0875BF21-E8AB-4777-BF46-5A7C108B4886}"/>
              </a:ext>
            </a:extLst>
          </p:cNvPr>
          <p:cNvSpPr>
            <a:spLocks xmlns:a="http://schemas.openxmlformats.org/drawingml/2006/main" noGrp="1"/>
          </p:cNvSpPr>
          <p:nvPr/>
        </p:nvSpPr>
        <p:spPr>
          <a:xfrm xmlns:a="http://schemas.openxmlformats.org/drawingml/2006/main">
            <a:off x="3456432" y="4215384"/>
            <a:ext cx="217627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9CAB"/>
                </a:solidFill>
                <a:latin typeface="Aptos Display"/>
                <a:ea typeface="Aptos Display"/>
                <a:cs typeface="Aptos Display"/>
              </a:rPr>
              <a:t>Evidence</a:t>
            </a:r>
            <a:endParaRPr sz="1500"/>
          </a:p>
        </p:txBody>
      </p:sp>
      <p:sp>
        <p:nvSpPr>
          <p:cNvPr id="41" name="Text 38">
            <a:extLst xmlns:a="http://schemas.openxmlformats.org/drawingml/2006/main">
              <a:ext uri="{FF2B5EF4-FFF2-40B4-BE49-F238E27FC236}">
                <a16:creationId xmlns:a16="http://schemas.microsoft.com/office/drawing/2014/main" id="{D5596513-96FA-4F19-97F4-818385B08793}"/>
              </a:ext>
            </a:extLst>
          </p:cNvPr>
          <p:cNvSpPr>
            <a:spLocks xmlns:a="http://schemas.openxmlformats.org/drawingml/2006/main" noGrp="1"/>
          </p:cNvSpPr>
          <p:nvPr/>
        </p:nvSpPr>
        <p:spPr>
          <a:xfrm xmlns:a="http://schemas.openxmlformats.org/drawingml/2006/main">
            <a:off x="3456432" y="4535424"/>
            <a:ext cx="2176272" cy="3566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90">
                <a:solidFill>
                  <a:srgbClr val="1C2940"/>
                </a:solidFill>
                <a:latin typeface="Aptos"/>
                <a:ea typeface="Aptos"/>
                <a:cs typeface="Aptos"/>
              </a:rPr>
              <a:t>Masked entities, URL reasons, amount/OTP signals and risk band</a:t>
            </a:r>
            <a:endParaRPr sz="1090"/>
          </a:p>
        </p:txBody>
      </p:sp>
      <p:sp>
        <p:nvSpPr>
          <p:cNvPr id="42" name="Shape 39">
            <a:extLst xmlns:a="http://schemas.openxmlformats.org/drawingml/2006/main">
              <a:ext uri="{FF2B5EF4-FFF2-40B4-BE49-F238E27FC236}">
                <a16:creationId xmlns:a16="http://schemas.microsoft.com/office/drawing/2014/main" id="{C6E7A7D2-D934-4373-BCF5-E536597E6C7C}"/>
              </a:ext>
            </a:extLst>
          </p:cNvPr>
          <p:cNvSpPr>
            <a:spLocks xmlns:a="http://schemas.openxmlformats.org/drawingml/2006/main" noGrp="1"/>
          </p:cNvSpPr>
          <p:nvPr/>
        </p:nvSpPr>
        <p:spPr>
          <a:xfrm xmlns:a="http://schemas.openxmlformats.org/drawingml/2006/main">
            <a:off x="6089904" y="4041648"/>
            <a:ext cx="2578608" cy="1078992"/>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0160">
            <a:solidFill>
              <a:srgbClr val="D7DEE8"/>
            </a:solidFill>
            <a:prstDash val="solid"/>
          </a:ln>
        </p:spPr>
      </p:sp>
      <p:sp>
        <p:nvSpPr>
          <p:cNvPr id="43" name="Shape 40">
            <a:extLst xmlns:a="http://schemas.openxmlformats.org/drawingml/2006/main">
              <a:ext uri="{FF2B5EF4-FFF2-40B4-BE49-F238E27FC236}">
                <a16:creationId xmlns:a16="http://schemas.microsoft.com/office/drawing/2014/main" id="{E2A01B7D-97F4-4D96-ACC3-48FC7831413A}"/>
              </a:ext>
            </a:extLst>
          </p:cNvPr>
          <p:cNvSpPr>
            <a:spLocks xmlns:a="http://schemas.openxmlformats.org/drawingml/2006/main" noGrp="1"/>
          </p:cNvSpPr>
          <p:nvPr/>
        </p:nvSpPr>
        <p:spPr>
          <a:xfrm xmlns:a="http://schemas.openxmlformats.org/drawingml/2006/main">
            <a:off x="6089904" y="4041648"/>
            <a:ext cx="64008" cy="1078992"/>
          </a:xfrm>
          <a:prstGeom xmlns:a="http://schemas.openxmlformats.org/drawingml/2006/main" prst="rect">
            <a:avLst/>
          </a:prstGeom>
          <a:solidFill xmlns:a="http://schemas.openxmlformats.org/drawingml/2006/main">
            <a:srgbClr val="542073"/>
          </a:solidFill>
          <a:ln xmlns:a="http://schemas.openxmlformats.org/drawingml/2006/main" w="12700">
            <a:solidFill>
              <a:srgbClr val="542073">
                <a:alpha val="0"/>
              </a:srgbClr>
            </a:solidFill>
            <a:prstDash val="solid"/>
          </a:ln>
        </p:spPr>
      </p:sp>
      <p:sp>
        <p:nvSpPr>
          <p:cNvPr id="44" name="Text 41">
            <a:extLst xmlns:a="http://schemas.openxmlformats.org/drawingml/2006/main">
              <a:ext uri="{FF2B5EF4-FFF2-40B4-BE49-F238E27FC236}">
                <a16:creationId xmlns:a16="http://schemas.microsoft.com/office/drawing/2014/main" id="{F3948449-1F6A-47F6-9A1E-C322EFEBD3C1}"/>
              </a:ext>
            </a:extLst>
          </p:cNvPr>
          <p:cNvSpPr>
            <a:spLocks xmlns:a="http://schemas.openxmlformats.org/drawingml/2006/main" noGrp="1"/>
          </p:cNvSpPr>
          <p:nvPr/>
        </p:nvSpPr>
        <p:spPr>
          <a:xfrm xmlns:a="http://schemas.openxmlformats.org/drawingml/2006/main">
            <a:off x="6272784" y="4215384"/>
            <a:ext cx="2176272"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542073"/>
                </a:solidFill>
                <a:latin typeface="Aptos Display"/>
                <a:ea typeface="Aptos Display"/>
                <a:cs typeface="Aptos Display"/>
              </a:rPr>
              <a:t>Human draft</a:t>
            </a:r>
            <a:endParaRPr sz="1500"/>
          </a:p>
        </p:txBody>
      </p:sp>
      <p:sp>
        <p:nvSpPr>
          <p:cNvPr id="45" name="Text 42">
            <a:extLst xmlns:a="http://schemas.openxmlformats.org/drawingml/2006/main">
              <a:ext uri="{FF2B5EF4-FFF2-40B4-BE49-F238E27FC236}">
                <a16:creationId xmlns:a16="http://schemas.microsoft.com/office/drawing/2014/main" id="{81ED8FCD-142F-4ADD-B44D-AB08B1957781}"/>
              </a:ext>
            </a:extLst>
          </p:cNvPr>
          <p:cNvSpPr>
            <a:spLocks xmlns:a="http://schemas.openxmlformats.org/drawingml/2006/main" noGrp="1"/>
          </p:cNvSpPr>
          <p:nvPr/>
        </p:nvSpPr>
        <p:spPr>
          <a:xfrm xmlns:a="http://schemas.openxmlformats.org/drawingml/2006/main">
            <a:off x="6272784" y="4535424"/>
            <a:ext cx="2176272" cy="35661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90">
                <a:solidFill>
                  <a:srgbClr val="1C2940"/>
                </a:solidFill>
                <a:latin typeface="Aptos"/>
                <a:ea typeface="Aptos"/>
                <a:cs typeface="Aptos"/>
              </a:rPr>
              <a:t>Editable complaint starting point—not automatic filing</a:t>
            </a:r>
            <a:endParaRPr sz="1090"/>
          </a:p>
        </p:txBody>
      </p:sp>
      <p:sp>
        <p:nvSpPr>
          <p:cNvPr id="46" name="Shape 43">
            <a:extLst xmlns:a="http://schemas.openxmlformats.org/drawingml/2006/main">
              <a:ext uri="{FF2B5EF4-FFF2-40B4-BE49-F238E27FC236}">
                <a16:creationId xmlns:a16="http://schemas.microsoft.com/office/drawing/2014/main" id="{CAC1A972-03E9-47A4-8AD2-CCF4C479071A}"/>
              </a:ext>
            </a:extLst>
          </p:cNvPr>
          <p:cNvSpPr>
            <a:spLocks xmlns:a="http://schemas.openxmlformats.org/drawingml/2006/main" noGrp="1"/>
          </p:cNvSpPr>
          <p:nvPr/>
        </p:nvSpPr>
        <p:spPr>
          <a:xfrm xmlns:a="http://schemas.openxmlformats.org/drawingml/2006/main">
            <a:off x="457200" y="5376672"/>
            <a:ext cx="8211312" cy="749808"/>
          </a:xfrm>
          <a:prstGeom xmlns:a="http://schemas.openxmlformats.org/drawingml/2006/main" prst="roundRect">
            <a:avLst>
              <a:gd name="adj" fmla="val 9756"/>
            </a:avLst>
          </a:prstGeom>
          <a:solidFill xmlns:a="http://schemas.openxmlformats.org/drawingml/2006/main">
            <a:srgbClr val="EAF7F1"/>
          </a:solidFill>
          <a:ln xmlns:a="http://schemas.openxmlformats.org/drawingml/2006/main" w="10160">
            <a:solidFill>
              <a:srgbClr val="D7DEE8"/>
            </a:solidFill>
            <a:prstDash val="solid"/>
          </a:ln>
        </p:spPr>
      </p:sp>
      <p:sp>
        <p:nvSpPr>
          <p:cNvPr id="47" name="Shape 44">
            <a:extLst xmlns:a="http://schemas.openxmlformats.org/drawingml/2006/main">
              <a:ext uri="{FF2B5EF4-FFF2-40B4-BE49-F238E27FC236}">
                <a16:creationId xmlns:a16="http://schemas.microsoft.com/office/drawing/2014/main" id="{A2F91E43-C487-495F-90A7-DFFE01CC34B9}"/>
              </a:ext>
            </a:extLst>
          </p:cNvPr>
          <p:cNvSpPr>
            <a:spLocks xmlns:a="http://schemas.openxmlformats.org/drawingml/2006/main" noGrp="1"/>
          </p:cNvSpPr>
          <p:nvPr/>
        </p:nvSpPr>
        <p:spPr>
          <a:xfrm xmlns:a="http://schemas.openxmlformats.org/drawingml/2006/main">
            <a:off x="457200" y="5376672"/>
            <a:ext cx="64008" cy="749808"/>
          </a:xfrm>
          <a:prstGeom xmlns:a="http://schemas.openxmlformats.org/drawingml/2006/main" prst="rect">
            <a:avLst/>
          </a:prstGeom>
          <a:solidFill xmlns:a="http://schemas.openxmlformats.org/drawingml/2006/main">
            <a:srgbClr val="23805D"/>
          </a:solidFill>
          <a:ln xmlns:a="http://schemas.openxmlformats.org/drawingml/2006/main" w="12700">
            <a:solidFill>
              <a:srgbClr val="23805D">
                <a:alpha val="0"/>
              </a:srgbClr>
            </a:solidFill>
            <a:prstDash val="solid"/>
          </a:ln>
        </p:spPr>
      </p:sp>
      <p:sp>
        <p:nvSpPr>
          <p:cNvPr id="48" name="Text 45">
            <a:extLst xmlns:a="http://schemas.openxmlformats.org/drawingml/2006/main">
              <a:ext uri="{FF2B5EF4-FFF2-40B4-BE49-F238E27FC236}">
                <a16:creationId xmlns:a16="http://schemas.microsoft.com/office/drawing/2014/main" id="{9E221C8B-2238-4F4A-8149-8C9991FDF37B}"/>
              </a:ext>
            </a:extLst>
          </p:cNvPr>
          <p:cNvSpPr>
            <a:spLocks xmlns:a="http://schemas.openxmlformats.org/drawingml/2006/main" noGrp="1"/>
          </p:cNvSpPr>
          <p:nvPr/>
        </p:nvSpPr>
        <p:spPr>
          <a:xfrm xmlns:a="http://schemas.openxmlformats.org/drawingml/2006/main">
            <a:off x="667512" y="5568696"/>
            <a:ext cx="20299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40" b="1">
                <a:solidFill>
                  <a:srgbClr val="23805D"/>
                </a:solidFill>
                <a:latin typeface="Aptos Display"/>
                <a:ea typeface="Aptos Display"/>
                <a:cs typeface="Aptos Display"/>
              </a:rPr>
              <a:t>Consented SQLite evidence path</a:t>
            </a:r>
            <a:endParaRPr sz="1340"/>
          </a:p>
        </p:txBody>
      </p:sp>
      <p:sp>
        <p:nvSpPr>
          <p:cNvPr id="49" name="Text 46">
            <a:extLst xmlns:a="http://schemas.openxmlformats.org/drawingml/2006/main">
              <a:ext uri="{FF2B5EF4-FFF2-40B4-BE49-F238E27FC236}">
                <a16:creationId xmlns:a16="http://schemas.microsoft.com/office/drawing/2014/main" id="{2E9FBD5E-AB34-45D5-8404-886137A03154}"/>
              </a:ext>
            </a:extLst>
          </p:cNvPr>
          <p:cNvSpPr>
            <a:spLocks xmlns:a="http://schemas.openxmlformats.org/drawingml/2006/main" noGrp="1"/>
          </p:cNvSpPr>
          <p:nvPr/>
        </p:nvSpPr>
        <p:spPr>
          <a:xfrm xmlns:a="http://schemas.openxmlformats.org/drawingml/2006/main">
            <a:off x="2670048" y="5522976"/>
            <a:ext cx="56967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60">
                <a:solidFill>
                  <a:srgbClr val="1C2940"/>
                </a:solidFill>
                <a:latin typeface="Aptos"/>
                <a:ea typeface="Aptos"/>
                <a:cs typeface="Aptos"/>
              </a:rPr>
              <a:t>Store redacted result → enforce retention → read unexpired cases → mask identifiers again → build bounded repeated-entity links. The graph never changes prediction or risk.</a:t>
            </a:r>
            <a:endParaRPr sz="1060"/>
          </a:p>
        </p:txBody>
      </p:sp>
    </p:spTree>
    <p:extLst>
      <p:ext uri="{BB962C8B-B14F-4D97-AF65-F5344CB8AC3E}">
        <p14:creationId xmlns:p14="http://schemas.microsoft.com/office/powerpoint/2010/main" val="2025535200"/>
      </p:ext>
    </p:extLst>
  </p:cSld>
</p:sld>
</file>

<file path=ppt/slides/slide6.xml><?xml version="1.0" encoding="utf-8"?>
<p:sld xmlns:p="http://schemas.openxmlformats.org/presentationml/2006/main">
  <p:cSld>
    <p:bg>
      <p:bgPr>
        <a:blipFill xmlns:a="http://schemas.openxmlformats.org/drawingml/2006/main">
          <a:blip xmlns:r="http://schemas.openxmlformats.org/officeDocument/2006/relationships" r:embed="Rb563f3ccbd2b40ec">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C08E87B-CAEB-4344-994D-A77DC4F44645}"/>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Implementation, Security &amp; Reproducibility</a:t>
            </a:r>
            <a:endParaRPr sz="2700"/>
          </a:p>
        </p:txBody>
      </p:sp>
      <p:sp>
        <p:nvSpPr>
          <p:cNvPr id="3" name="Text 1">
            <a:extLst xmlns:a="http://schemas.openxmlformats.org/drawingml/2006/main">
              <a:ext uri="{FF2B5EF4-FFF2-40B4-BE49-F238E27FC236}">
                <a16:creationId xmlns:a16="http://schemas.microsoft.com/office/drawing/2014/main" id="{26E88D27-D8D6-4B26-966B-AA3053D5DCBD}"/>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50">
                <a:solidFill>
                  <a:srgbClr val="52627A"/>
                </a:solidFill>
                <a:latin typeface="Aptos"/>
                <a:ea typeface="Aptos"/>
                <a:cs typeface="Aptos"/>
              </a:rPr>
              <a:t>The project is more than a classifier: each subsystem has an explicit contract, safety boundary and automated verification.</a:t>
            </a:r>
            <a:endParaRPr sz="1350"/>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39c636b6f4a04d19"/>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342E3C2-0A18-49EC-AEDD-19043DF7F1FB}"/>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src/fraudlens; web/src; requirements.lock; Dockerfile; .github/workflows/ci.yml</a:t>
            </a:r>
            <a:endParaRPr sz="830"/>
          </a:p>
        </p:txBody>
      </p:sp>
      <p:sp>
        <p:nvSpPr>
          <p:cNvPr id="6" name="Text 3">
            <a:extLst xmlns:a="http://schemas.openxmlformats.org/drawingml/2006/main">
              <a:ext uri="{FF2B5EF4-FFF2-40B4-BE49-F238E27FC236}">
                <a16:creationId xmlns:a16="http://schemas.microsoft.com/office/drawing/2014/main" id="{FA6FA883-4FFD-40EC-B8A3-734F0E261707}"/>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6</a:t>
            </a:r>
            <a:endParaRPr sz="900"/>
          </a:p>
        </p:txBody>
      </p:sp>
      <p:sp>
        <p:nvSpPr>
          <p:cNvPr id="7" name="Shape 4">
            <a:extLst xmlns:a="http://schemas.openxmlformats.org/drawingml/2006/main">
              <a:ext uri="{FF2B5EF4-FFF2-40B4-BE49-F238E27FC236}">
                <a16:creationId xmlns:a16="http://schemas.microsoft.com/office/drawing/2014/main" id="{3004D536-E82A-4E58-8C15-903F0653FEA1}"/>
              </a:ext>
            </a:extLst>
          </p:cNvPr>
          <p:cNvSpPr>
            <a:spLocks xmlns:a="http://schemas.openxmlformats.org/drawingml/2006/main" noGrp="1"/>
          </p:cNvSpPr>
          <p:nvPr/>
        </p:nvSpPr>
        <p:spPr>
          <a:xfrm xmlns:a="http://schemas.openxmlformats.org/drawingml/2006/main">
            <a:off x="457200" y="1225296"/>
            <a:ext cx="2542032" cy="1627632"/>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10160">
            <a:solidFill>
              <a:srgbClr val="D7DEE8"/>
            </a:solidFill>
            <a:prstDash val="solid"/>
          </a:ln>
        </p:spPr>
      </p:sp>
      <p:sp>
        <p:nvSpPr>
          <p:cNvPr id="8" name="Shape 5">
            <a:extLst xmlns:a="http://schemas.openxmlformats.org/drawingml/2006/main">
              <a:ext uri="{FF2B5EF4-FFF2-40B4-BE49-F238E27FC236}">
                <a16:creationId xmlns:a16="http://schemas.microsoft.com/office/drawing/2014/main" id="{8B4B91EE-7E19-4C1C-A509-D66C2E8CF924}"/>
              </a:ext>
            </a:extLst>
          </p:cNvPr>
          <p:cNvSpPr>
            <a:spLocks xmlns:a="http://schemas.openxmlformats.org/drawingml/2006/main" noGrp="1"/>
          </p:cNvSpPr>
          <p:nvPr/>
        </p:nvSpPr>
        <p:spPr>
          <a:xfrm xmlns:a="http://schemas.openxmlformats.org/drawingml/2006/main">
            <a:off x="457200" y="1225296"/>
            <a:ext cx="64008" cy="1627632"/>
          </a:xfrm>
          <a:prstGeom xmlns:a="http://schemas.openxmlformats.org/drawingml/2006/main" prst="rect">
            <a:avLst/>
          </a:prstGeom>
          <a:solidFill xmlns:a="http://schemas.openxmlformats.org/drawingml/2006/main">
            <a:srgbClr val="542073"/>
          </a:solidFill>
          <a:ln xmlns:a="http://schemas.openxmlformats.org/drawingml/2006/main" w="12700">
            <a:solidFill>
              <a:srgbClr val="542073">
                <a:alpha val="0"/>
              </a:srgbClr>
            </a:solidFill>
            <a:prstDash val="solid"/>
          </a:ln>
        </p:spPr>
      </p:sp>
      <p:sp>
        <p:nvSpPr>
          <p:cNvPr id="9" name="Text 6">
            <a:extLst xmlns:a="http://schemas.openxmlformats.org/drawingml/2006/main">
              <a:ext uri="{FF2B5EF4-FFF2-40B4-BE49-F238E27FC236}">
                <a16:creationId xmlns:a16="http://schemas.microsoft.com/office/drawing/2014/main" id="{00805D9B-A090-44F3-882E-8A014B8F9094}"/>
              </a:ext>
            </a:extLst>
          </p:cNvPr>
          <p:cNvSpPr>
            <a:spLocks xmlns:a="http://schemas.openxmlformats.org/drawingml/2006/main" noGrp="1"/>
          </p:cNvSpPr>
          <p:nvPr/>
        </p:nvSpPr>
        <p:spPr>
          <a:xfrm xmlns:a="http://schemas.openxmlformats.org/drawingml/2006/main">
            <a:off x="658368" y="1389888"/>
            <a:ext cx="960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30" b="1">
                <a:solidFill>
                  <a:srgbClr val="542073"/>
                </a:solidFill>
                <a:latin typeface="Aptos Display"/>
                <a:ea typeface="Aptos Display"/>
                <a:cs typeface="Aptos Display"/>
              </a:rPr>
              <a:t>Inference</a:t>
            </a:r>
            <a:endParaRPr sz="1530"/>
          </a:p>
        </p:txBody>
      </p:sp>
      <p:sp>
        <p:nvSpPr>
          <p:cNvPr id="10" name="Text 7">
            <a:extLst xmlns:a="http://schemas.openxmlformats.org/drawingml/2006/main">
              <a:ext uri="{FF2B5EF4-FFF2-40B4-BE49-F238E27FC236}">
                <a16:creationId xmlns:a16="http://schemas.microsoft.com/office/drawing/2014/main" id="{6DAD3EBE-2AFC-4F7A-BD1B-27B34DC7A6C6}"/>
              </a:ext>
            </a:extLst>
          </p:cNvPr>
          <p:cNvSpPr>
            <a:spLocks xmlns:a="http://schemas.openxmlformats.org/drawingml/2006/main" noGrp="1"/>
          </p:cNvSpPr>
          <p:nvPr/>
        </p:nvSpPr>
        <p:spPr>
          <a:xfrm xmlns:a="http://schemas.openxmlformats.org/drawingml/2006/main">
            <a:off x="658368" y="1700784"/>
            <a:ext cx="212140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80" b="1">
                <a:solidFill>
                  <a:srgbClr val="1C2940"/>
                </a:solidFill>
                <a:latin typeface="Aptos"/>
                <a:ea typeface="Aptos"/>
                <a:cs typeface="Aptos"/>
              </a:rPr>
              <a:t>Calibrated TF-IDF + Logistic Regression</a:t>
            </a:r>
            <a:endParaRPr sz="1180"/>
          </a:p>
        </p:txBody>
      </p:sp>
      <p:sp>
        <p:nvSpPr>
          <p:cNvPr id="11" name="Text 8">
            <a:extLst xmlns:a="http://schemas.openxmlformats.org/drawingml/2006/main">
              <a:ext uri="{FF2B5EF4-FFF2-40B4-BE49-F238E27FC236}">
                <a16:creationId xmlns:a16="http://schemas.microsoft.com/office/drawing/2014/main" id="{367ECC88-B1B3-45C3-8B71-F207D1732978}"/>
              </a:ext>
            </a:extLst>
          </p:cNvPr>
          <p:cNvSpPr>
            <a:spLocks xmlns:a="http://schemas.openxmlformats.org/drawingml/2006/main" noGrp="1"/>
          </p:cNvSpPr>
          <p:nvPr/>
        </p:nvSpPr>
        <p:spPr>
          <a:xfrm xmlns:a="http://schemas.openxmlformats.org/drawingml/2006/main">
            <a:off x="658368" y="2103120"/>
            <a:ext cx="212140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9816"/>
          </a:bodyPr>
          <a:lstStyle xmlns:a="http://schemas.openxmlformats.org/drawingml/2006/main"/>
          <a:p xmlns:a="http://schemas.openxmlformats.org/drawingml/2006/main">
            <a:pPr marL="0" indent="0">
              <a:buNone/>
            </a:pPr>
            <a:r>
              <a:rPr sz="1090">
                <a:solidFill>
                  <a:srgbClr val="52627A"/>
                </a:solidFill>
                <a:latin typeface="Aptos"/>
                <a:ea typeface="Aptos"/>
                <a:cs typeface="Aptos"/>
              </a:rPr>
              <a:t>Verified immutable bytes; hashes bind artifacts to training + preprocessing source; validation threshold enables unknown.</a:t>
            </a:r>
            <a:endParaRPr sz="1090"/>
          </a:p>
        </p:txBody>
      </p:sp>
      <p:sp>
        <p:nvSpPr>
          <p:cNvPr id="12" name="Shape 9">
            <a:extLst xmlns:a="http://schemas.openxmlformats.org/drawingml/2006/main">
              <a:ext uri="{FF2B5EF4-FFF2-40B4-BE49-F238E27FC236}">
                <a16:creationId xmlns:a16="http://schemas.microsoft.com/office/drawing/2014/main" id="{9B916A9F-3626-4B16-A35B-E092659E36EF}"/>
              </a:ext>
            </a:extLst>
          </p:cNvPr>
          <p:cNvSpPr>
            <a:spLocks xmlns:a="http://schemas.openxmlformats.org/drawingml/2006/main" noGrp="1"/>
          </p:cNvSpPr>
          <p:nvPr/>
        </p:nvSpPr>
        <p:spPr>
          <a:xfrm xmlns:a="http://schemas.openxmlformats.org/drawingml/2006/main">
            <a:off x="3227832" y="1225296"/>
            <a:ext cx="2542032" cy="1627632"/>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10160">
            <a:solidFill>
              <a:srgbClr val="D7DEE8"/>
            </a:solidFill>
            <a:prstDash val="solid"/>
          </a:ln>
        </p:spPr>
      </p:sp>
      <p:sp>
        <p:nvSpPr>
          <p:cNvPr id="13" name="Shape 10">
            <a:extLst xmlns:a="http://schemas.openxmlformats.org/drawingml/2006/main">
              <a:ext uri="{FF2B5EF4-FFF2-40B4-BE49-F238E27FC236}">
                <a16:creationId xmlns:a16="http://schemas.microsoft.com/office/drawing/2014/main" id="{2268FBB8-493B-4A94-8D14-58187DB0E9BC}"/>
              </a:ext>
            </a:extLst>
          </p:cNvPr>
          <p:cNvSpPr>
            <a:spLocks xmlns:a="http://schemas.openxmlformats.org/drawingml/2006/main" noGrp="1"/>
          </p:cNvSpPr>
          <p:nvPr/>
        </p:nvSpPr>
        <p:spPr>
          <a:xfrm xmlns:a="http://schemas.openxmlformats.org/drawingml/2006/main">
            <a:off x="3227832" y="1225296"/>
            <a:ext cx="64008" cy="1627632"/>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14" name="Text 11">
            <a:extLst xmlns:a="http://schemas.openxmlformats.org/drawingml/2006/main">
              <a:ext uri="{FF2B5EF4-FFF2-40B4-BE49-F238E27FC236}">
                <a16:creationId xmlns:a16="http://schemas.microsoft.com/office/drawing/2014/main" id="{A4F9805D-96AC-487D-AAA8-4B391A0CBDB8}"/>
              </a:ext>
            </a:extLst>
          </p:cNvPr>
          <p:cNvSpPr>
            <a:spLocks xmlns:a="http://schemas.openxmlformats.org/drawingml/2006/main" noGrp="1"/>
          </p:cNvSpPr>
          <p:nvPr/>
        </p:nvSpPr>
        <p:spPr>
          <a:xfrm xmlns:a="http://schemas.openxmlformats.org/drawingml/2006/main">
            <a:off x="3429000" y="1389888"/>
            <a:ext cx="960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30" b="1">
                <a:solidFill>
                  <a:srgbClr val="009CAB"/>
                </a:solidFill>
                <a:latin typeface="Aptos Display"/>
                <a:ea typeface="Aptos Display"/>
                <a:cs typeface="Aptos Display"/>
              </a:rPr>
              <a:t>OCR</a:t>
            </a:r>
            <a:endParaRPr sz="1530"/>
          </a:p>
        </p:txBody>
      </p:sp>
      <p:sp>
        <p:nvSpPr>
          <p:cNvPr id="15" name="Text 12">
            <a:extLst xmlns:a="http://schemas.openxmlformats.org/drawingml/2006/main">
              <a:ext uri="{FF2B5EF4-FFF2-40B4-BE49-F238E27FC236}">
                <a16:creationId xmlns:a16="http://schemas.microsoft.com/office/drawing/2014/main" id="{E737A81B-4134-4009-9A96-E460471B5DCD}"/>
              </a:ext>
            </a:extLst>
          </p:cNvPr>
          <p:cNvSpPr>
            <a:spLocks xmlns:a="http://schemas.openxmlformats.org/drawingml/2006/main" noGrp="1"/>
          </p:cNvSpPr>
          <p:nvPr/>
        </p:nvSpPr>
        <p:spPr>
          <a:xfrm xmlns:a="http://schemas.openxmlformats.org/drawingml/2006/main">
            <a:off x="3429000" y="1700784"/>
            <a:ext cx="212140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80" b="1">
                <a:solidFill>
                  <a:srgbClr val="1C2940"/>
                </a:solidFill>
                <a:latin typeface="Aptos"/>
                <a:ea typeface="Aptos"/>
                <a:cs typeface="Aptos"/>
              </a:rPr>
              <a:t>Local Tesseract eng+hin</a:t>
            </a:r>
            <a:endParaRPr sz="1180"/>
          </a:p>
        </p:txBody>
      </p:sp>
      <p:sp>
        <p:nvSpPr>
          <p:cNvPr id="16" name="Text 13">
            <a:extLst xmlns:a="http://schemas.openxmlformats.org/drawingml/2006/main">
              <a:ext uri="{FF2B5EF4-FFF2-40B4-BE49-F238E27FC236}">
                <a16:creationId xmlns:a16="http://schemas.microsoft.com/office/drawing/2014/main" id="{8D8B06B7-ABBD-4250-8ECE-4118D6321104}"/>
              </a:ext>
            </a:extLst>
          </p:cNvPr>
          <p:cNvSpPr>
            <a:spLocks xmlns:a="http://schemas.openxmlformats.org/drawingml/2006/main" noGrp="1"/>
          </p:cNvSpPr>
          <p:nvPr/>
        </p:nvSpPr>
        <p:spPr>
          <a:xfrm xmlns:a="http://schemas.openxmlformats.org/drawingml/2006/main">
            <a:off x="3429000" y="2103120"/>
            <a:ext cx="212140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4932"/>
          </a:bodyPr>
          <a:lstStyle xmlns:a="http://schemas.openxmlformats.org/drawingml/2006/main"/>
          <a:p xmlns:a="http://schemas.openxmlformats.org/drawingml/2006/main">
            <a:pPr marL="0" indent="0">
              <a:buNone/>
            </a:pPr>
            <a:r>
              <a:rPr sz="1090">
                <a:solidFill>
                  <a:srgbClr val="52627A"/>
                </a:solidFill>
                <a:latin typeface="Aptos"/>
                <a:ea typeface="Aptos"/>
                <a:cs typeface="Aptos"/>
              </a:rPr>
              <a:t>PNG/JPEG, ≤5 MiB backend, ≤4096², ≤16M pixels; frame/decompression/time checks; image bytes discarded.</a:t>
            </a:r>
            <a:endParaRPr sz="1090"/>
          </a:p>
        </p:txBody>
      </p:sp>
      <p:sp>
        <p:nvSpPr>
          <p:cNvPr id="17" name="Shape 14">
            <a:extLst xmlns:a="http://schemas.openxmlformats.org/drawingml/2006/main">
              <a:ext uri="{FF2B5EF4-FFF2-40B4-BE49-F238E27FC236}">
                <a16:creationId xmlns:a16="http://schemas.microsoft.com/office/drawing/2014/main" id="{121548D9-E209-4A8C-8D05-CC67EF7870F8}"/>
              </a:ext>
            </a:extLst>
          </p:cNvPr>
          <p:cNvSpPr>
            <a:spLocks xmlns:a="http://schemas.openxmlformats.org/drawingml/2006/main" noGrp="1"/>
          </p:cNvSpPr>
          <p:nvPr/>
        </p:nvSpPr>
        <p:spPr>
          <a:xfrm xmlns:a="http://schemas.openxmlformats.org/drawingml/2006/main">
            <a:off x="5998464" y="1225296"/>
            <a:ext cx="2542032" cy="1627632"/>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10160">
            <a:solidFill>
              <a:srgbClr val="D7DEE8"/>
            </a:solidFill>
            <a:prstDash val="solid"/>
          </a:ln>
        </p:spPr>
      </p:sp>
      <p:sp>
        <p:nvSpPr>
          <p:cNvPr id="18" name="Shape 15">
            <a:extLst xmlns:a="http://schemas.openxmlformats.org/drawingml/2006/main">
              <a:ext uri="{FF2B5EF4-FFF2-40B4-BE49-F238E27FC236}">
                <a16:creationId xmlns:a16="http://schemas.microsoft.com/office/drawing/2014/main" id="{F8224C7F-7BE6-4408-BE35-AC1365DDE318}"/>
              </a:ext>
            </a:extLst>
          </p:cNvPr>
          <p:cNvSpPr>
            <a:spLocks xmlns:a="http://schemas.openxmlformats.org/drawingml/2006/main" noGrp="1"/>
          </p:cNvSpPr>
          <p:nvPr/>
        </p:nvSpPr>
        <p:spPr>
          <a:xfrm xmlns:a="http://schemas.openxmlformats.org/drawingml/2006/main">
            <a:off x="5998464" y="1225296"/>
            <a:ext cx="64008" cy="1627632"/>
          </a:xfrm>
          <a:prstGeom xmlns:a="http://schemas.openxmlformats.org/drawingml/2006/main" prst="rect">
            <a:avLst/>
          </a:prstGeom>
          <a:solidFill xmlns:a="http://schemas.openxmlformats.org/drawingml/2006/main">
            <a:srgbClr val="E8AD12"/>
          </a:solidFill>
          <a:ln xmlns:a="http://schemas.openxmlformats.org/drawingml/2006/main" w="12700">
            <a:solidFill>
              <a:srgbClr val="E8AD12">
                <a:alpha val="0"/>
              </a:srgbClr>
            </a:solidFill>
            <a:prstDash val="solid"/>
          </a:ln>
        </p:spPr>
      </p:sp>
      <p:sp>
        <p:nvSpPr>
          <p:cNvPr id="19" name="Text 16">
            <a:extLst xmlns:a="http://schemas.openxmlformats.org/drawingml/2006/main">
              <a:ext uri="{FF2B5EF4-FFF2-40B4-BE49-F238E27FC236}">
                <a16:creationId xmlns:a16="http://schemas.microsoft.com/office/drawing/2014/main" id="{460592DD-3590-4AAA-9AE4-5D732E5F7167}"/>
              </a:ext>
            </a:extLst>
          </p:cNvPr>
          <p:cNvSpPr>
            <a:spLocks xmlns:a="http://schemas.openxmlformats.org/drawingml/2006/main" noGrp="1"/>
          </p:cNvSpPr>
          <p:nvPr/>
        </p:nvSpPr>
        <p:spPr>
          <a:xfrm xmlns:a="http://schemas.openxmlformats.org/drawingml/2006/main">
            <a:off x="6199632" y="1389888"/>
            <a:ext cx="960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30" b="1">
                <a:solidFill>
                  <a:srgbClr val="E8AD12"/>
                </a:solidFill>
                <a:latin typeface="Aptos Display"/>
                <a:ea typeface="Aptos Display"/>
                <a:cs typeface="Aptos Display"/>
              </a:rPr>
              <a:t>Evidence</a:t>
            </a:r>
            <a:endParaRPr sz="1530"/>
          </a:p>
        </p:txBody>
      </p:sp>
      <p:sp>
        <p:nvSpPr>
          <p:cNvPr id="20" name="Text 17">
            <a:extLst xmlns:a="http://schemas.openxmlformats.org/drawingml/2006/main">
              <a:ext uri="{FF2B5EF4-FFF2-40B4-BE49-F238E27FC236}">
                <a16:creationId xmlns:a16="http://schemas.microsoft.com/office/drawing/2014/main" id="{6F8560CA-AD95-4722-A498-41C027365015}"/>
              </a:ext>
            </a:extLst>
          </p:cNvPr>
          <p:cNvSpPr>
            <a:spLocks xmlns:a="http://schemas.openxmlformats.org/drawingml/2006/main" noGrp="1"/>
          </p:cNvSpPr>
          <p:nvPr/>
        </p:nvSpPr>
        <p:spPr>
          <a:xfrm xmlns:a="http://schemas.openxmlformats.org/drawingml/2006/main">
            <a:off x="6199632" y="1700784"/>
            <a:ext cx="212140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80" b="1">
                <a:solidFill>
                  <a:srgbClr val="1C2940"/>
                </a:solidFill>
                <a:latin typeface="Aptos"/>
                <a:ea typeface="Aptos"/>
                <a:cs typeface="Aptos"/>
              </a:rPr>
              <a:t>Regex + URL checks + risk rules</a:t>
            </a:r>
            <a:endParaRPr sz="1180"/>
          </a:p>
        </p:txBody>
      </p:sp>
      <p:sp>
        <p:nvSpPr>
          <p:cNvPr id="21" name="Text 18">
            <a:extLst xmlns:a="http://schemas.openxmlformats.org/drawingml/2006/main">
              <a:ext uri="{FF2B5EF4-FFF2-40B4-BE49-F238E27FC236}">
                <a16:creationId xmlns:a16="http://schemas.microsoft.com/office/drawing/2014/main" id="{FA76D763-5EA0-429D-916C-9757B292BB86}"/>
              </a:ext>
            </a:extLst>
          </p:cNvPr>
          <p:cNvSpPr>
            <a:spLocks xmlns:a="http://schemas.openxmlformats.org/drawingml/2006/main" noGrp="1"/>
          </p:cNvSpPr>
          <p:nvPr/>
        </p:nvSpPr>
        <p:spPr>
          <a:xfrm xmlns:a="http://schemas.openxmlformats.org/drawingml/2006/main">
            <a:off x="6199632" y="2103120"/>
            <a:ext cx="212140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0019"/>
          </a:bodyPr>
          <a:lstStyle xmlns:a="http://schemas.openxmlformats.org/drawingml/2006/main"/>
          <a:p xmlns:a="http://schemas.openxmlformats.org/drawingml/2006/main">
            <a:pPr marL="0" indent="0">
              <a:buNone/>
            </a:pPr>
            <a:r>
              <a:rPr sz="1090">
                <a:solidFill>
                  <a:srgbClr val="52627A"/>
                </a:solidFill>
                <a:latin typeface="Aptos"/>
                <a:ea typeface="Aptos"/>
                <a:cs typeface="Aptos"/>
              </a:rPr>
              <a:t>Regex + URL heuristics expose phones, UPI, email, URLs, amounts, OTPs, urgency and threats; identifiers are masked.</a:t>
            </a:r>
            <a:endParaRPr sz="1090"/>
          </a:p>
        </p:txBody>
      </p:sp>
      <p:sp>
        <p:nvSpPr>
          <p:cNvPr id="22" name="Shape 19">
            <a:extLst xmlns:a="http://schemas.openxmlformats.org/drawingml/2006/main">
              <a:ext uri="{FF2B5EF4-FFF2-40B4-BE49-F238E27FC236}">
                <a16:creationId xmlns:a16="http://schemas.microsoft.com/office/drawing/2014/main" id="{CFDD0664-B495-4E7B-BCC8-D1A5C9A581A2}"/>
              </a:ext>
            </a:extLst>
          </p:cNvPr>
          <p:cNvSpPr>
            <a:spLocks xmlns:a="http://schemas.openxmlformats.org/drawingml/2006/main" noGrp="1"/>
          </p:cNvSpPr>
          <p:nvPr/>
        </p:nvSpPr>
        <p:spPr>
          <a:xfrm xmlns:a="http://schemas.openxmlformats.org/drawingml/2006/main">
            <a:off x="457200" y="3081528"/>
            <a:ext cx="2542032" cy="1627632"/>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10160">
            <a:solidFill>
              <a:srgbClr val="D7DEE8"/>
            </a:solidFill>
            <a:prstDash val="solid"/>
          </a:ln>
        </p:spPr>
      </p:sp>
      <p:sp>
        <p:nvSpPr>
          <p:cNvPr id="23" name="Shape 20">
            <a:extLst xmlns:a="http://schemas.openxmlformats.org/drawingml/2006/main">
              <a:ext uri="{FF2B5EF4-FFF2-40B4-BE49-F238E27FC236}">
                <a16:creationId xmlns:a16="http://schemas.microsoft.com/office/drawing/2014/main" id="{6B41F095-2B9A-4F30-8D1E-8C1E9A2D873F}"/>
              </a:ext>
            </a:extLst>
          </p:cNvPr>
          <p:cNvSpPr>
            <a:spLocks xmlns:a="http://schemas.openxmlformats.org/drawingml/2006/main" noGrp="1"/>
          </p:cNvSpPr>
          <p:nvPr/>
        </p:nvSpPr>
        <p:spPr>
          <a:xfrm xmlns:a="http://schemas.openxmlformats.org/drawingml/2006/main">
            <a:off x="457200" y="3081528"/>
            <a:ext cx="64008" cy="1627632"/>
          </a:xfrm>
          <a:prstGeom xmlns:a="http://schemas.openxmlformats.org/drawingml/2006/main" prst="rect">
            <a:avLst/>
          </a:prstGeom>
          <a:solidFill xmlns:a="http://schemas.openxmlformats.org/drawingml/2006/main">
            <a:srgbClr val="23805D"/>
          </a:solidFill>
          <a:ln xmlns:a="http://schemas.openxmlformats.org/drawingml/2006/main" w="12700">
            <a:solidFill>
              <a:srgbClr val="23805D">
                <a:alpha val="0"/>
              </a:srgbClr>
            </a:solidFill>
            <a:prstDash val="solid"/>
          </a:ln>
        </p:spPr>
      </p:sp>
      <p:sp>
        <p:nvSpPr>
          <p:cNvPr id="24" name="Text 21">
            <a:extLst xmlns:a="http://schemas.openxmlformats.org/drawingml/2006/main">
              <a:ext uri="{FF2B5EF4-FFF2-40B4-BE49-F238E27FC236}">
                <a16:creationId xmlns:a16="http://schemas.microsoft.com/office/drawing/2014/main" id="{5B2CDB6A-24F1-4C68-9094-7A3864E66C44}"/>
              </a:ext>
            </a:extLst>
          </p:cNvPr>
          <p:cNvSpPr>
            <a:spLocks xmlns:a="http://schemas.openxmlformats.org/drawingml/2006/main" noGrp="1"/>
          </p:cNvSpPr>
          <p:nvPr/>
        </p:nvSpPr>
        <p:spPr>
          <a:xfrm xmlns:a="http://schemas.openxmlformats.org/drawingml/2006/main">
            <a:off x="658368" y="3246120"/>
            <a:ext cx="1524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30" b="1">
                <a:solidFill>
                  <a:srgbClr val="23805D"/>
                </a:solidFill>
                <a:latin typeface="Aptos Display"/>
                <a:ea typeface="Aptos Display"/>
                <a:cs typeface="Aptos Display"/>
              </a:rPr>
              <a:t>Persistence</a:t>
            </a:r>
            <a:endParaRPr sz="1530"/>
          </a:p>
        </p:txBody>
      </p:sp>
      <p:sp>
        <p:nvSpPr>
          <p:cNvPr id="25" name="Text 22">
            <a:extLst xmlns:a="http://schemas.openxmlformats.org/drawingml/2006/main">
              <a:ext uri="{FF2B5EF4-FFF2-40B4-BE49-F238E27FC236}">
                <a16:creationId xmlns:a16="http://schemas.microsoft.com/office/drawing/2014/main" id="{2D718530-1727-48EB-86DC-2B08677CBDE2}"/>
              </a:ext>
            </a:extLst>
          </p:cNvPr>
          <p:cNvSpPr>
            <a:spLocks xmlns:a="http://schemas.openxmlformats.org/drawingml/2006/main" noGrp="1"/>
          </p:cNvSpPr>
          <p:nvPr/>
        </p:nvSpPr>
        <p:spPr>
          <a:xfrm xmlns:a="http://schemas.openxmlformats.org/drawingml/2006/main">
            <a:off x="658368" y="3557016"/>
            <a:ext cx="212140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80" b="1">
                <a:solidFill>
                  <a:srgbClr val="1C2940"/>
                </a:solidFill>
                <a:latin typeface="Aptos"/>
                <a:ea typeface="Aptos"/>
                <a:cs typeface="Aptos"/>
              </a:rPr>
              <a:t>SQLite with retention metadata</a:t>
            </a:r>
            <a:endParaRPr sz="1180"/>
          </a:p>
        </p:txBody>
      </p:sp>
      <p:sp>
        <p:nvSpPr>
          <p:cNvPr id="26" name="Text 23">
            <a:extLst xmlns:a="http://schemas.openxmlformats.org/drawingml/2006/main">
              <a:ext uri="{FF2B5EF4-FFF2-40B4-BE49-F238E27FC236}">
                <a16:creationId xmlns:a16="http://schemas.microsoft.com/office/drawing/2014/main" id="{5318D1D5-3C0A-44D9-8035-A1E93F03CF4B}"/>
              </a:ext>
            </a:extLst>
          </p:cNvPr>
          <p:cNvSpPr>
            <a:spLocks xmlns:a="http://schemas.openxmlformats.org/drawingml/2006/main" noGrp="1"/>
          </p:cNvSpPr>
          <p:nvPr/>
        </p:nvSpPr>
        <p:spPr>
          <a:xfrm xmlns:a="http://schemas.openxmlformats.org/drawingml/2006/main">
            <a:off x="658368" y="3959352"/>
            <a:ext cx="212140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9816"/>
          </a:bodyPr>
          <a:lstStyle xmlns:a="http://schemas.openxmlformats.org/drawingml/2006/main"/>
          <a:p xmlns:a="http://schemas.openxmlformats.org/drawingml/2006/main">
            <a:pPr marL="0" indent="0">
              <a:buNone/>
            </a:pPr>
            <a:r>
              <a:rPr sz="1090">
                <a:solidFill>
                  <a:srgbClr val="52627A"/>
                </a:solidFill>
                <a:latin typeface="Aptos"/>
                <a:ea typeface="Aptos"/>
                <a:cs typeface="Aptos"/>
              </a:rPr>
              <a:t>Consent-gated writes; UTC retention expiry; malformed legacy timestamps purge; bounded latest-case reads and clear/delete.</a:t>
            </a:r>
            <a:endParaRPr sz="1090"/>
          </a:p>
        </p:txBody>
      </p:sp>
      <p:sp>
        <p:nvSpPr>
          <p:cNvPr id="27" name="Shape 24">
            <a:extLst xmlns:a="http://schemas.openxmlformats.org/drawingml/2006/main">
              <a:ext uri="{FF2B5EF4-FFF2-40B4-BE49-F238E27FC236}">
                <a16:creationId xmlns:a16="http://schemas.microsoft.com/office/drawing/2014/main" id="{B21CCC34-6311-4A46-8E3A-792AAFAA3661}"/>
              </a:ext>
            </a:extLst>
          </p:cNvPr>
          <p:cNvSpPr>
            <a:spLocks xmlns:a="http://schemas.openxmlformats.org/drawingml/2006/main" noGrp="1"/>
          </p:cNvSpPr>
          <p:nvPr/>
        </p:nvSpPr>
        <p:spPr>
          <a:xfrm xmlns:a="http://schemas.openxmlformats.org/drawingml/2006/main">
            <a:off x="3227832" y="3081528"/>
            <a:ext cx="2542032" cy="1627632"/>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10160">
            <a:solidFill>
              <a:srgbClr val="D7DEE8"/>
            </a:solidFill>
            <a:prstDash val="solid"/>
          </a:ln>
        </p:spPr>
      </p:sp>
      <p:sp>
        <p:nvSpPr>
          <p:cNvPr id="28" name="Shape 25">
            <a:extLst xmlns:a="http://schemas.openxmlformats.org/drawingml/2006/main">
              <a:ext uri="{FF2B5EF4-FFF2-40B4-BE49-F238E27FC236}">
                <a16:creationId xmlns:a16="http://schemas.microsoft.com/office/drawing/2014/main" id="{F4B39164-81C2-4C4B-B1E2-159A58A8990A}"/>
              </a:ext>
            </a:extLst>
          </p:cNvPr>
          <p:cNvSpPr>
            <a:spLocks xmlns:a="http://schemas.openxmlformats.org/drawingml/2006/main" noGrp="1"/>
          </p:cNvSpPr>
          <p:nvPr/>
        </p:nvSpPr>
        <p:spPr>
          <a:xfrm xmlns:a="http://schemas.openxmlformats.org/drawingml/2006/main">
            <a:off x="3227832" y="3081528"/>
            <a:ext cx="64008" cy="1627632"/>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29" name="Text 26">
            <a:extLst xmlns:a="http://schemas.openxmlformats.org/drawingml/2006/main">
              <a:ext uri="{FF2B5EF4-FFF2-40B4-BE49-F238E27FC236}">
                <a16:creationId xmlns:a16="http://schemas.microsoft.com/office/drawing/2014/main" id="{AD8709E8-F905-4983-9436-ACCADB49910E}"/>
              </a:ext>
            </a:extLst>
          </p:cNvPr>
          <p:cNvSpPr>
            <a:spLocks xmlns:a="http://schemas.openxmlformats.org/drawingml/2006/main" noGrp="1"/>
          </p:cNvSpPr>
          <p:nvPr/>
        </p:nvSpPr>
        <p:spPr>
          <a:xfrm xmlns:a="http://schemas.openxmlformats.org/drawingml/2006/main">
            <a:off x="3429000" y="3246120"/>
            <a:ext cx="960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30" b="1">
                <a:solidFill>
                  <a:srgbClr val="B32232"/>
                </a:solidFill>
                <a:latin typeface="Aptos Display"/>
                <a:ea typeface="Aptos Display"/>
                <a:cs typeface="Aptos Display"/>
              </a:rPr>
              <a:t>Web/API</a:t>
            </a:r>
            <a:endParaRPr sz="1530"/>
          </a:p>
        </p:txBody>
      </p:sp>
      <p:sp>
        <p:nvSpPr>
          <p:cNvPr id="30" name="Text 27">
            <a:extLst xmlns:a="http://schemas.openxmlformats.org/drawingml/2006/main">
              <a:ext uri="{FF2B5EF4-FFF2-40B4-BE49-F238E27FC236}">
                <a16:creationId xmlns:a16="http://schemas.microsoft.com/office/drawing/2014/main" id="{6D2B5EBE-BA30-42DA-9F12-05EF1FC09988}"/>
              </a:ext>
            </a:extLst>
          </p:cNvPr>
          <p:cNvSpPr>
            <a:spLocks xmlns:a="http://schemas.openxmlformats.org/drawingml/2006/main" noGrp="1"/>
          </p:cNvSpPr>
          <p:nvPr/>
        </p:nvSpPr>
        <p:spPr>
          <a:xfrm xmlns:a="http://schemas.openxmlformats.org/drawingml/2006/main">
            <a:off x="3429000" y="3557016"/>
            <a:ext cx="212140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80" b="1">
                <a:solidFill>
                  <a:srgbClr val="1C2940"/>
                </a:solidFill>
                <a:latin typeface="Aptos"/>
                <a:ea typeface="Aptos"/>
                <a:cs typeface="Aptos"/>
              </a:rPr>
              <a:t>Next.js App Router + FastAPI</a:t>
            </a:r>
            <a:endParaRPr sz="1180"/>
          </a:p>
        </p:txBody>
      </p:sp>
      <p:sp>
        <p:nvSpPr>
          <p:cNvPr id="31" name="Text 28">
            <a:extLst xmlns:a="http://schemas.openxmlformats.org/drawingml/2006/main">
              <a:ext uri="{FF2B5EF4-FFF2-40B4-BE49-F238E27FC236}">
                <a16:creationId xmlns:a16="http://schemas.microsoft.com/office/drawing/2014/main" id="{D431EFAF-8A3A-42B8-A87A-A4E8BB806035}"/>
              </a:ext>
            </a:extLst>
          </p:cNvPr>
          <p:cNvSpPr>
            <a:spLocks xmlns:a="http://schemas.openxmlformats.org/drawingml/2006/main" noGrp="1"/>
          </p:cNvSpPr>
          <p:nvPr/>
        </p:nvSpPr>
        <p:spPr>
          <a:xfrm xmlns:a="http://schemas.openxmlformats.org/drawingml/2006/main">
            <a:off x="3429000" y="3959352"/>
            <a:ext cx="212140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9816"/>
          </a:bodyPr>
          <a:lstStyle xmlns:a="http://schemas.openxmlformats.org/drawingml/2006/main"/>
          <a:p xmlns:a="http://schemas.openxmlformats.org/drawingml/2006/main">
            <a:pPr marL="0" indent="0">
              <a:buNone/>
            </a:pPr>
            <a:r>
              <a:rPr sz="1090">
                <a:solidFill>
                  <a:srgbClr val="52627A"/>
                </a:solidFill>
                <a:latin typeface="Aptos"/>
                <a:ea typeface="Aptos"/>
                <a:cs typeface="Aptos"/>
              </a:rPr>
              <a:t>Next.js same-origin BFF keeps API URL/key server-side; generic errors, request limits, /health and dependency-aware /ready.</a:t>
            </a:r>
            <a:endParaRPr sz="1090"/>
          </a:p>
        </p:txBody>
      </p:sp>
      <p:sp>
        <p:nvSpPr>
          <p:cNvPr id="32" name="Shape 29">
            <a:extLst xmlns:a="http://schemas.openxmlformats.org/drawingml/2006/main">
              <a:ext uri="{FF2B5EF4-FFF2-40B4-BE49-F238E27FC236}">
                <a16:creationId xmlns:a16="http://schemas.microsoft.com/office/drawing/2014/main" id="{372BC817-DADB-416C-B73A-03A80FB30812}"/>
              </a:ext>
            </a:extLst>
          </p:cNvPr>
          <p:cNvSpPr>
            <a:spLocks xmlns:a="http://schemas.openxmlformats.org/drawingml/2006/main" noGrp="1"/>
          </p:cNvSpPr>
          <p:nvPr/>
        </p:nvSpPr>
        <p:spPr>
          <a:xfrm xmlns:a="http://schemas.openxmlformats.org/drawingml/2006/main">
            <a:off x="5998464" y="3081528"/>
            <a:ext cx="2542032" cy="1627632"/>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10160">
            <a:solidFill>
              <a:srgbClr val="D7DEE8"/>
            </a:solidFill>
            <a:prstDash val="solid"/>
          </a:ln>
        </p:spPr>
      </p:sp>
      <p:sp>
        <p:nvSpPr>
          <p:cNvPr id="33" name="Shape 30">
            <a:extLst xmlns:a="http://schemas.openxmlformats.org/drawingml/2006/main">
              <a:ext uri="{FF2B5EF4-FFF2-40B4-BE49-F238E27FC236}">
                <a16:creationId xmlns:a16="http://schemas.microsoft.com/office/drawing/2014/main" id="{CF4E90F5-6C3E-4CB7-B889-F6E505471242}"/>
              </a:ext>
            </a:extLst>
          </p:cNvPr>
          <p:cNvSpPr>
            <a:spLocks xmlns:a="http://schemas.openxmlformats.org/drawingml/2006/main" noGrp="1"/>
          </p:cNvSpPr>
          <p:nvPr/>
        </p:nvSpPr>
        <p:spPr>
          <a:xfrm xmlns:a="http://schemas.openxmlformats.org/drawingml/2006/main">
            <a:off x="5998464" y="3081528"/>
            <a:ext cx="64008" cy="1627632"/>
          </a:xfrm>
          <a:prstGeom xmlns:a="http://schemas.openxmlformats.org/drawingml/2006/main" prst="rect">
            <a:avLst/>
          </a:prstGeom>
          <a:solidFill xmlns:a="http://schemas.openxmlformats.org/drawingml/2006/main">
            <a:srgbClr val="24334E"/>
          </a:solidFill>
          <a:ln xmlns:a="http://schemas.openxmlformats.org/drawingml/2006/main" w="12700">
            <a:solidFill>
              <a:srgbClr val="24334E">
                <a:alpha val="0"/>
              </a:srgbClr>
            </a:solidFill>
            <a:prstDash val="solid"/>
          </a:ln>
        </p:spPr>
      </p:sp>
      <p:sp>
        <p:nvSpPr>
          <p:cNvPr id="34" name="Text 31">
            <a:extLst xmlns:a="http://schemas.openxmlformats.org/drawingml/2006/main">
              <a:ext uri="{FF2B5EF4-FFF2-40B4-BE49-F238E27FC236}">
                <a16:creationId xmlns:a16="http://schemas.microsoft.com/office/drawing/2014/main" id="{D423B703-28E7-45C7-B3F4-E15D9E208C59}"/>
              </a:ext>
            </a:extLst>
          </p:cNvPr>
          <p:cNvSpPr>
            <a:spLocks xmlns:a="http://schemas.openxmlformats.org/drawingml/2006/main" noGrp="1"/>
          </p:cNvSpPr>
          <p:nvPr/>
        </p:nvSpPr>
        <p:spPr>
          <a:xfrm xmlns:a="http://schemas.openxmlformats.org/drawingml/2006/main">
            <a:off x="6199632" y="3246120"/>
            <a:ext cx="960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30" b="1">
                <a:solidFill>
                  <a:srgbClr val="24334E"/>
                </a:solidFill>
                <a:latin typeface="Aptos Display"/>
                <a:ea typeface="Aptos Display"/>
                <a:cs typeface="Aptos Display"/>
              </a:rPr>
              <a:t>Release</a:t>
            </a:r>
            <a:endParaRPr sz="1530"/>
          </a:p>
        </p:txBody>
      </p:sp>
      <p:sp>
        <p:nvSpPr>
          <p:cNvPr id="35" name="Text 32">
            <a:extLst xmlns:a="http://schemas.openxmlformats.org/drawingml/2006/main">
              <a:ext uri="{FF2B5EF4-FFF2-40B4-BE49-F238E27FC236}">
                <a16:creationId xmlns:a16="http://schemas.microsoft.com/office/drawing/2014/main" id="{BE99E0C1-ED0B-429C-AA43-A75BF3F1B096}"/>
              </a:ext>
            </a:extLst>
          </p:cNvPr>
          <p:cNvSpPr>
            <a:spLocks xmlns:a="http://schemas.openxmlformats.org/drawingml/2006/main" noGrp="1"/>
          </p:cNvSpPr>
          <p:nvPr/>
        </p:nvSpPr>
        <p:spPr>
          <a:xfrm xmlns:a="http://schemas.openxmlformats.org/drawingml/2006/main">
            <a:off x="6199632" y="3557016"/>
            <a:ext cx="212140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80" b="1">
                <a:solidFill>
                  <a:srgbClr val="1C2940"/>
                </a:solidFill>
                <a:latin typeface="Aptos"/>
                <a:ea typeface="Aptos"/>
                <a:cs typeface="Aptos"/>
              </a:rPr>
              <a:t>Pinned Python + hash-locked dependencies</a:t>
            </a:r>
            <a:endParaRPr sz="1180"/>
          </a:p>
        </p:txBody>
      </p:sp>
      <p:sp>
        <p:nvSpPr>
          <p:cNvPr id="36" name="Text 33">
            <a:extLst xmlns:a="http://schemas.openxmlformats.org/drawingml/2006/main">
              <a:ext uri="{FF2B5EF4-FFF2-40B4-BE49-F238E27FC236}">
                <a16:creationId xmlns:a16="http://schemas.microsoft.com/office/drawing/2014/main" id="{4D1818A2-941E-4E85-AF23-FEA87DE2CAD4}"/>
              </a:ext>
            </a:extLst>
          </p:cNvPr>
          <p:cNvSpPr>
            <a:spLocks xmlns:a="http://schemas.openxmlformats.org/drawingml/2006/main" noGrp="1"/>
          </p:cNvSpPr>
          <p:nvPr/>
        </p:nvSpPr>
        <p:spPr>
          <a:xfrm xmlns:a="http://schemas.openxmlformats.org/drawingml/2006/main">
            <a:off x="6199632" y="3959352"/>
            <a:ext cx="212140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1492"/>
          </a:bodyPr>
          <a:lstStyle xmlns:a="http://schemas.openxmlformats.org/drawingml/2006/main"/>
          <a:p xmlns:a="http://schemas.openxmlformats.org/drawingml/2006/main">
            <a:pPr marL="0" indent="0">
              <a:buNone/>
            </a:pPr>
            <a:r>
              <a:rPr sz="1090">
                <a:solidFill>
                  <a:srgbClr val="52627A"/>
                </a:solidFill>
                <a:latin typeface="Aptos"/>
                <a:ea typeface="Aptos"/>
                <a:cs typeface="Aptos"/>
              </a:rPr>
              <a:t>Python 3.11.15 canonical artifacts; universal hash lock; non-root read-only containers; pip-audit and multi-version CI.</a:t>
            </a:r>
            <a:endParaRPr sz="1090"/>
          </a:p>
        </p:txBody>
      </p:sp>
      <p:sp>
        <p:nvSpPr>
          <p:cNvPr id="37" name="Text 34">
            <a:extLst xmlns:a="http://schemas.openxmlformats.org/drawingml/2006/main">
              <a:ext uri="{FF2B5EF4-FFF2-40B4-BE49-F238E27FC236}">
                <a16:creationId xmlns:a16="http://schemas.microsoft.com/office/drawing/2014/main" id="{B792FAB3-A275-4F97-865F-97909264BB1F}"/>
              </a:ext>
            </a:extLst>
          </p:cNvPr>
          <p:cNvSpPr>
            <a:spLocks xmlns:a="http://schemas.openxmlformats.org/drawingml/2006/main" noGrp="1"/>
          </p:cNvSpPr>
          <p:nvPr/>
        </p:nvSpPr>
        <p:spPr>
          <a:xfrm xmlns:a="http://schemas.openxmlformats.org/drawingml/2006/main">
            <a:off x="475488" y="5074920"/>
            <a:ext cx="365760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42073"/>
                </a:solidFill>
                <a:latin typeface="Aptos"/>
                <a:ea typeface="Aptos"/>
                <a:cs typeface="Aptos"/>
              </a:rPr>
              <a:t>VERIFIABLE PROJECT INTERFACES</a:t>
            </a:r>
            <a:endParaRPr sz="1050"/>
          </a:p>
        </p:txBody>
      </p:sp>
      <p:sp>
        <p:nvSpPr>
          <p:cNvPr id="38" name="Shape 35">
            <a:extLst xmlns:a="http://schemas.openxmlformats.org/drawingml/2006/main">
              <a:ext uri="{FF2B5EF4-FFF2-40B4-BE49-F238E27FC236}">
                <a16:creationId xmlns:a16="http://schemas.microsoft.com/office/drawing/2014/main" id="{3435DA8D-405F-44BB-80E1-1F0CA3052D35}"/>
              </a:ext>
            </a:extLst>
          </p:cNvPr>
          <p:cNvSpPr>
            <a:spLocks xmlns:a="http://schemas.openxmlformats.org/drawingml/2006/main" noGrp="1"/>
          </p:cNvSpPr>
          <p:nvPr/>
        </p:nvSpPr>
        <p:spPr>
          <a:xfrm xmlns:a="http://schemas.openxmlformats.org/drawingml/2006/main">
            <a:off x="475488" y="5349240"/>
            <a:ext cx="5248656" cy="877824"/>
          </a:xfrm>
          <a:prstGeom xmlns:a="http://schemas.openxmlformats.org/drawingml/2006/main" prst="roundRect">
            <a:avLst>
              <a:gd name="adj" fmla="val 8333"/>
            </a:avLst>
          </a:prstGeom>
          <a:solidFill xmlns:a="http://schemas.openxmlformats.org/drawingml/2006/main">
            <a:srgbClr val="F2EAF7"/>
          </a:solidFill>
          <a:ln xmlns:a="http://schemas.openxmlformats.org/drawingml/2006/main" w="10160">
            <a:solidFill>
              <a:srgbClr val="D8C5E5"/>
            </a:solidFill>
            <a:prstDash val="solid"/>
          </a:ln>
        </p:spPr>
      </p:sp>
      <p:sp>
        <p:nvSpPr>
          <p:cNvPr id="39" name="Text 36">
            <a:extLst xmlns:a="http://schemas.openxmlformats.org/drawingml/2006/main">
              <a:ext uri="{FF2B5EF4-FFF2-40B4-BE49-F238E27FC236}">
                <a16:creationId xmlns:a16="http://schemas.microsoft.com/office/drawing/2014/main" id="{6BC3E295-5679-41C8-B622-76E7B3A862EA}"/>
              </a:ext>
            </a:extLst>
          </p:cNvPr>
          <p:cNvSpPr>
            <a:spLocks xmlns:a="http://schemas.openxmlformats.org/drawingml/2006/main" noGrp="1"/>
          </p:cNvSpPr>
          <p:nvPr/>
        </p:nvSpPr>
        <p:spPr>
          <a:xfrm xmlns:a="http://schemas.openxmlformats.org/drawingml/2006/main">
            <a:off x="713232" y="5577840"/>
            <a:ext cx="47914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20" b="1">
                <a:solidFill>
                  <a:srgbClr val="542073"/>
                </a:solidFill>
                <a:latin typeface="Aptos"/>
                <a:ea typeface="Aptos"/>
                <a:cs typeface="Aptos"/>
              </a:rPr>
              <a:t>POST /analyze   ·   POST /analyze/image   ·   GET /graph   ·   DELETE /cases   ·   GET /health   ·   GET /ready</a:t>
            </a:r>
            <a:endParaRPr sz="1120"/>
          </a:p>
        </p:txBody>
      </p:sp>
      <p:sp>
        <p:nvSpPr>
          <p:cNvPr id="40" name="Text 37">
            <a:extLst xmlns:a="http://schemas.openxmlformats.org/drawingml/2006/main">
              <a:ext uri="{FF2B5EF4-FFF2-40B4-BE49-F238E27FC236}">
                <a16:creationId xmlns:a16="http://schemas.microsoft.com/office/drawing/2014/main" id="{ABEE5B5F-EFE8-486E-9E76-ACABC57EC362}"/>
              </a:ext>
            </a:extLst>
          </p:cNvPr>
          <p:cNvSpPr>
            <a:spLocks xmlns:a="http://schemas.openxmlformats.org/drawingml/2006/main" noGrp="1"/>
          </p:cNvSpPr>
          <p:nvPr/>
        </p:nvSpPr>
        <p:spPr>
          <a:xfrm xmlns:a="http://schemas.openxmlformats.org/drawingml/2006/main">
            <a:off x="713232" y="5879592"/>
            <a:ext cx="4791456"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3730"/>
          </a:bodyPr>
          <a:lstStyle xmlns:a="http://schemas.openxmlformats.org/drawingml/2006/main"/>
          <a:p xmlns:a="http://schemas.openxmlformats.org/drawingml/2006/main">
            <a:pPr marL="0" indent="0">
              <a:buNone/>
            </a:pPr>
            <a:r>
              <a:rPr sz="1070">
                <a:solidFill>
                  <a:srgbClr val="1C2940"/>
                </a:solidFill>
                <a:latin typeface="Aptos"/>
                <a:ea typeface="Aptos"/>
                <a:cs typeface="Aptos"/>
              </a:rPr>
              <a:t>Website: Evaluate · Analyze text/image · Relationships · Research · Run guide · synthetic reset</a:t>
            </a:r>
            <a:endParaRPr sz="1070"/>
          </a:p>
        </p:txBody>
      </p:sp>
      <p:sp>
        <p:nvSpPr>
          <p:cNvPr id="41" name="Shape 38">
            <a:extLst xmlns:a="http://schemas.openxmlformats.org/drawingml/2006/main">
              <a:ext uri="{FF2B5EF4-FFF2-40B4-BE49-F238E27FC236}">
                <a16:creationId xmlns:a16="http://schemas.microsoft.com/office/drawing/2014/main" id="{B4602730-0C30-4EDB-9582-316C3CB63E96}"/>
              </a:ext>
            </a:extLst>
          </p:cNvPr>
          <p:cNvSpPr>
            <a:spLocks xmlns:a="http://schemas.openxmlformats.org/drawingml/2006/main" noGrp="1"/>
          </p:cNvSpPr>
          <p:nvPr/>
        </p:nvSpPr>
        <p:spPr>
          <a:xfrm xmlns:a="http://schemas.openxmlformats.org/drawingml/2006/main">
            <a:off x="5961888" y="5349240"/>
            <a:ext cx="1243584"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42" name="Shape 39">
            <a:extLst xmlns:a="http://schemas.openxmlformats.org/drawingml/2006/main">
              <a:ext uri="{FF2B5EF4-FFF2-40B4-BE49-F238E27FC236}">
                <a16:creationId xmlns:a16="http://schemas.microsoft.com/office/drawing/2014/main" id="{1BE9B224-2DF4-47F7-9AA8-215077F973C9}"/>
              </a:ext>
            </a:extLst>
          </p:cNvPr>
          <p:cNvSpPr>
            <a:spLocks xmlns:a="http://schemas.openxmlformats.org/drawingml/2006/main" noGrp="1"/>
          </p:cNvSpPr>
          <p:nvPr/>
        </p:nvSpPr>
        <p:spPr>
          <a:xfrm xmlns:a="http://schemas.openxmlformats.org/drawingml/2006/main">
            <a:off x="5961888" y="5349240"/>
            <a:ext cx="64008" cy="749808"/>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43" name="Text 40">
            <a:extLst xmlns:a="http://schemas.openxmlformats.org/drawingml/2006/main">
              <a:ext uri="{FF2B5EF4-FFF2-40B4-BE49-F238E27FC236}">
                <a16:creationId xmlns:a16="http://schemas.microsoft.com/office/drawing/2014/main" id="{DE69E402-84A4-45DA-8CC2-13C60DB45D44}"/>
              </a:ext>
            </a:extLst>
          </p:cNvPr>
          <p:cNvSpPr>
            <a:spLocks xmlns:a="http://schemas.openxmlformats.org/drawingml/2006/main" noGrp="1"/>
          </p:cNvSpPr>
          <p:nvPr/>
        </p:nvSpPr>
        <p:spPr>
          <a:xfrm xmlns:a="http://schemas.openxmlformats.org/drawingml/2006/main">
            <a:off x="6126480" y="5424488"/>
            <a:ext cx="1014984" cy="276225"/>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2386"/>
          </a:bodyPr>
          <a:lstStyle xmlns:a="http://schemas.openxmlformats.org/drawingml/2006/main"/>
          <a:p xmlns:a="http://schemas.openxmlformats.org/drawingml/2006/main">
            <a:pPr marL="0" indent="0" algn="ctr">
              <a:buNone/>
            </a:pPr>
            <a:r>
              <a:rPr sz="2200" b="1">
                <a:solidFill>
                  <a:srgbClr val="009CAB"/>
                </a:solidFill>
                <a:latin typeface="Aptos Display"/>
                <a:ea typeface="Aptos Display"/>
                <a:cs typeface="Aptos Display"/>
              </a:rPr>
              <a:t>369</a:t>
            </a:r>
            <a:endParaRPr sz="2200"/>
          </a:p>
        </p:txBody>
      </p:sp>
      <p:sp>
        <p:nvSpPr>
          <p:cNvPr id="44" name="Text 41">
            <a:extLst xmlns:a="http://schemas.openxmlformats.org/drawingml/2006/main">
              <a:ext uri="{FF2B5EF4-FFF2-40B4-BE49-F238E27FC236}">
                <a16:creationId xmlns:a16="http://schemas.microsoft.com/office/drawing/2014/main" id="{A3123246-FC84-4B2A-847F-0E70BD636A7F}"/>
              </a:ext>
            </a:extLst>
          </p:cNvPr>
          <p:cNvSpPr>
            <a:spLocks xmlns:a="http://schemas.openxmlformats.org/drawingml/2006/main" noGrp="1"/>
          </p:cNvSpPr>
          <p:nvPr/>
        </p:nvSpPr>
        <p:spPr>
          <a:xfrm xmlns:a="http://schemas.openxmlformats.org/drawingml/2006/main">
            <a:off x="6126480" y="5719763"/>
            <a:ext cx="1014984" cy="13335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222"/>
          </a:bodyPr>
          <a:lstStyle xmlns:a="http://schemas.openxmlformats.org/drawingml/2006/main"/>
          <a:p xmlns:a="http://schemas.openxmlformats.org/drawingml/2006/main">
            <a:pPr marL="0" indent="0" algn="ctr">
              <a:buNone/>
            </a:pPr>
            <a:r>
              <a:rPr sz="900" b="1">
                <a:solidFill>
                  <a:srgbClr val="1C2940"/>
                </a:solidFill>
                <a:latin typeface="Aptos"/>
                <a:ea typeface="Aptos"/>
                <a:cs typeface="Aptos"/>
              </a:rPr>
              <a:t>automated tests</a:t>
            </a:r>
            <a:endParaRPr sz="1070"/>
          </a:p>
        </p:txBody>
      </p:sp>
      <p:sp>
        <p:nvSpPr>
          <p:cNvPr id="45" name="Text 42">
            <a:extLst xmlns:a="http://schemas.openxmlformats.org/drawingml/2006/main">
              <a:ext uri="{FF2B5EF4-FFF2-40B4-BE49-F238E27FC236}">
                <a16:creationId xmlns:a16="http://schemas.microsoft.com/office/drawing/2014/main" id="{3774F7B3-F9F0-4F6F-A853-E1C5CEC4AB6B}"/>
              </a:ext>
            </a:extLst>
          </p:cNvPr>
          <p:cNvSpPr>
            <a:spLocks xmlns:a="http://schemas.openxmlformats.org/drawingml/2006/main" noGrp="1"/>
          </p:cNvSpPr>
          <p:nvPr/>
        </p:nvSpPr>
        <p:spPr>
          <a:xfrm xmlns:a="http://schemas.openxmlformats.org/drawingml/2006/main">
            <a:off x="6126480" y="5886450"/>
            <a:ext cx="1014984" cy="1143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a:solidFill>
                  <a:srgbClr val="52627A"/>
                </a:solidFill>
                <a:latin typeface="Aptos"/>
                <a:ea typeface="Aptos"/>
                <a:cs typeface="Aptos"/>
              </a:rPr>
              <a:t>369 tests · 0 failures</a:t>
            </a:r>
            <a:endParaRPr sz="830"/>
          </a:p>
        </p:txBody>
      </p:sp>
      <p:sp>
        <p:nvSpPr>
          <p:cNvPr id="46" name="Shape 43">
            <a:extLst xmlns:a="http://schemas.openxmlformats.org/drawingml/2006/main">
              <a:ext uri="{FF2B5EF4-FFF2-40B4-BE49-F238E27FC236}">
                <a16:creationId xmlns:a16="http://schemas.microsoft.com/office/drawing/2014/main" id="{9D5AE2C5-ABE3-4174-ABFC-917366116644}"/>
              </a:ext>
            </a:extLst>
          </p:cNvPr>
          <p:cNvSpPr>
            <a:spLocks xmlns:a="http://schemas.openxmlformats.org/drawingml/2006/main" noGrp="1"/>
          </p:cNvSpPr>
          <p:nvPr/>
        </p:nvSpPr>
        <p:spPr>
          <a:xfrm xmlns:a="http://schemas.openxmlformats.org/drawingml/2006/main">
            <a:off x="7333488" y="5349240"/>
            <a:ext cx="1335024"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47" name="Shape 44">
            <a:extLst xmlns:a="http://schemas.openxmlformats.org/drawingml/2006/main">
              <a:ext uri="{FF2B5EF4-FFF2-40B4-BE49-F238E27FC236}">
                <a16:creationId xmlns:a16="http://schemas.microsoft.com/office/drawing/2014/main" id="{55AEC07C-0BA6-43DB-8F31-EEF8AA678058}"/>
              </a:ext>
            </a:extLst>
          </p:cNvPr>
          <p:cNvSpPr>
            <a:spLocks xmlns:a="http://schemas.openxmlformats.org/drawingml/2006/main" noGrp="1"/>
          </p:cNvSpPr>
          <p:nvPr/>
        </p:nvSpPr>
        <p:spPr>
          <a:xfrm xmlns:a="http://schemas.openxmlformats.org/drawingml/2006/main">
            <a:off x="7333488" y="5349240"/>
            <a:ext cx="64008" cy="749808"/>
          </a:xfrm>
          <a:prstGeom xmlns:a="http://schemas.openxmlformats.org/drawingml/2006/main" prst="rect">
            <a:avLst/>
          </a:prstGeom>
          <a:solidFill xmlns:a="http://schemas.openxmlformats.org/drawingml/2006/main">
            <a:srgbClr val="E8AD12"/>
          </a:solidFill>
          <a:ln xmlns:a="http://schemas.openxmlformats.org/drawingml/2006/main" w="12700">
            <a:solidFill>
              <a:srgbClr val="E8AD12">
                <a:alpha val="0"/>
              </a:srgbClr>
            </a:solidFill>
            <a:prstDash val="solid"/>
          </a:ln>
        </p:spPr>
      </p:sp>
      <p:sp>
        <p:nvSpPr>
          <p:cNvPr id="48" name="Text 45">
            <a:extLst xmlns:a="http://schemas.openxmlformats.org/drawingml/2006/main">
              <a:ext uri="{FF2B5EF4-FFF2-40B4-BE49-F238E27FC236}">
                <a16:creationId xmlns:a16="http://schemas.microsoft.com/office/drawing/2014/main" id="{CD524C75-8346-4690-8E3D-B52F270BABC5}"/>
              </a:ext>
            </a:extLst>
          </p:cNvPr>
          <p:cNvSpPr>
            <a:spLocks xmlns:a="http://schemas.openxmlformats.org/drawingml/2006/main" noGrp="1"/>
          </p:cNvSpPr>
          <p:nvPr/>
        </p:nvSpPr>
        <p:spPr>
          <a:xfrm xmlns:a="http://schemas.openxmlformats.org/drawingml/2006/main">
            <a:off x="7498080" y="5440680"/>
            <a:ext cx="110642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E8AD12"/>
                </a:solidFill>
                <a:latin typeface="Aptos Display"/>
                <a:ea typeface="Aptos Display"/>
                <a:cs typeface="Aptos Display"/>
              </a:rPr>
              <a:t>3</a:t>
            </a:r>
            <a:endParaRPr sz="2200"/>
          </a:p>
        </p:txBody>
      </p:sp>
      <p:sp>
        <p:nvSpPr>
          <p:cNvPr id="49" name="Text 46">
            <a:extLst xmlns:a="http://schemas.openxmlformats.org/drawingml/2006/main">
              <a:ext uri="{FF2B5EF4-FFF2-40B4-BE49-F238E27FC236}">
                <a16:creationId xmlns:a16="http://schemas.microsoft.com/office/drawing/2014/main" id="{BD4495A9-F9FD-431F-B4C2-1BE25A114F96}"/>
              </a:ext>
            </a:extLst>
          </p:cNvPr>
          <p:cNvSpPr>
            <a:spLocks xmlns:a="http://schemas.openxmlformats.org/drawingml/2006/main" noGrp="1"/>
          </p:cNvSpPr>
          <p:nvPr/>
        </p:nvSpPr>
        <p:spPr>
          <a:xfrm xmlns:a="http://schemas.openxmlformats.org/drawingml/2006/main">
            <a:off x="7498080" y="5742432"/>
            <a:ext cx="110642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70" b="1">
                <a:solidFill>
                  <a:srgbClr val="1C2940"/>
                </a:solidFill>
                <a:latin typeface="Aptos"/>
                <a:ea typeface="Aptos"/>
                <a:cs typeface="Aptos"/>
              </a:rPr>
              <a:t>Python versions</a:t>
            </a:r>
            <a:endParaRPr sz="1070"/>
          </a:p>
        </p:txBody>
      </p:sp>
      <p:sp>
        <p:nvSpPr>
          <p:cNvPr id="50" name="Text 47">
            <a:extLst xmlns:a="http://schemas.openxmlformats.org/drawingml/2006/main">
              <a:ext uri="{FF2B5EF4-FFF2-40B4-BE49-F238E27FC236}">
                <a16:creationId xmlns:a16="http://schemas.microsoft.com/office/drawing/2014/main" id="{463F9CB7-5EE8-46AF-8612-2DA8213ACE64}"/>
              </a:ext>
            </a:extLst>
          </p:cNvPr>
          <p:cNvSpPr>
            <a:spLocks xmlns:a="http://schemas.openxmlformats.org/drawingml/2006/main" noGrp="1"/>
          </p:cNvSpPr>
          <p:nvPr/>
        </p:nvSpPr>
        <p:spPr>
          <a:xfrm xmlns:a="http://schemas.openxmlformats.org/drawingml/2006/main">
            <a:off x="7498080" y="5916168"/>
            <a:ext cx="1106424"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6747"/>
          </a:bodyPr>
          <a:lstStyle xmlns:a="http://schemas.openxmlformats.org/drawingml/2006/main"/>
          <a:p xmlns:a="http://schemas.openxmlformats.org/drawingml/2006/main">
            <a:pPr marL="0" indent="0">
              <a:buNone/>
            </a:pPr>
            <a:r>
              <a:rPr sz="830">
                <a:solidFill>
                  <a:srgbClr val="52627A"/>
                </a:solidFill>
                <a:latin typeface="Aptos"/>
                <a:ea typeface="Aptos"/>
                <a:cs typeface="Aptos"/>
              </a:rPr>
              <a:t>3.10 · 3.11.15 · 3.12</a:t>
            </a:r>
            <a:endParaRPr sz="830"/>
          </a:p>
        </p:txBody>
      </p:sp>
    </p:spTree>
    <p:extLst>
      <p:ext uri="{BB962C8B-B14F-4D97-AF65-F5344CB8AC3E}">
        <p14:creationId xmlns:p14="http://schemas.microsoft.com/office/powerpoint/2010/main" val="720460519"/>
      </p:ext>
    </p:extLst>
  </p:cSld>
</p:sld>
</file>

<file path=ppt/slides/slide7.xml><?xml version="1.0" encoding="utf-8"?>
<p:sld xmlns:p="http://schemas.openxmlformats.org/presentationml/2006/main">
  <p:cSld>
    <p:bg>
      <p:bgPr>
        <a:blipFill xmlns:a="http://schemas.openxmlformats.org/drawingml/2006/main">
          <a:blip xmlns:r="http://schemas.openxmlformats.org/officeDocument/2006/relationships" r:embed="Rf73845fe192742f8">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1475C3-8B16-4A7E-9218-A8693B6B655E}"/>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End-to-End Demonstration</a:t>
            </a:r>
            <a:endParaRPr sz="2700"/>
          </a:p>
        </p:txBody>
      </p:sp>
      <p:sp>
        <p:nvSpPr>
          <p:cNvPr id="3" name="Text 1">
            <a:extLst xmlns:a="http://schemas.openxmlformats.org/drawingml/2006/main">
              <a:ext uri="{FF2B5EF4-FFF2-40B4-BE49-F238E27FC236}">
                <a16:creationId xmlns:a16="http://schemas.microsoft.com/office/drawing/2014/main" id="{D5480119-B6BD-4559-A197-869B98E6170A}"/>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350">
                <a:solidFill>
                  <a:srgbClr val="52627A"/>
                </a:solidFill>
                <a:latin typeface="Aptos"/>
                <a:ea typeface="Aptos"/>
                <a:cs typeface="Aptos"/>
              </a:rPr>
              <a:t>The current website exposes text, screenshot and relationship workflows through one consistent review interface.</a:t>
            </a:r>
            <a:endParaRPr sz="1350"/>
          </a:p>
        </p:txBody>
      </p:sp>
      <p:pic>
        <p:nvPicPr>
          <p:cNvPr id="33" name="Image 0"/>
          <p:cNvPicPr>
            <a:picLocks xmlns:a="http://schemas.openxmlformats.org/drawingml/2006/main" noChangeAspect="1"/>
          </p:cNvPicPr>
          <p:nvPr/>
        </p:nvPicPr>
        <p:blipFill>
          <a:blip xmlns:r="http://schemas.openxmlformats.org/officeDocument/2006/relationships" xmlns:a="http://schemas.openxmlformats.org/drawingml/2006/main" r:embed="R53a909daf4864c90"/>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26A1E2CB-FA34-4232-8208-B581BD97BFDA}"/>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Screenshots: outputs/screenshots/final_text_analysis.png, final_ocr_analysis.png, final_entity_graph.png</a:t>
            </a:r>
            <a:endParaRPr sz="830"/>
          </a:p>
        </p:txBody>
      </p:sp>
      <p:sp>
        <p:nvSpPr>
          <p:cNvPr id="6" name="Text 3">
            <a:extLst xmlns:a="http://schemas.openxmlformats.org/drawingml/2006/main">
              <a:ext uri="{FF2B5EF4-FFF2-40B4-BE49-F238E27FC236}">
                <a16:creationId xmlns:a16="http://schemas.microsoft.com/office/drawing/2014/main" id="{2DFC7D95-C562-41EA-A6FD-530F94FAE364}"/>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7</a:t>
            </a:r>
            <a:endParaRPr sz="900"/>
          </a:p>
        </p:txBody>
      </p:sp>
      <p:sp>
        <p:nvSpPr>
          <p:cNvPr id="7" name="Shape 4">
            <a:extLst xmlns:a="http://schemas.openxmlformats.org/drawingml/2006/main">
              <a:ext uri="{FF2B5EF4-FFF2-40B4-BE49-F238E27FC236}">
                <a16:creationId xmlns:a16="http://schemas.microsoft.com/office/drawing/2014/main" id="{EA39FBE8-EA03-4A13-ADD9-5FFDFB81F82E}"/>
              </a:ext>
            </a:extLst>
          </p:cNvPr>
          <p:cNvSpPr>
            <a:spLocks xmlns:a="http://schemas.openxmlformats.org/drawingml/2006/main" noGrp="1"/>
          </p:cNvSpPr>
          <p:nvPr/>
        </p:nvSpPr>
        <p:spPr>
          <a:xfrm xmlns:a="http://schemas.openxmlformats.org/drawingml/2006/main">
            <a:off x="429768" y="1170432"/>
            <a:ext cx="2560320" cy="429768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0160">
            <a:solidFill>
              <a:srgbClr val="D7DEE8"/>
            </a:solidFill>
            <a:prstDash val="solid"/>
          </a:ln>
        </p:spPr>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b138d84261a24eea"/>
          <a:srcRect xmlns:a="http://schemas.openxmlformats.org/drawingml/2006/main" l="0" t="0" r="0" b="0"/>
          <a:stretch xmlns:a="http://schemas.openxmlformats.org/drawingml/2006/main"/>
        </p:blipFill>
        <p:spPr>
          <a:xfrm xmlns:a="http://schemas.openxmlformats.org/drawingml/2006/main">
            <a:off x="539496" y="1298448"/>
            <a:ext cx="2340864" cy="1755648"/>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0E285D22-11CA-482A-B419-2208BF72AE21}"/>
              </a:ext>
            </a:extLst>
          </p:cNvPr>
          <p:cNvSpPr>
            <a:spLocks xmlns:a="http://schemas.openxmlformats.org/drawingml/2006/main" noGrp="1"/>
          </p:cNvSpPr>
          <p:nvPr/>
        </p:nvSpPr>
        <p:spPr>
          <a:xfrm xmlns:a="http://schemas.openxmlformats.org/drawingml/2006/main">
            <a:off x="594360" y="3264408"/>
            <a:ext cx="2212848"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10" b="1">
                <a:solidFill>
                  <a:srgbClr val="542073"/>
                </a:solidFill>
                <a:latin typeface="Aptos Display"/>
                <a:ea typeface="Aptos Display"/>
                <a:cs typeface="Aptos Display"/>
              </a:rPr>
              <a:t>1 · Text analysis</a:t>
            </a:r>
            <a:endParaRPr sz="1510"/>
          </a:p>
        </p:txBody>
      </p:sp>
      <p:sp>
        <p:nvSpPr>
          <p:cNvPr id="10" name="Text 6">
            <a:extLst xmlns:a="http://schemas.openxmlformats.org/drawingml/2006/main">
              <a:ext uri="{FF2B5EF4-FFF2-40B4-BE49-F238E27FC236}">
                <a16:creationId xmlns:a16="http://schemas.microsoft.com/office/drawing/2014/main" id="{A47F398E-D5D9-4483-8093-AAD7AA2C89A3}"/>
              </a:ext>
            </a:extLst>
          </p:cNvPr>
          <p:cNvSpPr>
            <a:spLocks xmlns:a="http://schemas.openxmlformats.org/drawingml/2006/main" noGrp="1"/>
          </p:cNvSpPr>
          <p:nvPr/>
        </p:nvSpPr>
        <p:spPr>
          <a:xfrm xmlns:a="http://schemas.openxmlformats.org/drawingml/2006/main">
            <a:off x="594360" y="3639312"/>
            <a:ext cx="2212848"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40">
                <a:solidFill>
                  <a:srgbClr val="1C2940"/>
                </a:solidFill>
                <a:latin typeface="Aptos"/>
                <a:ea typeface="Aptos"/>
                <a:cs typeface="Aptos"/>
              </a:rPr>
              <a:t>Classify a synthetic KYC message; inspect confidence, masked entities, URL reasons, risk and complaint draft.</a:t>
            </a:r>
            <a:endParaRPr sz="1140"/>
          </a:p>
        </p:txBody>
      </p:sp>
      <p:sp>
        <p:nvSpPr>
          <p:cNvPr id="11" name="Text 7">
            <a:extLst xmlns:a="http://schemas.openxmlformats.org/drawingml/2006/main">
              <a:ext uri="{FF2B5EF4-FFF2-40B4-BE49-F238E27FC236}">
                <a16:creationId xmlns:a16="http://schemas.microsoft.com/office/drawing/2014/main" id="{C80544B7-7A2F-4850-A3DF-BD9EFEE29543}"/>
              </a:ext>
            </a:extLst>
          </p:cNvPr>
          <p:cNvSpPr>
            <a:spLocks xmlns:a="http://schemas.openxmlformats.org/drawingml/2006/main" noGrp="1"/>
          </p:cNvSpPr>
          <p:nvPr/>
        </p:nvSpPr>
        <p:spPr>
          <a:xfrm xmlns:a="http://schemas.openxmlformats.org/drawingml/2006/main">
            <a:off x="594360"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30" b="1">
                <a:solidFill>
                  <a:srgbClr val="52627A"/>
                </a:solidFill>
                <a:latin typeface="Aptos"/>
                <a:ea typeface="Aptos"/>
                <a:cs typeface="Aptos"/>
              </a:rPr>
              <a:t>Storage remains OFF</a:t>
            </a:r>
            <a:endParaRPr sz="1030"/>
          </a:p>
        </p:txBody>
      </p:sp>
      <p:sp>
        <p:nvSpPr>
          <p:cNvPr id="12" name="Shape 8">
            <a:extLst xmlns:a="http://schemas.openxmlformats.org/drawingml/2006/main">
              <a:ext uri="{FF2B5EF4-FFF2-40B4-BE49-F238E27FC236}">
                <a16:creationId xmlns:a16="http://schemas.microsoft.com/office/drawing/2014/main" id="{033C1E03-E26B-4331-AF51-F764A14775F4}"/>
              </a:ext>
            </a:extLst>
          </p:cNvPr>
          <p:cNvSpPr>
            <a:spLocks xmlns:a="http://schemas.openxmlformats.org/drawingml/2006/main" noGrp="1"/>
          </p:cNvSpPr>
          <p:nvPr/>
        </p:nvSpPr>
        <p:spPr>
          <a:xfrm xmlns:a="http://schemas.openxmlformats.org/drawingml/2006/main">
            <a:off x="3218688" y="1170432"/>
            <a:ext cx="2560320" cy="429768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0160">
            <a:solidFill>
              <a:srgbClr val="D7DEE8"/>
            </a:solidFill>
            <a:prstDash val="solid"/>
          </a:ln>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0d75f82cbe974fc1"/>
          <a:srcRect xmlns:a="http://schemas.openxmlformats.org/drawingml/2006/main" l="0" t="0" r="0" b="0"/>
          <a:stretch xmlns:a="http://schemas.openxmlformats.org/drawingml/2006/main"/>
        </p:blipFill>
        <p:spPr>
          <a:xfrm xmlns:a="http://schemas.openxmlformats.org/drawingml/2006/main">
            <a:off x="3328416" y="1298448"/>
            <a:ext cx="2340864" cy="1755648"/>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D499556E-DD4A-489A-AD53-F794A3FF5035}"/>
              </a:ext>
            </a:extLst>
          </p:cNvPr>
          <p:cNvSpPr>
            <a:spLocks xmlns:a="http://schemas.openxmlformats.org/drawingml/2006/main" noGrp="1"/>
          </p:cNvSpPr>
          <p:nvPr/>
        </p:nvSpPr>
        <p:spPr>
          <a:xfrm xmlns:a="http://schemas.openxmlformats.org/drawingml/2006/main">
            <a:off x="3383280" y="3264408"/>
            <a:ext cx="2212848"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10" b="1">
                <a:solidFill>
                  <a:srgbClr val="009CAB"/>
                </a:solidFill>
                <a:latin typeface="Aptos Display"/>
                <a:ea typeface="Aptos Display"/>
                <a:cs typeface="Aptos Display"/>
              </a:rPr>
              <a:t>2 · Screenshot OCR</a:t>
            </a:r>
            <a:endParaRPr sz="1510"/>
          </a:p>
        </p:txBody>
      </p:sp>
      <p:sp>
        <p:nvSpPr>
          <p:cNvPr id="15" name="Text 10">
            <a:extLst xmlns:a="http://schemas.openxmlformats.org/drawingml/2006/main">
              <a:ext uri="{FF2B5EF4-FFF2-40B4-BE49-F238E27FC236}">
                <a16:creationId xmlns:a16="http://schemas.microsoft.com/office/drawing/2014/main" id="{E0038965-153D-4A93-992E-52AFE7770655}"/>
              </a:ext>
            </a:extLst>
          </p:cNvPr>
          <p:cNvSpPr>
            <a:spLocks xmlns:a="http://schemas.openxmlformats.org/drawingml/2006/main" noGrp="1"/>
          </p:cNvSpPr>
          <p:nvPr/>
        </p:nvSpPr>
        <p:spPr>
          <a:xfrm xmlns:a="http://schemas.openxmlformats.org/drawingml/2006/main">
            <a:off x="3383280" y="3639312"/>
            <a:ext cx="2212848"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40">
                <a:solidFill>
                  <a:srgbClr val="1C2940"/>
                </a:solidFill>
                <a:latin typeface="Aptos"/>
                <a:ea typeface="Aptos"/>
                <a:cs typeface="Aptos"/>
              </a:rPr>
              <a:t>Upload the bounded synthetic image; confirm extracted text enters the same analysis pipeline and image bytes are not retained.</a:t>
            </a:r>
            <a:endParaRPr sz="1140"/>
          </a:p>
        </p:txBody>
      </p:sp>
      <p:sp>
        <p:nvSpPr>
          <p:cNvPr id="16" name="Text 11">
            <a:extLst xmlns:a="http://schemas.openxmlformats.org/drawingml/2006/main">
              <a:ext uri="{FF2B5EF4-FFF2-40B4-BE49-F238E27FC236}">
                <a16:creationId xmlns:a16="http://schemas.microsoft.com/office/drawing/2014/main" id="{F6EECC61-7610-4FBD-8BE5-6E7C2F2F334F}"/>
              </a:ext>
            </a:extLst>
          </p:cNvPr>
          <p:cNvSpPr>
            <a:spLocks xmlns:a="http://schemas.openxmlformats.org/drawingml/2006/main" noGrp="1"/>
          </p:cNvSpPr>
          <p:nvPr/>
        </p:nvSpPr>
        <p:spPr>
          <a:xfrm xmlns:a="http://schemas.openxmlformats.org/drawingml/2006/main">
            <a:off x="3383280"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30" b="1">
                <a:solidFill>
                  <a:srgbClr val="52627A"/>
                </a:solidFill>
                <a:latin typeface="Aptos"/>
                <a:ea typeface="Aptos"/>
                <a:cs typeface="Aptos"/>
              </a:rPr>
              <a:t>PNG/JPEG · 4 MB web cap</a:t>
            </a:r>
            <a:endParaRPr sz="1030"/>
          </a:p>
        </p:txBody>
      </p:sp>
      <p:sp>
        <p:nvSpPr>
          <p:cNvPr id="17" name="Shape 12">
            <a:extLst xmlns:a="http://schemas.openxmlformats.org/drawingml/2006/main">
              <a:ext uri="{FF2B5EF4-FFF2-40B4-BE49-F238E27FC236}">
                <a16:creationId xmlns:a16="http://schemas.microsoft.com/office/drawing/2014/main" id="{50559033-0871-4E1C-88D0-AD573392C9FD}"/>
              </a:ext>
            </a:extLst>
          </p:cNvPr>
          <p:cNvSpPr>
            <a:spLocks xmlns:a="http://schemas.openxmlformats.org/drawingml/2006/main" noGrp="1"/>
          </p:cNvSpPr>
          <p:nvPr/>
        </p:nvSpPr>
        <p:spPr>
          <a:xfrm xmlns:a="http://schemas.openxmlformats.org/drawingml/2006/main">
            <a:off x="6007608" y="1170432"/>
            <a:ext cx="2560320" cy="429768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0160">
            <a:solidFill>
              <a:srgbClr val="D7DEE8"/>
            </a:solidFill>
            <a:prstDash val="solid"/>
          </a:ln>
        </p:spPr>
      </p:sp>
      <p:pic>
        <p:nvPicPr>
          <p:cNvPr id="47" name="Image 3"/>
          <p:cNvPicPr>
            <a:picLocks xmlns:a="http://schemas.openxmlformats.org/drawingml/2006/main" noChangeAspect="1"/>
          </p:cNvPicPr>
          <p:nvPr/>
        </p:nvPicPr>
        <p:blipFill>
          <a:blip xmlns:r="http://schemas.openxmlformats.org/officeDocument/2006/relationships" xmlns:a="http://schemas.openxmlformats.org/drawingml/2006/main" r:embed="R30efa365a47545d8"/>
          <a:srcRect xmlns:a="http://schemas.openxmlformats.org/drawingml/2006/main" l="0" t="0" r="0" b="0"/>
          <a:stretch xmlns:a="http://schemas.openxmlformats.org/drawingml/2006/main"/>
        </p:blipFill>
        <p:spPr>
          <a:xfrm xmlns:a="http://schemas.openxmlformats.org/drawingml/2006/main">
            <a:off x="6117336" y="1298448"/>
            <a:ext cx="2340864" cy="1755648"/>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8CC4BF31-2789-4B17-9836-F7ED9EB33634}"/>
              </a:ext>
            </a:extLst>
          </p:cNvPr>
          <p:cNvSpPr>
            <a:spLocks xmlns:a="http://schemas.openxmlformats.org/drawingml/2006/main" noGrp="1"/>
          </p:cNvSpPr>
          <p:nvPr/>
        </p:nvSpPr>
        <p:spPr>
          <a:xfrm xmlns:a="http://schemas.openxmlformats.org/drawingml/2006/main">
            <a:off x="6172200" y="3264408"/>
            <a:ext cx="2212848"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10" b="1">
                <a:solidFill>
                  <a:srgbClr val="23805D"/>
                </a:solidFill>
                <a:latin typeface="Aptos Display"/>
                <a:ea typeface="Aptos Display"/>
                <a:cs typeface="Aptos Display"/>
              </a:rPr>
              <a:t>3 · Relationship evidence</a:t>
            </a:r>
            <a:endParaRPr sz="1510"/>
          </a:p>
        </p:txBody>
      </p:sp>
      <p:sp>
        <p:nvSpPr>
          <p:cNvPr id="20" name="Text 14">
            <a:extLst xmlns:a="http://schemas.openxmlformats.org/drawingml/2006/main">
              <a:ext uri="{FF2B5EF4-FFF2-40B4-BE49-F238E27FC236}">
                <a16:creationId xmlns:a16="http://schemas.microsoft.com/office/drawing/2014/main" id="{AD717D69-89A5-45FE-B176-19ECF2E82D3A}"/>
              </a:ext>
            </a:extLst>
          </p:cNvPr>
          <p:cNvSpPr>
            <a:spLocks xmlns:a="http://schemas.openxmlformats.org/drawingml/2006/main" noGrp="1"/>
          </p:cNvSpPr>
          <p:nvPr/>
        </p:nvSpPr>
        <p:spPr>
          <a:xfrm xmlns:a="http://schemas.openxmlformats.org/drawingml/2006/main">
            <a:off x="6172200" y="3639312"/>
            <a:ext cx="2212848"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40">
                <a:solidFill>
                  <a:srgbClr val="1C2940"/>
                </a:solidFill>
                <a:latin typeface="Aptos"/>
                <a:ea typeface="Aptos"/>
                <a:cs typeface="Aptos"/>
              </a:rPr>
              <a:t>Seed consented demo cases; show masked repeated entities, edge counts and explicit refresh/reset behavior.</a:t>
            </a:r>
            <a:endParaRPr sz="1140"/>
          </a:p>
        </p:txBody>
      </p:sp>
      <p:sp>
        <p:nvSpPr>
          <p:cNvPr id="21" name="Text 15">
            <a:extLst xmlns:a="http://schemas.openxmlformats.org/drawingml/2006/main">
              <a:ext uri="{FF2B5EF4-FFF2-40B4-BE49-F238E27FC236}">
                <a16:creationId xmlns:a16="http://schemas.microsoft.com/office/drawing/2014/main" id="{159CF5C5-E526-47D5-BAD4-5A94D4B7CDE1}"/>
              </a:ext>
            </a:extLst>
          </p:cNvPr>
          <p:cNvSpPr>
            <a:spLocks xmlns:a="http://schemas.openxmlformats.org/drawingml/2006/main" noGrp="1"/>
          </p:cNvSpPr>
          <p:nvPr/>
        </p:nvSpPr>
        <p:spPr>
          <a:xfrm xmlns:a="http://schemas.openxmlformats.org/drawingml/2006/main">
            <a:off x="6172200"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30" b="1">
                <a:solidFill>
                  <a:srgbClr val="52627A"/>
                </a:solidFill>
                <a:latin typeface="Aptos"/>
                <a:ea typeface="Aptos"/>
                <a:cs typeface="Aptos"/>
              </a:rPr>
              <a:t>Observational · masked · bounded</a:t>
            </a:r>
            <a:endParaRPr sz="1030"/>
          </a:p>
        </p:txBody>
      </p:sp>
      <p:sp>
        <p:nvSpPr>
          <p:cNvPr id="22" name="Shape 16">
            <a:extLst xmlns:a="http://schemas.openxmlformats.org/drawingml/2006/main">
              <a:ext uri="{FF2B5EF4-FFF2-40B4-BE49-F238E27FC236}">
                <a16:creationId xmlns:a16="http://schemas.microsoft.com/office/drawing/2014/main" id="{F65439CC-9720-481D-99FD-8011F2712C1A}"/>
              </a:ext>
            </a:extLst>
          </p:cNvPr>
          <p:cNvSpPr>
            <a:spLocks xmlns:a="http://schemas.openxmlformats.org/drawingml/2006/main" noGrp="1"/>
          </p:cNvSpPr>
          <p:nvPr/>
        </p:nvSpPr>
        <p:spPr>
          <a:xfrm xmlns:a="http://schemas.openxmlformats.org/drawingml/2006/main">
            <a:off x="429768" y="5669280"/>
            <a:ext cx="8138160" cy="667512"/>
          </a:xfrm>
          <a:prstGeom xmlns:a="http://schemas.openxmlformats.org/drawingml/2006/main" prst="roundRect">
            <a:avLst>
              <a:gd name="adj" fmla="val 10959"/>
            </a:avLst>
          </a:prstGeom>
          <a:solidFill xmlns:a="http://schemas.openxmlformats.org/drawingml/2006/main">
            <a:srgbClr val="18243A"/>
          </a:solidFill>
          <a:ln xmlns:a="http://schemas.openxmlformats.org/drawingml/2006/main" w="10160">
            <a:solidFill>
              <a:srgbClr val="18243A"/>
            </a:solidFill>
            <a:prstDash val="solid"/>
          </a:ln>
        </p:spPr>
      </p:sp>
      <p:sp>
        <p:nvSpPr>
          <p:cNvPr id="23" name="Text 17">
            <a:extLst xmlns:a="http://schemas.openxmlformats.org/drawingml/2006/main">
              <a:ext uri="{FF2B5EF4-FFF2-40B4-BE49-F238E27FC236}">
                <a16:creationId xmlns:a16="http://schemas.microsoft.com/office/drawing/2014/main" id="{C2A1710F-EF35-4B07-AFEB-D653EE03F18C}"/>
              </a:ext>
            </a:extLst>
          </p:cNvPr>
          <p:cNvSpPr>
            <a:spLocks xmlns:a="http://schemas.openxmlformats.org/drawingml/2006/main" noGrp="1"/>
          </p:cNvSpPr>
          <p:nvPr/>
        </p:nvSpPr>
        <p:spPr>
          <a:xfrm xmlns:a="http://schemas.openxmlformats.org/drawingml/2006/main">
            <a:off x="658368" y="5824728"/>
            <a:ext cx="8686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10" b="1">
                <a:solidFill>
                  <a:srgbClr val="68D5DE"/>
                </a:solidFill>
                <a:latin typeface="Aptos"/>
                <a:ea typeface="Aptos"/>
                <a:cs typeface="Aptos"/>
              </a:rPr>
              <a:t>Hosted demo</a:t>
            </a:r>
            <a:endParaRPr sz="1110"/>
          </a:p>
        </p:txBody>
      </p:sp>
      <p:sp>
        <p:nvSpPr>
          <p:cNvPr id="24" name="Text 18">
            <a:hlinkClick xmlns:r="http://schemas.openxmlformats.org/officeDocument/2006/relationships" xmlns:a="http://schemas.openxmlformats.org/drawingml/2006/main" r:id="Rb673985e89f841c1"/>
            <a:extLst xmlns:a="http://schemas.openxmlformats.org/drawingml/2006/main">
              <a:ext uri="{FF2B5EF4-FFF2-40B4-BE49-F238E27FC236}">
                <a16:creationId xmlns:a16="http://schemas.microsoft.com/office/drawing/2014/main" id="{D6DAB1CF-C914-4DC6-9BB7-201FFBCEB3A8}"/>
              </a:ext>
            </a:extLst>
          </p:cNvPr>
          <p:cNvSpPr>
            <a:spLocks xmlns:a="http://schemas.openxmlformats.org/drawingml/2006/main" noGrp="1"/>
          </p:cNvSpPr>
          <p:nvPr/>
        </p:nvSpPr>
        <p:spPr>
          <a:xfrm xmlns:a="http://schemas.openxmlformats.org/drawingml/2006/main">
            <a:off x="1527048" y="5806440"/>
            <a:ext cx="226771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140" b="1" u="sng">
                <a:solidFill>
                  <a:srgbClr val="FFFFFF"/>
                </a:solidFill>
                <a:latin typeface="Aptos"/>
                <a:ea typeface="Aptos"/>
                <a:cs typeface="Aptos"/>
                <a:hlinkClick xmlns:r="http://schemas.openxmlformats.org/officeDocument/2006/relationships" r:id="R8614ab8c96354c50"/>
              </a:rPr>
              <a:t>fraudlens-bharat.vercel.app</a:t>
            </a:r>
            <a:endParaRPr sz="1140"/>
          </a:p>
        </p:txBody>
      </p:sp>
      <p:sp>
        <p:nvSpPr>
          <p:cNvPr id="25" name="Text 19">
            <a:extLst xmlns:a="http://schemas.openxmlformats.org/drawingml/2006/main">
              <a:ext uri="{FF2B5EF4-FFF2-40B4-BE49-F238E27FC236}">
                <a16:creationId xmlns:a16="http://schemas.microsoft.com/office/drawing/2014/main" id="{14C4B632-8B38-49F2-A085-AC959ED0698F}"/>
              </a:ext>
            </a:extLst>
          </p:cNvPr>
          <p:cNvSpPr>
            <a:spLocks xmlns:a="http://schemas.openxmlformats.org/drawingml/2006/main" noGrp="1"/>
          </p:cNvSpPr>
          <p:nvPr/>
        </p:nvSpPr>
        <p:spPr>
          <a:xfrm xmlns:a="http://schemas.openxmlformats.org/drawingml/2006/main">
            <a:off x="1527048" y="6062472"/>
            <a:ext cx="48463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90">
                <a:solidFill>
                  <a:srgbClr val="C7D0DD"/>
                </a:solidFill>
                <a:latin typeface="Aptos"/>
                <a:ea typeface="Aptos"/>
                <a:cs typeface="Aptos"/>
              </a:rPr>
              <a:t>Analyze  →  Relationships  →  Research  →  Run guide</a:t>
            </a:r>
            <a:endParaRPr sz="990"/>
          </a:p>
        </p:txBody>
      </p:sp>
      <p:sp>
        <p:nvSpPr>
          <p:cNvPr id="26" name="Text 20">
            <a:extLst xmlns:a="http://schemas.openxmlformats.org/drawingml/2006/main">
              <a:ext uri="{FF2B5EF4-FFF2-40B4-BE49-F238E27FC236}">
                <a16:creationId xmlns:a16="http://schemas.microsoft.com/office/drawing/2014/main" id="{4209427A-01C9-4C9D-BF57-6FD18D641DFF}"/>
              </a:ext>
            </a:extLst>
          </p:cNvPr>
          <p:cNvSpPr>
            <a:spLocks xmlns:a="http://schemas.openxmlformats.org/drawingml/2006/main" noGrp="1"/>
          </p:cNvSpPr>
          <p:nvPr/>
        </p:nvSpPr>
        <p:spPr>
          <a:xfrm xmlns:a="http://schemas.openxmlformats.org/drawingml/2006/main">
            <a:off x="6812280" y="5843016"/>
            <a:ext cx="15087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r">
              <a:buNone/>
            </a:pPr>
            <a:r>
              <a:rPr sz="1010" b="1">
                <a:solidFill>
                  <a:srgbClr val="F4C958"/>
                </a:solidFill>
                <a:latin typeface="Aptos"/>
                <a:ea typeface="Aptos"/>
                <a:cs typeface="Aptos"/>
              </a:rPr>
              <a:t>Use synthetic fixtures only</a:t>
            </a:r>
            <a:endParaRPr sz="1010"/>
          </a:p>
        </p:txBody>
      </p:sp>
    </p:spTree>
    <p:extLst>
      <p:ext uri="{BB962C8B-B14F-4D97-AF65-F5344CB8AC3E}">
        <p14:creationId xmlns:p14="http://schemas.microsoft.com/office/powerpoint/2010/main" val="1152881709"/>
      </p:ext>
    </p:extLst>
  </p:cSld>
</p:sld>
</file>

<file path=ppt/slides/slide8.xml><?xml version="1.0" encoding="utf-8"?>
<p:sld xmlns:p="http://schemas.openxmlformats.org/presentationml/2006/main">
  <p:cSld>
    <p:bg>
      <p:bgPr>
        <a:blipFill xmlns:a="http://schemas.openxmlformats.org/drawingml/2006/main">
          <a:blip xmlns:r="http://schemas.openxmlformats.org/officeDocument/2006/relationships" r:embed="Rd02b54fea3dc4110">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97EE3A1-092A-49A1-9B64-52648CB971CC}"/>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Results, Calibration &amp; Hybrid Evidence</a:t>
            </a:r>
            <a:endParaRPr sz="2700"/>
          </a:p>
        </p:txBody>
      </p:sp>
      <p:sp>
        <p:nvSpPr>
          <p:cNvPr id="3" name="Text 1">
            <a:extLst xmlns:a="http://schemas.openxmlformats.org/drawingml/2006/main">
              <a:ext uri="{FF2B5EF4-FFF2-40B4-BE49-F238E27FC236}">
                <a16:creationId xmlns:a16="http://schemas.microsoft.com/office/drawing/2014/main" id="{3F05FACD-EBF0-4287-AE7E-7219F2E50A3D}"/>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9764"/>
          </a:bodyPr>
          <a:lstStyle xmlns:a="http://schemas.openxmlformats.org/drawingml/2006/main"/>
          <a:p xmlns:a="http://schemas.openxmlformats.org/drawingml/2006/main">
            <a:pPr marL="0" indent="0">
              <a:buNone/>
            </a:pPr>
            <a:r>
              <a:rPr sz="1350">
                <a:solidFill>
                  <a:srgbClr val="52627A"/>
                </a:solidFill>
                <a:latin typeface="Aptos"/>
                <a:ea typeface="Aptos"/>
                <a:cs typeface="Aptos"/>
              </a:rPr>
              <a:t>Internal candidate: 75.0% accuracy / 66.67% Macro-F1 (8 rows); external binary, runtime and subsystem results remain separate.</a:t>
            </a:r>
            <a:endParaRPr sz="1350"/>
          </a:p>
        </p:txBody>
      </p:sp>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cf22bb93ffeb4438"/>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876539E9-D050-4C70-9E89-9957898239D1}"/>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outputs/evaluation/*; outputs/research/*; models/metrics.json · separate tasks; not directly comparable; no production-accuracy claim</a:t>
            </a:r>
            <a:endParaRPr sz="830"/>
          </a:p>
        </p:txBody>
      </p:sp>
      <p:sp>
        <p:nvSpPr>
          <p:cNvPr id="6" name="Text 3">
            <a:extLst xmlns:a="http://schemas.openxmlformats.org/drawingml/2006/main">
              <a:ext uri="{FF2B5EF4-FFF2-40B4-BE49-F238E27FC236}">
                <a16:creationId xmlns:a16="http://schemas.microsoft.com/office/drawing/2014/main" id="{5A1D938D-1410-44F7-A15F-A1F0DF9A442E}"/>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8</a:t>
            </a:r>
            <a:endParaRPr sz="900"/>
          </a:p>
        </p:txBody>
      </p:sp>
      <p:graphicFrame>
        <p:nvGraphicFramePr>
          <p:cNvPr id="58" name="Chart 0"/>
          <p:cNvGraphicFramePr/>
          <p:nvPr/>
        </p:nvGraphicFramePr>
        <p:xfrm>
          <a:off xmlns:a="http://schemas.openxmlformats.org/drawingml/2006/main" x="411480" y="1234440"/>
          <a:ext xmlns:a="http://schemas.openxmlformats.org/drawingml/2006/main" cx="5074920" cy="3383280"/>
        </p:xfrm>
        <a:graphic xmlns:a="http://schemas.openxmlformats.org/drawingml/2006/main">
          <a:graphicData uri="http://schemas.openxmlformats.org/drawingml/2006/chart">
            <c:chart xmlns:r="http://schemas.openxmlformats.org/officeDocument/2006/relationships" xmlns:c="http://schemas.openxmlformats.org/drawingml/2006/chart" r:id="Re79e4be062814bde"/>
          </a:graphicData>
        </a:graphic>
      </p:graphicFrame>
      <p:sp>
        <p:nvSpPr>
          <p:cNvPr id="8" name="Text 4">
            <a:extLst xmlns:a="http://schemas.openxmlformats.org/drawingml/2006/main">
              <a:ext uri="{FF2B5EF4-FFF2-40B4-BE49-F238E27FC236}">
                <a16:creationId xmlns:a16="http://schemas.microsoft.com/office/drawing/2014/main" id="{B7150BE5-BB75-4149-AE3E-995949A1C9C9}"/>
              </a:ext>
            </a:extLst>
          </p:cNvPr>
          <p:cNvSpPr>
            <a:spLocks xmlns:a="http://schemas.openxmlformats.org/drawingml/2006/main" noGrp="1"/>
          </p:cNvSpPr>
          <p:nvPr/>
        </p:nvSpPr>
        <p:spPr>
          <a:xfrm xmlns:a="http://schemas.openxmlformats.org/drawingml/2006/main">
            <a:off x="521208" y="4828032"/>
            <a:ext cx="237744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42073"/>
                </a:solidFill>
                <a:latin typeface="Aptos"/>
                <a:ea typeface="Aptos"/>
                <a:cs typeface="Aptos"/>
              </a:rPr>
              <a:t>EXTERNAL BINARY VALIDATION</a:t>
            </a:r>
            <a:endParaRPr sz="1050"/>
          </a:p>
        </p:txBody>
      </p:sp>
      <p:sp>
        <p:nvSpPr>
          <p:cNvPr id="9" name="Shape 5">
            <a:extLst xmlns:a="http://schemas.openxmlformats.org/drawingml/2006/main">
              <a:ext uri="{FF2B5EF4-FFF2-40B4-BE49-F238E27FC236}">
                <a16:creationId xmlns:a16="http://schemas.microsoft.com/office/drawing/2014/main" id="{570D5A5E-0209-4735-82F0-1F4EED87D053}"/>
              </a:ext>
            </a:extLst>
          </p:cNvPr>
          <p:cNvSpPr>
            <a:spLocks xmlns:a="http://schemas.openxmlformats.org/drawingml/2006/main" noGrp="1"/>
          </p:cNvSpPr>
          <p:nvPr/>
        </p:nvSpPr>
        <p:spPr>
          <a:xfrm xmlns:a="http://schemas.openxmlformats.org/drawingml/2006/main">
            <a:off x="411480" y="5074920"/>
            <a:ext cx="5074920" cy="1252728"/>
          </a:xfrm>
          <a:prstGeom xmlns:a="http://schemas.openxmlformats.org/drawingml/2006/main" prst="roundRect">
            <a:avLst>
              <a:gd name="adj" fmla="val 5839"/>
            </a:avLst>
          </a:prstGeom>
          <a:solidFill xmlns:a="http://schemas.openxmlformats.org/drawingml/2006/main">
            <a:srgbClr val="F2EAF7"/>
          </a:solidFill>
          <a:ln xmlns:a="http://schemas.openxmlformats.org/drawingml/2006/main" w="10160">
            <a:solidFill>
              <a:srgbClr val="D9C7E4"/>
            </a:solidFill>
            <a:prstDash val="solid"/>
          </a:ln>
        </p:spPr>
      </p:sp>
      <p:sp>
        <p:nvSpPr>
          <p:cNvPr id="10" name="Text 6">
            <a:extLst xmlns:a="http://schemas.openxmlformats.org/drawingml/2006/main">
              <a:ext uri="{FF2B5EF4-FFF2-40B4-BE49-F238E27FC236}">
                <a16:creationId xmlns:a16="http://schemas.microsoft.com/office/drawing/2014/main" id="{AD6978AA-36E2-4C01-946D-9B0ADD392E62}"/>
              </a:ext>
            </a:extLst>
          </p:cNvPr>
          <p:cNvSpPr>
            <a:spLocks xmlns:a="http://schemas.openxmlformats.org/drawingml/2006/main" noGrp="1"/>
          </p:cNvSpPr>
          <p:nvPr/>
        </p:nvSpPr>
        <p:spPr>
          <a:xfrm xmlns:a="http://schemas.openxmlformats.org/drawingml/2006/main">
            <a:off x="640080" y="5303520"/>
            <a:ext cx="148132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50" b="1">
                <a:solidFill>
                  <a:srgbClr val="542073"/>
                </a:solidFill>
                <a:latin typeface="Aptos Display"/>
                <a:ea typeface="Aptos Display"/>
                <a:cs typeface="Aptos Display"/>
              </a:rPr>
              <a:t>UCI SMS · 858 test</a:t>
            </a:r>
            <a:endParaRPr sz="1550"/>
          </a:p>
        </p:txBody>
      </p:sp>
      <p:sp>
        <p:nvSpPr>
          <p:cNvPr id="11" name="Text 7">
            <a:extLst xmlns:a="http://schemas.openxmlformats.org/drawingml/2006/main">
              <a:ext uri="{FF2B5EF4-FFF2-40B4-BE49-F238E27FC236}">
                <a16:creationId xmlns:a16="http://schemas.microsoft.com/office/drawing/2014/main" id="{1137C856-2464-48FB-844D-3E7A5365E754}"/>
              </a:ext>
            </a:extLst>
          </p:cNvPr>
          <p:cNvSpPr>
            <a:spLocks xmlns:a="http://schemas.openxmlformats.org/drawingml/2006/main" noGrp="1"/>
          </p:cNvSpPr>
          <p:nvPr/>
        </p:nvSpPr>
        <p:spPr>
          <a:xfrm xmlns:a="http://schemas.openxmlformats.org/drawingml/2006/main">
            <a:off x="2057400" y="5266944"/>
            <a:ext cx="31729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8600"/>
          </a:bodyPr>
          <a:lstStyle xmlns:a="http://schemas.openxmlformats.org/drawingml/2006/main"/>
          <a:p xmlns:a="http://schemas.openxmlformats.org/drawingml/2006/main">
            <a:pPr marL="0" indent="0">
              <a:buNone/>
            </a:pPr>
            <a:r>
              <a:rPr sz="1160" b="1">
                <a:solidFill>
                  <a:srgbClr val="1C2940"/>
                </a:solidFill>
                <a:latin typeface="Aptos"/>
                <a:ea typeface="Aptos"/>
                <a:cs typeface="Aptos"/>
              </a:rPr>
              <a:t>Calibrated character TF-IDF: 98.60% accuracy · 0.9682 Macro-F1 · 92.73% spam recall · ECE 0.0071</a:t>
            </a:r>
            <a:endParaRPr sz="1160"/>
          </a:p>
        </p:txBody>
      </p:sp>
      <p:sp>
        <p:nvSpPr>
          <p:cNvPr id="12" name="Text 8">
            <a:extLst xmlns:a="http://schemas.openxmlformats.org/drawingml/2006/main">
              <a:ext uri="{FF2B5EF4-FFF2-40B4-BE49-F238E27FC236}">
                <a16:creationId xmlns:a16="http://schemas.microsoft.com/office/drawing/2014/main" id="{BCA89ADD-04CF-470B-882B-ACF2FACFCEC1}"/>
              </a:ext>
            </a:extLst>
          </p:cNvPr>
          <p:cNvSpPr>
            <a:spLocks xmlns:a="http://schemas.openxmlformats.org/drawingml/2006/main" noGrp="1"/>
          </p:cNvSpPr>
          <p:nvPr/>
        </p:nvSpPr>
        <p:spPr>
          <a:xfrm xmlns:a="http://schemas.openxmlformats.org/drawingml/2006/main">
            <a:off x="640080" y="5843016"/>
            <a:ext cx="459028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5308"/>
          </a:bodyPr>
          <a:lstStyle xmlns:a="http://schemas.openxmlformats.org/drawingml/2006/main"/>
          <a:p xmlns:a="http://schemas.openxmlformats.org/drawingml/2006/main">
            <a:pPr marL="0" indent="0">
              <a:buNone/>
            </a:pPr>
            <a:r>
              <a:rPr sz="1060">
                <a:solidFill>
                  <a:srgbClr val="52627A"/>
                </a:solidFill>
                <a:latin typeface="Aptos"/>
                <a:ea typeface="Aptos"/>
                <a:cs typeface="Aptos"/>
              </a:rPr>
              <a:t>Character - word Macro-F1 +0.0023; 95% bootstrap CI -0.0105 to +0.0147 · not statistically decisive.</a:t>
            </a:r>
            <a:endParaRPr sz="1060"/>
          </a:p>
        </p:txBody>
      </p:sp>
      <p:sp>
        <p:nvSpPr>
          <p:cNvPr id="13" name="Text 9">
            <a:extLst xmlns:a="http://schemas.openxmlformats.org/drawingml/2006/main">
              <a:ext uri="{FF2B5EF4-FFF2-40B4-BE49-F238E27FC236}">
                <a16:creationId xmlns:a16="http://schemas.microsoft.com/office/drawing/2014/main" id="{9F23AD5E-C509-4017-A1EF-A432BFAD628F}"/>
              </a:ext>
            </a:extLst>
          </p:cNvPr>
          <p:cNvSpPr>
            <a:spLocks xmlns:a="http://schemas.openxmlformats.org/drawingml/2006/main" noGrp="1"/>
          </p:cNvSpPr>
          <p:nvPr/>
        </p:nvSpPr>
        <p:spPr>
          <a:xfrm xmlns:a="http://schemas.openxmlformats.org/drawingml/2006/main">
            <a:off x="5724144" y="1234440"/>
            <a:ext cx="292608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09CAB"/>
                </a:solidFill>
                <a:latin typeface="Aptos"/>
                <a:ea typeface="Aptos"/>
                <a:cs typeface="Aptos"/>
              </a:rPr>
              <a:t>DEPLOYED CALIBRATED RUNTIME</a:t>
            </a:r>
            <a:endParaRPr sz="1050"/>
          </a:p>
        </p:txBody>
      </p:sp>
      <p:sp>
        <p:nvSpPr>
          <p:cNvPr id="14" name="Shape 10">
            <a:extLst xmlns:a="http://schemas.openxmlformats.org/drawingml/2006/main">
              <a:ext uri="{FF2B5EF4-FFF2-40B4-BE49-F238E27FC236}">
                <a16:creationId xmlns:a16="http://schemas.microsoft.com/office/drawing/2014/main" id="{655E95B7-9AF3-4C8B-9765-8BEAA1FD0B74}"/>
              </a:ext>
            </a:extLst>
          </p:cNvPr>
          <p:cNvSpPr>
            <a:spLocks xmlns:a="http://schemas.openxmlformats.org/drawingml/2006/main" noGrp="1"/>
          </p:cNvSpPr>
          <p:nvPr/>
        </p:nvSpPr>
        <p:spPr>
          <a:xfrm xmlns:a="http://schemas.openxmlformats.org/drawingml/2006/main">
            <a:off x="5715000" y="1527048"/>
            <a:ext cx="1371600"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15" name="Shape 11">
            <a:extLst xmlns:a="http://schemas.openxmlformats.org/drawingml/2006/main">
              <a:ext uri="{FF2B5EF4-FFF2-40B4-BE49-F238E27FC236}">
                <a16:creationId xmlns:a16="http://schemas.microsoft.com/office/drawing/2014/main" id="{849A3357-CD20-4C5F-9CF4-11537DFE6239}"/>
              </a:ext>
            </a:extLst>
          </p:cNvPr>
          <p:cNvSpPr>
            <a:spLocks xmlns:a="http://schemas.openxmlformats.org/drawingml/2006/main" noGrp="1"/>
          </p:cNvSpPr>
          <p:nvPr/>
        </p:nvSpPr>
        <p:spPr>
          <a:xfrm xmlns:a="http://schemas.openxmlformats.org/drawingml/2006/main">
            <a:off x="5715000" y="1527048"/>
            <a:ext cx="64008" cy="749808"/>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16" name="Text 12">
            <a:extLst xmlns:a="http://schemas.openxmlformats.org/drawingml/2006/main">
              <a:ext uri="{FF2B5EF4-FFF2-40B4-BE49-F238E27FC236}">
                <a16:creationId xmlns:a16="http://schemas.microsoft.com/office/drawing/2014/main" id="{0409215D-1687-46E1-9E6A-6F7C34D92E59}"/>
              </a:ext>
            </a:extLst>
          </p:cNvPr>
          <p:cNvSpPr>
            <a:spLocks xmlns:a="http://schemas.openxmlformats.org/drawingml/2006/main" noGrp="1"/>
          </p:cNvSpPr>
          <p:nvPr/>
        </p:nvSpPr>
        <p:spPr>
          <a:xfrm xmlns:a="http://schemas.openxmlformats.org/drawingml/2006/main">
            <a:off x="5879592" y="1618488"/>
            <a:ext cx="1143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009CAB"/>
                </a:solidFill>
                <a:latin typeface="Aptos Display"/>
                <a:ea typeface="Aptos Display"/>
                <a:cs typeface="Aptos Display"/>
              </a:rPr>
              <a:t>50.0%</a:t>
            </a:r>
            <a:endParaRPr sz="2200"/>
          </a:p>
        </p:txBody>
      </p:sp>
      <p:sp>
        <p:nvSpPr>
          <p:cNvPr id="17" name="Text 13">
            <a:extLst xmlns:a="http://schemas.openxmlformats.org/drawingml/2006/main">
              <a:ext uri="{FF2B5EF4-FFF2-40B4-BE49-F238E27FC236}">
                <a16:creationId xmlns:a16="http://schemas.microsoft.com/office/drawing/2014/main" id="{99C0377E-E11C-4185-BEC2-62DCBDC95142}"/>
              </a:ext>
            </a:extLst>
          </p:cNvPr>
          <p:cNvSpPr>
            <a:spLocks xmlns:a="http://schemas.openxmlformats.org/drawingml/2006/main" noGrp="1"/>
          </p:cNvSpPr>
          <p:nvPr/>
        </p:nvSpPr>
        <p:spPr>
          <a:xfrm xmlns:a="http://schemas.openxmlformats.org/drawingml/2006/main">
            <a:off x="5879592" y="1920240"/>
            <a:ext cx="11430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70" b="1">
                <a:solidFill>
                  <a:srgbClr val="1C2940"/>
                </a:solidFill>
                <a:latin typeface="Aptos"/>
                <a:ea typeface="Aptos"/>
                <a:cs typeface="Aptos"/>
              </a:rPr>
              <a:t>accuracy</a:t>
            </a:r>
            <a:endParaRPr sz="1070"/>
          </a:p>
        </p:txBody>
      </p:sp>
      <p:sp>
        <p:nvSpPr>
          <p:cNvPr id="18" name="Text 14">
            <a:extLst xmlns:a="http://schemas.openxmlformats.org/drawingml/2006/main">
              <a:ext uri="{FF2B5EF4-FFF2-40B4-BE49-F238E27FC236}">
                <a16:creationId xmlns:a16="http://schemas.microsoft.com/office/drawing/2014/main" id="{FA689411-F8B6-44EE-A37F-A610981AB0CD}"/>
              </a:ext>
            </a:extLst>
          </p:cNvPr>
          <p:cNvSpPr>
            <a:spLocks xmlns:a="http://schemas.openxmlformats.org/drawingml/2006/main" noGrp="1"/>
          </p:cNvSpPr>
          <p:nvPr/>
        </p:nvSpPr>
        <p:spPr>
          <a:xfrm xmlns:a="http://schemas.openxmlformats.org/drawingml/2006/main">
            <a:off x="5879592" y="2093976"/>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52627A"/>
                </a:solidFill>
                <a:latin typeface="Aptos"/>
                <a:ea typeface="Aptos"/>
                <a:cs typeface="Aptos"/>
              </a:rPr>
              <a:t>8 frozen rows</a:t>
            </a:r>
            <a:endParaRPr sz="830"/>
          </a:p>
        </p:txBody>
      </p:sp>
      <p:sp>
        <p:nvSpPr>
          <p:cNvPr id="19" name="Shape 15">
            <a:extLst xmlns:a="http://schemas.openxmlformats.org/drawingml/2006/main">
              <a:ext uri="{FF2B5EF4-FFF2-40B4-BE49-F238E27FC236}">
                <a16:creationId xmlns:a16="http://schemas.microsoft.com/office/drawing/2014/main" id="{F484C352-E380-4BE7-B721-BF68941C90F4}"/>
              </a:ext>
            </a:extLst>
          </p:cNvPr>
          <p:cNvSpPr>
            <a:spLocks xmlns:a="http://schemas.openxmlformats.org/drawingml/2006/main" noGrp="1"/>
          </p:cNvSpPr>
          <p:nvPr/>
        </p:nvSpPr>
        <p:spPr>
          <a:xfrm xmlns:a="http://schemas.openxmlformats.org/drawingml/2006/main">
            <a:off x="7242048" y="1527048"/>
            <a:ext cx="1417320"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20" name="Shape 16">
            <a:extLst xmlns:a="http://schemas.openxmlformats.org/drawingml/2006/main">
              <a:ext uri="{FF2B5EF4-FFF2-40B4-BE49-F238E27FC236}">
                <a16:creationId xmlns:a16="http://schemas.microsoft.com/office/drawing/2014/main" id="{834E339B-12B5-4C55-9BCB-F2F5220C8FD0}"/>
              </a:ext>
            </a:extLst>
          </p:cNvPr>
          <p:cNvSpPr>
            <a:spLocks xmlns:a="http://schemas.openxmlformats.org/drawingml/2006/main" noGrp="1"/>
          </p:cNvSpPr>
          <p:nvPr/>
        </p:nvSpPr>
        <p:spPr>
          <a:xfrm xmlns:a="http://schemas.openxmlformats.org/drawingml/2006/main">
            <a:off x="7242048" y="1527048"/>
            <a:ext cx="64008" cy="749808"/>
          </a:xfrm>
          <a:prstGeom xmlns:a="http://schemas.openxmlformats.org/drawingml/2006/main" prst="rect">
            <a:avLst/>
          </a:prstGeom>
          <a:solidFill xmlns:a="http://schemas.openxmlformats.org/drawingml/2006/main">
            <a:srgbClr val="542073"/>
          </a:solidFill>
          <a:ln xmlns:a="http://schemas.openxmlformats.org/drawingml/2006/main" w="12700">
            <a:solidFill>
              <a:srgbClr val="542073">
                <a:alpha val="0"/>
              </a:srgbClr>
            </a:solidFill>
            <a:prstDash val="solid"/>
          </a:ln>
        </p:spPr>
      </p:sp>
      <p:sp>
        <p:nvSpPr>
          <p:cNvPr id="21" name="Text 17">
            <a:extLst xmlns:a="http://schemas.openxmlformats.org/drawingml/2006/main">
              <a:ext uri="{FF2B5EF4-FFF2-40B4-BE49-F238E27FC236}">
                <a16:creationId xmlns:a16="http://schemas.microsoft.com/office/drawing/2014/main" id="{02528FFB-88FD-43BB-9A0D-AF8FC694169F}"/>
              </a:ext>
            </a:extLst>
          </p:cNvPr>
          <p:cNvSpPr>
            <a:spLocks xmlns:a="http://schemas.openxmlformats.org/drawingml/2006/main" noGrp="1"/>
          </p:cNvSpPr>
          <p:nvPr/>
        </p:nvSpPr>
        <p:spPr>
          <a:xfrm xmlns:a="http://schemas.openxmlformats.org/drawingml/2006/main">
            <a:off x="7406640" y="1618488"/>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542073"/>
                </a:solidFill>
                <a:latin typeface="Aptos Display"/>
                <a:ea typeface="Aptos Display"/>
                <a:cs typeface="Aptos Display"/>
              </a:rPr>
              <a:t>50.0%</a:t>
            </a:r>
            <a:endParaRPr sz="2200"/>
          </a:p>
        </p:txBody>
      </p:sp>
      <p:sp>
        <p:nvSpPr>
          <p:cNvPr id="22" name="Text 18">
            <a:extLst xmlns:a="http://schemas.openxmlformats.org/drawingml/2006/main">
              <a:ext uri="{FF2B5EF4-FFF2-40B4-BE49-F238E27FC236}">
                <a16:creationId xmlns:a16="http://schemas.microsoft.com/office/drawing/2014/main" id="{4AFF90C8-A547-414C-AF1A-352561A6B9AA}"/>
              </a:ext>
            </a:extLst>
          </p:cNvPr>
          <p:cNvSpPr>
            <a:spLocks xmlns:a="http://schemas.openxmlformats.org/drawingml/2006/main" noGrp="1"/>
          </p:cNvSpPr>
          <p:nvPr/>
        </p:nvSpPr>
        <p:spPr>
          <a:xfrm xmlns:a="http://schemas.openxmlformats.org/drawingml/2006/main">
            <a:off x="7406640" y="19202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70" b="1">
                <a:solidFill>
                  <a:srgbClr val="1C2940"/>
                </a:solidFill>
                <a:latin typeface="Aptos"/>
                <a:ea typeface="Aptos"/>
                <a:cs typeface="Aptos"/>
              </a:rPr>
              <a:t>Macro-F1</a:t>
            </a:r>
            <a:endParaRPr sz="1070"/>
          </a:p>
        </p:txBody>
      </p:sp>
      <p:sp>
        <p:nvSpPr>
          <p:cNvPr id="23" name="Text 19">
            <a:extLst xmlns:a="http://schemas.openxmlformats.org/drawingml/2006/main">
              <a:ext uri="{FF2B5EF4-FFF2-40B4-BE49-F238E27FC236}">
                <a16:creationId xmlns:a16="http://schemas.microsoft.com/office/drawing/2014/main" id="{280E14B2-BB98-4CA7-AD5C-DB2C59553CE2}"/>
              </a:ext>
            </a:extLst>
          </p:cNvPr>
          <p:cNvSpPr>
            <a:spLocks xmlns:a="http://schemas.openxmlformats.org/drawingml/2006/main" noGrp="1"/>
          </p:cNvSpPr>
          <p:nvPr/>
        </p:nvSpPr>
        <p:spPr>
          <a:xfrm xmlns:a="http://schemas.openxmlformats.org/drawingml/2006/main">
            <a:off x="7406640" y="2093976"/>
            <a:ext cx="118872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52627A"/>
                </a:solidFill>
                <a:latin typeface="Aptos"/>
                <a:ea typeface="Aptos"/>
                <a:cs typeface="Aptos"/>
              </a:rPr>
              <a:t>deployed artifact</a:t>
            </a:r>
            <a:endParaRPr sz="830"/>
          </a:p>
        </p:txBody>
      </p:sp>
      <p:sp>
        <p:nvSpPr>
          <p:cNvPr id="24" name="Shape 20">
            <a:extLst xmlns:a="http://schemas.openxmlformats.org/drawingml/2006/main">
              <a:ext uri="{FF2B5EF4-FFF2-40B4-BE49-F238E27FC236}">
                <a16:creationId xmlns:a16="http://schemas.microsoft.com/office/drawing/2014/main" id="{E1BCEFF2-5615-49D0-94F0-DB6266B865B6}"/>
              </a:ext>
            </a:extLst>
          </p:cNvPr>
          <p:cNvSpPr>
            <a:spLocks xmlns:a="http://schemas.openxmlformats.org/drawingml/2006/main" noGrp="1"/>
          </p:cNvSpPr>
          <p:nvPr/>
        </p:nvSpPr>
        <p:spPr>
          <a:xfrm xmlns:a="http://schemas.openxmlformats.org/drawingml/2006/main">
            <a:off x="5715000" y="2450592"/>
            <a:ext cx="1371600"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25" name="Shape 21">
            <a:extLst xmlns:a="http://schemas.openxmlformats.org/drawingml/2006/main">
              <a:ext uri="{FF2B5EF4-FFF2-40B4-BE49-F238E27FC236}">
                <a16:creationId xmlns:a16="http://schemas.microsoft.com/office/drawing/2014/main" id="{31499991-AD78-402F-A4E3-177FFEBDBCA3}"/>
              </a:ext>
            </a:extLst>
          </p:cNvPr>
          <p:cNvSpPr>
            <a:spLocks xmlns:a="http://schemas.openxmlformats.org/drawingml/2006/main" noGrp="1"/>
          </p:cNvSpPr>
          <p:nvPr/>
        </p:nvSpPr>
        <p:spPr>
          <a:xfrm xmlns:a="http://schemas.openxmlformats.org/drawingml/2006/main">
            <a:off x="5715000" y="2450592"/>
            <a:ext cx="64008" cy="749808"/>
          </a:xfrm>
          <a:prstGeom xmlns:a="http://schemas.openxmlformats.org/drawingml/2006/main" prst="rect">
            <a:avLst/>
          </a:prstGeom>
          <a:solidFill xmlns:a="http://schemas.openxmlformats.org/drawingml/2006/main">
            <a:srgbClr val="23805D"/>
          </a:solidFill>
          <a:ln xmlns:a="http://schemas.openxmlformats.org/drawingml/2006/main" w="12700">
            <a:solidFill>
              <a:srgbClr val="23805D">
                <a:alpha val="0"/>
              </a:srgbClr>
            </a:solidFill>
            <a:prstDash val="solid"/>
          </a:ln>
        </p:spPr>
      </p:sp>
      <p:sp>
        <p:nvSpPr>
          <p:cNvPr id="26" name="Text 22">
            <a:extLst xmlns:a="http://schemas.openxmlformats.org/drawingml/2006/main">
              <a:ext uri="{FF2B5EF4-FFF2-40B4-BE49-F238E27FC236}">
                <a16:creationId xmlns:a16="http://schemas.microsoft.com/office/drawing/2014/main" id="{18EA8E04-0CAB-4671-B1FC-EEB956B73000}"/>
              </a:ext>
            </a:extLst>
          </p:cNvPr>
          <p:cNvSpPr>
            <a:spLocks xmlns:a="http://schemas.openxmlformats.org/drawingml/2006/main" noGrp="1"/>
          </p:cNvSpPr>
          <p:nvPr/>
        </p:nvSpPr>
        <p:spPr>
          <a:xfrm xmlns:a="http://schemas.openxmlformats.org/drawingml/2006/main">
            <a:off x="5879592" y="2542032"/>
            <a:ext cx="1143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23805D"/>
                </a:solidFill>
                <a:latin typeface="Aptos Display"/>
                <a:ea typeface="Aptos Display"/>
                <a:cs typeface="Aptos Display"/>
              </a:rPr>
              <a:t>87.5%</a:t>
            </a:r>
            <a:endParaRPr sz="2200"/>
          </a:p>
        </p:txBody>
      </p:sp>
      <p:sp>
        <p:nvSpPr>
          <p:cNvPr id="27" name="Text 23">
            <a:extLst xmlns:a="http://schemas.openxmlformats.org/drawingml/2006/main">
              <a:ext uri="{FF2B5EF4-FFF2-40B4-BE49-F238E27FC236}">
                <a16:creationId xmlns:a16="http://schemas.microsoft.com/office/drawing/2014/main" id="{698B8E8C-85AD-4DB1-8019-319DC4F35C06}"/>
              </a:ext>
            </a:extLst>
          </p:cNvPr>
          <p:cNvSpPr>
            <a:spLocks xmlns:a="http://schemas.openxmlformats.org/drawingml/2006/main" noGrp="1"/>
          </p:cNvSpPr>
          <p:nvPr/>
        </p:nvSpPr>
        <p:spPr>
          <a:xfrm xmlns:a="http://schemas.openxmlformats.org/drawingml/2006/main">
            <a:off x="5879592" y="2843784"/>
            <a:ext cx="11430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70" b="1">
                <a:solidFill>
                  <a:srgbClr val="1C2940"/>
                </a:solidFill>
                <a:latin typeface="Aptos"/>
                <a:ea typeface="Aptos"/>
                <a:cs typeface="Aptos"/>
              </a:rPr>
              <a:t>coverage</a:t>
            </a:r>
            <a:endParaRPr sz="1070"/>
          </a:p>
        </p:txBody>
      </p:sp>
      <p:sp>
        <p:nvSpPr>
          <p:cNvPr id="28" name="Text 24">
            <a:extLst xmlns:a="http://schemas.openxmlformats.org/drawingml/2006/main">
              <a:ext uri="{FF2B5EF4-FFF2-40B4-BE49-F238E27FC236}">
                <a16:creationId xmlns:a16="http://schemas.microsoft.com/office/drawing/2014/main" id="{9A15E0F6-7040-456B-96E1-46175FB57E60}"/>
              </a:ext>
            </a:extLst>
          </p:cNvPr>
          <p:cNvSpPr>
            <a:spLocks xmlns:a="http://schemas.openxmlformats.org/drawingml/2006/main" noGrp="1"/>
          </p:cNvSpPr>
          <p:nvPr/>
        </p:nvSpPr>
        <p:spPr>
          <a:xfrm xmlns:a="http://schemas.openxmlformats.org/drawingml/2006/main">
            <a:off x="5879592" y="301752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52627A"/>
                </a:solidFill>
                <a:latin typeface="Aptos"/>
                <a:ea typeface="Aptos"/>
                <a:cs typeface="Aptos"/>
              </a:rPr>
              <a:t>7 of 8 accepted</a:t>
            </a:r>
            <a:endParaRPr sz="830"/>
          </a:p>
        </p:txBody>
      </p:sp>
      <p:sp>
        <p:nvSpPr>
          <p:cNvPr id="29" name="Shape 25">
            <a:extLst xmlns:a="http://schemas.openxmlformats.org/drawingml/2006/main">
              <a:ext uri="{FF2B5EF4-FFF2-40B4-BE49-F238E27FC236}">
                <a16:creationId xmlns:a16="http://schemas.microsoft.com/office/drawing/2014/main" id="{2991F5DC-CAF0-4BA3-9589-D596CE364799}"/>
              </a:ext>
            </a:extLst>
          </p:cNvPr>
          <p:cNvSpPr>
            <a:spLocks xmlns:a="http://schemas.openxmlformats.org/drawingml/2006/main" noGrp="1"/>
          </p:cNvSpPr>
          <p:nvPr/>
        </p:nvSpPr>
        <p:spPr>
          <a:xfrm xmlns:a="http://schemas.openxmlformats.org/drawingml/2006/main">
            <a:off x="7242048" y="2450592"/>
            <a:ext cx="1417320"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30" name="Shape 26">
            <a:extLst xmlns:a="http://schemas.openxmlformats.org/drawingml/2006/main">
              <a:ext uri="{FF2B5EF4-FFF2-40B4-BE49-F238E27FC236}">
                <a16:creationId xmlns:a16="http://schemas.microsoft.com/office/drawing/2014/main" id="{7661BD6C-C799-42A4-AB84-BCA8DBC75FCD}"/>
              </a:ext>
            </a:extLst>
          </p:cNvPr>
          <p:cNvSpPr>
            <a:spLocks xmlns:a="http://schemas.openxmlformats.org/drawingml/2006/main" noGrp="1"/>
          </p:cNvSpPr>
          <p:nvPr/>
        </p:nvSpPr>
        <p:spPr>
          <a:xfrm xmlns:a="http://schemas.openxmlformats.org/drawingml/2006/main">
            <a:off x="7242048" y="2450592"/>
            <a:ext cx="64008" cy="749808"/>
          </a:xfrm>
          <a:prstGeom xmlns:a="http://schemas.openxmlformats.org/drawingml/2006/main" prst="rect">
            <a:avLst/>
          </a:prstGeom>
          <a:solidFill xmlns:a="http://schemas.openxmlformats.org/drawingml/2006/main">
            <a:srgbClr val="E8AD12"/>
          </a:solidFill>
          <a:ln xmlns:a="http://schemas.openxmlformats.org/drawingml/2006/main" w="12700">
            <a:solidFill>
              <a:srgbClr val="E8AD12">
                <a:alpha val="0"/>
              </a:srgbClr>
            </a:solidFill>
            <a:prstDash val="solid"/>
          </a:ln>
        </p:spPr>
      </p:sp>
      <p:sp>
        <p:nvSpPr>
          <p:cNvPr id="31" name="Text 27">
            <a:extLst xmlns:a="http://schemas.openxmlformats.org/drawingml/2006/main">
              <a:ext uri="{FF2B5EF4-FFF2-40B4-BE49-F238E27FC236}">
                <a16:creationId xmlns:a16="http://schemas.microsoft.com/office/drawing/2014/main" id="{16DE92EB-BB94-4534-A075-6491D2CE9053}"/>
              </a:ext>
            </a:extLst>
          </p:cNvPr>
          <p:cNvSpPr>
            <a:spLocks xmlns:a="http://schemas.openxmlformats.org/drawingml/2006/main" noGrp="1"/>
          </p:cNvSpPr>
          <p:nvPr/>
        </p:nvSpPr>
        <p:spPr>
          <a:xfrm xmlns:a="http://schemas.openxmlformats.org/drawingml/2006/main">
            <a:off x="7406640" y="2542032"/>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E8AD12"/>
                </a:solidFill>
                <a:latin typeface="Aptos Display"/>
                <a:ea typeface="Aptos Display"/>
                <a:cs typeface="Aptos Display"/>
              </a:rPr>
              <a:t>12.5%</a:t>
            </a:r>
            <a:endParaRPr sz="2200"/>
          </a:p>
        </p:txBody>
      </p:sp>
      <p:sp>
        <p:nvSpPr>
          <p:cNvPr id="32" name="Text 28">
            <a:extLst xmlns:a="http://schemas.openxmlformats.org/drawingml/2006/main">
              <a:ext uri="{FF2B5EF4-FFF2-40B4-BE49-F238E27FC236}">
                <a16:creationId xmlns:a16="http://schemas.microsoft.com/office/drawing/2014/main" id="{5A8F6175-30DD-4D50-A246-F7645281BB89}"/>
              </a:ext>
            </a:extLst>
          </p:cNvPr>
          <p:cNvSpPr>
            <a:spLocks xmlns:a="http://schemas.openxmlformats.org/drawingml/2006/main" noGrp="1"/>
          </p:cNvSpPr>
          <p:nvPr/>
        </p:nvSpPr>
        <p:spPr>
          <a:xfrm xmlns:a="http://schemas.openxmlformats.org/drawingml/2006/main">
            <a:off x="7406640" y="2843784"/>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70" b="1">
                <a:solidFill>
                  <a:srgbClr val="1C2940"/>
                </a:solidFill>
                <a:latin typeface="Aptos"/>
                <a:ea typeface="Aptos"/>
                <a:cs typeface="Aptos"/>
              </a:rPr>
              <a:t>abstention</a:t>
            </a:r>
            <a:endParaRPr sz="1070"/>
          </a:p>
        </p:txBody>
      </p:sp>
      <p:sp>
        <p:nvSpPr>
          <p:cNvPr id="33" name="Text 29">
            <a:extLst xmlns:a="http://schemas.openxmlformats.org/drawingml/2006/main">
              <a:ext uri="{FF2B5EF4-FFF2-40B4-BE49-F238E27FC236}">
                <a16:creationId xmlns:a16="http://schemas.microsoft.com/office/drawing/2014/main" id="{B74DA6DE-7C2E-4575-91B8-CB8CC35FEC4F}"/>
              </a:ext>
            </a:extLst>
          </p:cNvPr>
          <p:cNvSpPr>
            <a:spLocks xmlns:a="http://schemas.openxmlformats.org/drawingml/2006/main" noGrp="1"/>
          </p:cNvSpPr>
          <p:nvPr/>
        </p:nvSpPr>
        <p:spPr>
          <a:xfrm xmlns:a="http://schemas.openxmlformats.org/drawingml/2006/main">
            <a:off x="7406640" y="3017520"/>
            <a:ext cx="118872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52627A"/>
                </a:solidFill>
                <a:latin typeface="Aptos"/>
                <a:ea typeface="Aptos"/>
                <a:cs typeface="Aptos"/>
              </a:rPr>
              <a:t>1 of 8 rejected</a:t>
            </a:r>
            <a:endParaRPr sz="830"/>
          </a:p>
        </p:txBody>
      </p:sp>
      <p:sp>
        <p:nvSpPr>
          <p:cNvPr id="34" name="Shape 30">
            <a:extLst xmlns:a="http://schemas.openxmlformats.org/drawingml/2006/main">
              <a:ext uri="{FF2B5EF4-FFF2-40B4-BE49-F238E27FC236}">
                <a16:creationId xmlns:a16="http://schemas.microsoft.com/office/drawing/2014/main" id="{05271DFD-6AB4-4705-8C4F-60982098C6FC}"/>
              </a:ext>
            </a:extLst>
          </p:cNvPr>
          <p:cNvSpPr>
            <a:spLocks xmlns:a="http://schemas.openxmlformats.org/drawingml/2006/main" noGrp="1"/>
          </p:cNvSpPr>
          <p:nvPr/>
        </p:nvSpPr>
        <p:spPr>
          <a:xfrm xmlns:a="http://schemas.openxmlformats.org/drawingml/2006/main">
            <a:off x="5715000" y="3374136"/>
            <a:ext cx="1371600"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35" name="Shape 31">
            <a:extLst xmlns:a="http://schemas.openxmlformats.org/drawingml/2006/main">
              <a:ext uri="{FF2B5EF4-FFF2-40B4-BE49-F238E27FC236}">
                <a16:creationId xmlns:a16="http://schemas.microsoft.com/office/drawing/2014/main" id="{7EC2AD89-483E-42CA-956C-B6C5BD51BC78}"/>
              </a:ext>
            </a:extLst>
          </p:cNvPr>
          <p:cNvSpPr>
            <a:spLocks xmlns:a="http://schemas.openxmlformats.org/drawingml/2006/main" noGrp="1"/>
          </p:cNvSpPr>
          <p:nvPr/>
        </p:nvSpPr>
        <p:spPr>
          <a:xfrm xmlns:a="http://schemas.openxmlformats.org/drawingml/2006/main">
            <a:off x="5715000" y="3374136"/>
            <a:ext cx="64008" cy="749808"/>
          </a:xfrm>
          <a:prstGeom xmlns:a="http://schemas.openxmlformats.org/drawingml/2006/main" prst="rect">
            <a:avLst/>
          </a:prstGeom>
          <a:solidFill xmlns:a="http://schemas.openxmlformats.org/drawingml/2006/main">
            <a:srgbClr val="B32232"/>
          </a:solidFill>
          <a:ln xmlns:a="http://schemas.openxmlformats.org/drawingml/2006/main" w="12700">
            <a:solidFill>
              <a:srgbClr val="B32232">
                <a:alpha val="0"/>
              </a:srgbClr>
            </a:solidFill>
            <a:prstDash val="solid"/>
          </a:ln>
        </p:spPr>
      </p:sp>
      <p:sp>
        <p:nvSpPr>
          <p:cNvPr id="36" name="Text 32">
            <a:extLst xmlns:a="http://schemas.openxmlformats.org/drawingml/2006/main">
              <a:ext uri="{FF2B5EF4-FFF2-40B4-BE49-F238E27FC236}">
                <a16:creationId xmlns:a16="http://schemas.microsoft.com/office/drawing/2014/main" id="{4D53935D-BBFC-4C73-B160-381221D78102}"/>
              </a:ext>
            </a:extLst>
          </p:cNvPr>
          <p:cNvSpPr>
            <a:spLocks xmlns:a="http://schemas.openxmlformats.org/drawingml/2006/main" noGrp="1"/>
          </p:cNvSpPr>
          <p:nvPr/>
        </p:nvSpPr>
        <p:spPr>
          <a:xfrm xmlns:a="http://schemas.openxmlformats.org/drawingml/2006/main">
            <a:off x="5879592" y="3465576"/>
            <a:ext cx="1143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B32232"/>
                </a:solidFill>
                <a:latin typeface="Aptos Display"/>
                <a:ea typeface="Aptos Display"/>
                <a:cs typeface="Aptos Display"/>
              </a:rPr>
              <a:t>57.14%</a:t>
            </a:r>
            <a:endParaRPr sz="2200"/>
          </a:p>
        </p:txBody>
      </p:sp>
      <p:sp>
        <p:nvSpPr>
          <p:cNvPr id="37" name="Text 33">
            <a:extLst xmlns:a="http://schemas.openxmlformats.org/drawingml/2006/main">
              <a:ext uri="{FF2B5EF4-FFF2-40B4-BE49-F238E27FC236}">
                <a16:creationId xmlns:a16="http://schemas.microsoft.com/office/drawing/2014/main" id="{45B355AB-9D61-4A3B-8A6C-36BA423012FE}"/>
              </a:ext>
            </a:extLst>
          </p:cNvPr>
          <p:cNvSpPr>
            <a:spLocks xmlns:a="http://schemas.openxmlformats.org/drawingml/2006/main" noGrp="1"/>
          </p:cNvSpPr>
          <p:nvPr/>
        </p:nvSpPr>
        <p:spPr>
          <a:xfrm xmlns:a="http://schemas.openxmlformats.org/drawingml/2006/main">
            <a:off x="5879592" y="3762375"/>
            <a:ext cx="114300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900" b="1">
                <a:solidFill>
                  <a:srgbClr val="1C2940"/>
                </a:solidFill>
                <a:latin typeface="Aptos"/>
                <a:ea typeface="Aptos"/>
                <a:cs typeface="Aptos"/>
              </a:rPr>
              <a:t>accepted accuracy</a:t>
            </a:r>
            <a:endParaRPr sz="1070"/>
          </a:p>
        </p:txBody>
      </p:sp>
      <p:sp>
        <p:nvSpPr>
          <p:cNvPr id="38" name="Text 34">
            <a:extLst xmlns:a="http://schemas.openxmlformats.org/drawingml/2006/main">
              <a:ext uri="{FF2B5EF4-FFF2-40B4-BE49-F238E27FC236}">
                <a16:creationId xmlns:a16="http://schemas.microsoft.com/office/drawing/2014/main" id="{4464FE42-E2C2-4DBE-995F-738782AAD761}"/>
              </a:ext>
            </a:extLst>
          </p:cNvPr>
          <p:cNvSpPr>
            <a:spLocks xmlns:a="http://schemas.openxmlformats.org/drawingml/2006/main" noGrp="1"/>
          </p:cNvSpPr>
          <p:nvPr/>
        </p:nvSpPr>
        <p:spPr>
          <a:xfrm xmlns:a="http://schemas.openxmlformats.org/drawingml/2006/main">
            <a:off x="5879592" y="3943350"/>
            <a:ext cx="1143000" cy="1143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lgn="ctr">
              <a:buNone/>
            </a:pPr>
            <a:r>
              <a:rPr sz="675">
                <a:solidFill>
                  <a:srgbClr val="52627A"/>
                </a:solidFill>
                <a:latin typeface="Aptos"/>
                <a:ea typeface="Aptos"/>
                <a:cs typeface="Aptos"/>
              </a:rPr>
              <a:t>among covered rows</a:t>
            </a:r>
            <a:endParaRPr sz="830"/>
          </a:p>
        </p:txBody>
      </p:sp>
      <p:sp>
        <p:nvSpPr>
          <p:cNvPr id="39" name="Shape 35">
            <a:extLst xmlns:a="http://schemas.openxmlformats.org/drawingml/2006/main">
              <a:ext uri="{FF2B5EF4-FFF2-40B4-BE49-F238E27FC236}">
                <a16:creationId xmlns:a16="http://schemas.microsoft.com/office/drawing/2014/main" id="{04076C6D-5F3E-4D5A-ABCF-A1AD640500D5}"/>
              </a:ext>
            </a:extLst>
          </p:cNvPr>
          <p:cNvSpPr>
            <a:spLocks xmlns:a="http://schemas.openxmlformats.org/drawingml/2006/main" noGrp="1"/>
          </p:cNvSpPr>
          <p:nvPr/>
        </p:nvSpPr>
        <p:spPr>
          <a:xfrm xmlns:a="http://schemas.openxmlformats.org/drawingml/2006/main">
            <a:off x="7242048" y="3374136"/>
            <a:ext cx="1417320" cy="749808"/>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0160">
            <a:solidFill>
              <a:srgbClr val="D7DEE8"/>
            </a:solidFill>
            <a:prstDash val="solid"/>
          </a:ln>
        </p:spPr>
      </p:sp>
      <p:sp>
        <p:nvSpPr>
          <p:cNvPr id="40" name="Shape 36">
            <a:extLst xmlns:a="http://schemas.openxmlformats.org/drawingml/2006/main">
              <a:ext uri="{FF2B5EF4-FFF2-40B4-BE49-F238E27FC236}">
                <a16:creationId xmlns:a16="http://schemas.microsoft.com/office/drawing/2014/main" id="{FEA42112-A06F-4EE6-9CCF-ADB0B89C28A8}"/>
              </a:ext>
            </a:extLst>
          </p:cNvPr>
          <p:cNvSpPr>
            <a:spLocks xmlns:a="http://schemas.openxmlformats.org/drawingml/2006/main" noGrp="1"/>
          </p:cNvSpPr>
          <p:nvPr/>
        </p:nvSpPr>
        <p:spPr>
          <a:xfrm xmlns:a="http://schemas.openxmlformats.org/drawingml/2006/main">
            <a:off x="7242048" y="3374136"/>
            <a:ext cx="64008" cy="749808"/>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41" name="Text 37">
            <a:extLst xmlns:a="http://schemas.openxmlformats.org/drawingml/2006/main">
              <a:ext uri="{FF2B5EF4-FFF2-40B4-BE49-F238E27FC236}">
                <a16:creationId xmlns:a16="http://schemas.microsoft.com/office/drawing/2014/main" id="{6F838878-CA98-4ED2-AB4A-ABD847F9E9DD}"/>
              </a:ext>
            </a:extLst>
          </p:cNvPr>
          <p:cNvSpPr>
            <a:spLocks xmlns:a="http://schemas.openxmlformats.org/drawingml/2006/main" noGrp="1"/>
          </p:cNvSpPr>
          <p:nvPr/>
        </p:nvSpPr>
        <p:spPr>
          <a:xfrm xmlns:a="http://schemas.openxmlformats.org/drawingml/2006/main">
            <a:off x="7406640" y="3465576"/>
            <a:ext cx="1188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00" b="1">
                <a:solidFill>
                  <a:srgbClr val="009CAB"/>
                </a:solidFill>
                <a:latin typeface="Aptos Display"/>
                <a:ea typeface="Aptos Display"/>
                <a:cs typeface="Aptos Display"/>
              </a:rPr>
              <a:t>25.5%</a:t>
            </a:r>
            <a:endParaRPr sz="2200"/>
          </a:p>
        </p:txBody>
      </p:sp>
      <p:sp>
        <p:nvSpPr>
          <p:cNvPr id="42" name="Text 38">
            <a:extLst xmlns:a="http://schemas.openxmlformats.org/drawingml/2006/main">
              <a:ext uri="{FF2B5EF4-FFF2-40B4-BE49-F238E27FC236}">
                <a16:creationId xmlns:a16="http://schemas.microsoft.com/office/drawing/2014/main" id="{EE96116C-AE3B-4A31-A5BE-D302C920D110}"/>
              </a:ext>
            </a:extLst>
          </p:cNvPr>
          <p:cNvSpPr>
            <a:spLocks xmlns:a="http://schemas.openxmlformats.org/drawingml/2006/main" noGrp="1"/>
          </p:cNvSpPr>
          <p:nvPr/>
        </p:nvSpPr>
        <p:spPr>
          <a:xfrm xmlns:a="http://schemas.openxmlformats.org/drawingml/2006/main">
            <a:off x="7406640" y="3767328"/>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70" b="1">
                <a:solidFill>
                  <a:srgbClr val="1C2940"/>
                </a:solidFill>
                <a:latin typeface="Aptos"/>
                <a:ea typeface="Aptos"/>
                <a:cs typeface="Aptos"/>
              </a:rPr>
              <a:t>lower Brier</a:t>
            </a:r>
            <a:endParaRPr sz="1070"/>
          </a:p>
        </p:txBody>
      </p:sp>
      <p:sp>
        <p:nvSpPr>
          <p:cNvPr id="43" name="Text 39">
            <a:extLst xmlns:a="http://schemas.openxmlformats.org/drawingml/2006/main">
              <a:ext uri="{FF2B5EF4-FFF2-40B4-BE49-F238E27FC236}">
                <a16:creationId xmlns:a16="http://schemas.microsoft.com/office/drawing/2014/main" id="{4284E702-1FE9-44BD-8837-2D5DEAE090EC}"/>
              </a:ext>
            </a:extLst>
          </p:cNvPr>
          <p:cNvSpPr>
            <a:spLocks xmlns:a="http://schemas.openxmlformats.org/drawingml/2006/main" noGrp="1"/>
          </p:cNvSpPr>
          <p:nvPr/>
        </p:nvSpPr>
        <p:spPr>
          <a:xfrm xmlns:a="http://schemas.openxmlformats.org/drawingml/2006/main">
            <a:off x="7406640" y="3941064"/>
            <a:ext cx="118872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52627A"/>
                </a:solidFill>
                <a:latin typeface="Aptos"/>
                <a:ea typeface="Aptos"/>
                <a:cs typeface="Aptos"/>
              </a:rPr>
              <a:t>research calibration</a:t>
            </a:r>
            <a:endParaRPr sz="830"/>
          </a:p>
        </p:txBody>
      </p:sp>
      <p:sp>
        <p:nvSpPr>
          <p:cNvPr id="44" name="Shape 40">
            <a:extLst xmlns:a="http://schemas.openxmlformats.org/drawingml/2006/main">
              <a:ext uri="{FF2B5EF4-FFF2-40B4-BE49-F238E27FC236}">
                <a16:creationId xmlns:a16="http://schemas.microsoft.com/office/drawing/2014/main" id="{EBB66C12-C373-44BA-86D5-C5B7981182FB}"/>
              </a:ext>
            </a:extLst>
          </p:cNvPr>
          <p:cNvSpPr>
            <a:spLocks xmlns:a="http://schemas.openxmlformats.org/drawingml/2006/main" noGrp="1"/>
          </p:cNvSpPr>
          <p:nvPr/>
        </p:nvSpPr>
        <p:spPr>
          <a:xfrm xmlns:a="http://schemas.openxmlformats.org/drawingml/2006/main">
            <a:off x="5715000" y="4370832"/>
            <a:ext cx="2944368" cy="1060704"/>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10160">
            <a:solidFill>
              <a:srgbClr val="D7DEE8"/>
            </a:solidFill>
            <a:prstDash val="solid"/>
          </a:ln>
        </p:spPr>
      </p:sp>
      <p:sp>
        <p:nvSpPr>
          <p:cNvPr id="45" name="Shape 41">
            <a:extLst xmlns:a="http://schemas.openxmlformats.org/drawingml/2006/main">
              <a:ext uri="{FF2B5EF4-FFF2-40B4-BE49-F238E27FC236}">
                <a16:creationId xmlns:a16="http://schemas.microsoft.com/office/drawing/2014/main" id="{0862FBF8-1210-45E9-B588-991F1A564F1E}"/>
              </a:ext>
            </a:extLst>
          </p:cNvPr>
          <p:cNvSpPr>
            <a:spLocks xmlns:a="http://schemas.openxmlformats.org/drawingml/2006/main" noGrp="1"/>
          </p:cNvSpPr>
          <p:nvPr/>
        </p:nvSpPr>
        <p:spPr>
          <a:xfrm xmlns:a="http://schemas.openxmlformats.org/drawingml/2006/main">
            <a:off x="5715000" y="4370832"/>
            <a:ext cx="64008" cy="1060704"/>
          </a:xfrm>
          <a:prstGeom xmlns:a="http://schemas.openxmlformats.org/drawingml/2006/main" prst="rect">
            <a:avLst/>
          </a:prstGeom>
          <a:solidFill xmlns:a="http://schemas.openxmlformats.org/drawingml/2006/main">
            <a:srgbClr val="18243A"/>
          </a:solidFill>
          <a:ln xmlns:a="http://schemas.openxmlformats.org/drawingml/2006/main" w="12700">
            <a:solidFill>
              <a:srgbClr val="18243A">
                <a:alpha val="0"/>
              </a:srgbClr>
            </a:solidFill>
            <a:prstDash val="solid"/>
          </a:ln>
        </p:spPr>
      </p:sp>
      <p:sp>
        <p:nvSpPr>
          <p:cNvPr id="46" name="Text 42">
            <a:extLst xmlns:a="http://schemas.openxmlformats.org/drawingml/2006/main">
              <a:ext uri="{FF2B5EF4-FFF2-40B4-BE49-F238E27FC236}">
                <a16:creationId xmlns:a16="http://schemas.microsoft.com/office/drawing/2014/main" id="{ED71BEEB-BE63-44E8-B4B7-F569E9AF8FEF}"/>
              </a:ext>
            </a:extLst>
          </p:cNvPr>
          <p:cNvSpPr>
            <a:spLocks xmlns:a="http://schemas.openxmlformats.org/drawingml/2006/main" noGrp="1"/>
          </p:cNvSpPr>
          <p:nvPr/>
        </p:nvSpPr>
        <p:spPr>
          <a:xfrm xmlns:a="http://schemas.openxmlformats.org/drawingml/2006/main">
            <a:off x="5934456" y="4590288"/>
            <a:ext cx="24765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25" b="1">
                <a:solidFill>
                  <a:srgbClr val="18243A"/>
                </a:solidFill>
                <a:latin typeface="Aptos Display"/>
                <a:ea typeface="Aptos Display"/>
                <a:cs typeface="Aptos Display"/>
              </a:rPr>
              <a:t>Engineering verification</a:t>
            </a:r>
            <a:endParaRPr sz="1450"/>
          </a:p>
        </p:txBody>
      </p:sp>
      <p:sp>
        <p:nvSpPr>
          <p:cNvPr id="47" name="Text 43">
            <a:extLst xmlns:a="http://schemas.openxmlformats.org/drawingml/2006/main">
              <a:ext uri="{FF2B5EF4-FFF2-40B4-BE49-F238E27FC236}">
                <a16:creationId xmlns:a16="http://schemas.microsoft.com/office/drawing/2014/main" id="{425228E1-07C3-430A-8F99-918EDECADB02}"/>
              </a:ext>
            </a:extLst>
          </p:cNvPr>
          <p:cNvSpPr>
            <a:spLocks xmlns:a="http://schemas.openxmlformats.org/drawingml/2006/main" noGrp="1"/>
          </p:cNvSpPr>
          <p:nvPr/>
        </p:nvSpPr>
        <p:spPr>
          <a:xfrm xmlns:a="http://schemas.openxmlformats.org/drawingml/2006/main">
            <a:off x="5934456" y="4876800"/>
            <a:ext cx="2476500" cy="40005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00">
                <a:solidFill>
                  <a:srgbClr val="1C2940"/>
                </a:solidFill>
                <a:latin typeface="Aptos"/>
                <a:ea typeface="Aptos"/>
                <a:cs typeface="Aptos"/>
              </a:rPr>
              <a:t>Runtime: 50.0% runtime accuracy · 87.5% coverage · 369 tests · exact artifacts · dependency audit</a:t>
            </a:r>
            <a:endParaRPr sz="1070"/>
          </a:p>
        </p:txBody>
      </p:sp>
      <p:sp>
        <p:nvSpPr>
          <p:cNvPr id="48" name="Shape 44">
            <a:extLst xmlns:a="http://schemas.openxmlformats.org/drawingml/2006/main">
              <a:ext uri="{FF2B5EF4-FFF2-40B4-BE49-F238E27FC236}">
                <a16:creationId xmlns:a16="http://schemas.microsoft.com/office/drawing/2014/main" id="{FAFA41C1-5BBD-46C2-84C5-52D4F2D14142}"/>
              </a:ext>
            </a:extLst>
          </p:cNvPr>
          <p:cNvSpPr>
            <a:spLocks xmlns:a="http://schemas.openxmlformats.org/drawingml/2006/main" noGrp="1"/>
          </p:cNvSpPr>
          <p:nvPr/>
        </p:nvSpPr>
        <p:spPr>
          <a:xfrm xmlns:a="http://schemas.openxmlformats.org/drawingml/2006/main">
            <a:off x="5715000" y="5596128"/>
            <a:ext cx="2944368" cy="731520"/>
          </a:xfrm>
          <a:prstGeom xmlns:a="http://schemas.openxmlformats.org/drawingml/2006/main" prst="roundRect">
            <a:avLst>
              <a:gd name="adj" fmla="val 10000"/>
            </a:avLst>
          </a:prstGeom>
          <a:solidFill xmlns:a="http://schemas.openxmlformats.org/drawingml/2006/main">
            <a:srgbClr val="FCEDEF"/>
          </a:solidFill>
          <a:ln xmlns:a="http://schemas.openxmlformats.org/drawingml/2006/main" w="10160">
            <a:solidFill>
              <a:srgbClr val="E9BFC5"/>
            </a:solidFill>
            <a:prstDash val="solid"/>
          </a:ln>
        </p:spPr>
      </p:sp>
      <p:sp>
        <p:nvSpPr>
          <p:cNvPr id="49" name="Text 45">
            <a:extLst xmlns:a="http://schemas.openxmlformats.org/drawingml/2006/main">
              <a:ext uri="{FF2B5EF4-FFF2-40B4-BE49-F238E27FC236}">
                <a16:creationId xmlns:a16="http://schemas.microsoft.com/office/drawing/2014/main" id="{ACE268EC-4504-4BD1-9CB0-FF95299E2B97}"/>
              </a:ext>
            </a:extLst>
          </p:cNvPr>
          <p:cNvSpPr>
            <a:spLocks xmlns:a="http://schemas.openxmlformats.org/drawingml/2006/main" noGrp="1"/>
          </p:cNvSpPr>
          <p:nvPr/>
        </p:nvSpPr>
        <p:spPr>
          <a:xfrm xmlns:a="http://schemas.openxmlformats.org/drawingml/2006/main">
            <a:off x="5934456" y="5769864"/>
            <a:ext cx="10515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b="1">
                <a:solidFill>
                  <a:srgbClr val="B32232"/>
                </a:solidFill>
                <a:latin typeface="Aptos"/>
                <a:ea typeface="Aptos"/>
                <a:cs typeface="Aptos"/>
              </a:rPr>
              <a:t>Subsystem evidence</a:t>
            </a:r>
            <a:endParaRPr sz="1080"/>
          </a:p>
        </p:txBody>
      </p:sp>
      <p:sp>
        <p:nvSpPr>
          <p:cNvPr id="50" name="Text 46">
            <a:extLst xmlns:a="http://schemas.openxmlformats.org/drawingml/2006/main">
              <a:ext uri="{FF2B5EF4-FFF2-40B4-BE49-F238E27FC236}">
                <a16:creationId xmlns:a16="http://schemas.microsoft.com/office/drawing/2014/main" id="{88A0E535-1995-4984-80E4-FA429C98DF69}"/>
              </a:ext>
            </a:extLst>
          </p:cNvPr>
          <p:cNvSpPr>
            <a:spLocks xmlns:a="http://schemas.openxmlformats.org/drawingml/2006/main" noGrp="1"/>
          </p:cNvSpPr>
          <p:nvPr/>
        </p:nvSpPr>
        <p:spPr>
          <a:xfrm xmlns:a="http://schemas.openxmlformats.org/drawingml/2006/main">
            <a:off x="6903720" y="5742432"/>
            <a:ext cx="151790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64705"/>
          </a:bodyPr>
          <a:lstStyle xmlns:a="http://schemas.openxmlformats.org/drawingml/2006/main"/>
          <a:p xmlns:a="http://schemas.openxmlformats.org/drawingml/2006/main">
            <a:pPr marL="0" indent="0">
              <a:buNone/>
            </a:pPr>
            <a:r>
              <a:rPr sz="970" b="1">
                <a:solidFill>
                  <a:srgbClr val="1C2940"/>
                </a:solidFill>
                <a:latin typeface="Aptos"/>
                <a:ea typeface="Aptos"/>
                <a:cs typeface="Aptos"/>
              </a:rPr>
              <a:t>Entity F1 94.12% · OCR label agreement 91.67% (n=24) · URL/graph F1 100%</a:t>
            </a:r>
            <a:endParaRPr sz="970"/>
          </a:p>
        </p:txBody>
      </p:sp>
    </p:spTree>
    <p:extLst>
      <p:ext uri="{BB962C8B-B14F-4D97-AF65-F5344CB8AC3E}">
        <p14:creationId xmlns:p14="http://schemas.microsoft.com/office/powerpoint/2010/main" val="2045839150"/>
      </p:ext>
    </p:extLst>
  </p:cSld>
</p:sld>
</file>

<file path=ppt/slides/slide9.xml><?xml version="1.0" encoding="utf-8"?>
<p:sld xmlns:p="http://schemas.openxmlformats.org/presentationml/2006/main">
  <p:cSld>
    <p:bg>
      <p:bgPr>
        <a:blipFill xmlns:a="http://schemas.openxmlformats.org/drawingml/2006/main">
          <a:blip xmlns:r="http://schemas.openxmlformats.org/officeDocument/2006/relationships" r:embed="Ra069a821434a45bd">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FEC8C4-79E0-4727-AFE3-E1328ED70AA8}"/>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Limitations, Risks &amp; Mitigation Plan</a:t>
            </a:r>
            <a:endParaRPr sz="2700"/>
          </a:p>
        </p:txBody>
      </p:sp>
      <p:sp>
        <p:nvSpPr>
          <p:cNvPr id="3" name="Text 1">
            <a:extLst xmlns:a="http://schemas.openxmlformats.org/drawingml/2006/main">
              <a:ext uri="{FF2B5EF4-FFF2-40B4-BE49-F238E27FC236}">
                <a16:creationId xmlns:a16="http://schemas.microsoft.com/office/drawing/2014/main" id="{0CACD33A-35A0-469C-A8E6-51555124879A}"/>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3625"/>
          </a:bodyPr>
          <a:lstStyle xmlns:a="http://schemas.openxmlformats.org/drawingml/2006/main"/>
          <a:p xmlns:a="http://schemas.openxmlformats.org/drawingml/2006/main">
            <a:pPr marL="0" indent="0">
              <a:buNone/>
            </a:pPr>
            <a:r>
              <a:rPr sz="1350">
                <a:solidFill>
                  <a:srgbClr val="52627A"/>
                </a:solidFill>
                <a:latin typeface="Aptos"/>
                <a:ea typeface="Aptos"/>
                <a:cs typeface="Aptos"/>
              </a:rPr>
              <a:t>Hybrid evidence reduces uncertainty, but field validity, same-task external data and human evaluation remain open.</a:t>
            </a:r>
            <a:endParaRPr sz="135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8ba7fa1ac73545f4"/>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C3EFAA5-12C5-4C95-B5CC-FCB562233DBB}"/>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Sources: final_capstone_report.md §§8–10; phase2_research_report.md; evaluation_plan.md</a:t>
            </a:r>
            <a:endParaRPr sz="830"/>
          </a:p>
        </p:txBody>
      </p:sp>
      <p:sp>
        <p:nvSpPr>
          <p:cNvPr id="6" name="Text 3">
            <a:extLst xmlns:a="http://schemas.openxmlformats.org/drawingml/2006/main">
              <a:ext uri="{FF2B5EF4-FFF2-40B4-BE49-F238E27FC236}">
                <a16:creationId xmlns:a16="http://schemas.microsoft.com/office/drawing/2014/main" id="{6FDE2BB4-9E43-4202-80F2-F7E360247502}"/>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9</a:t>
            </a:r>
            <a:endParaRPr sz="900"/>
          </a:p>
        </p:txBody>
      </p:sp>
      <p:graphicFrame>
        <p:nvGraphicFramePr>
          <p:cNvPr id="18" name="Table 0"/>
          <p:cNvGraphicFramePr/>
          <p:nvPr/>
        </p:nvGraphicFramePr>
        <p:xfrm>
          <a:off xmlns:a="http://schemas.openxmlformats.org/drawingml/2006/main" x="457200" y="1188720"/>
          <a:ext xmlns:a="http://schemas.openxmlformats.org/drawingml/2006/main" cx="8211312" cy="4315968"/>
        </p:xfrm>
        <a:graphic xmlns:a="http://schemas.openxmlformats.org/drawingml/2006/main">
          <a:graphicData uri="http://schemas.openxmlformats.org/drawingml/2006/table">
            <a:tbl>
              <a:tblPr/>
              <a:tblGrid>
                <a:gridCol w="2395728"/>
                <a:gridCol w="2487168"/>
                <a:gridCol w="3328416"/>
              </a:tblGrid>
              <a:tr h="411480">
                <a:tc>
                  <a:txBody>
                    <a:bodyPr/>
                    <a:lstStyle/>
                    <a:p>
                      <a:pPr marL="0" indent="0">
                        <a:buNone/>
                      </a:pPr>
                      <a:r>
                        <a:rPr sz="1140" b="1">
                          <a:solidFill>
                            <a:srgbClr val="FFFFFF"/>
                          </a:solidFill>
                          <a:latin typeface="Aptos"/>
                          <a:ea typeface="Aptos"/>
                          <a:cs typeface="Aptos"/>
                        </a:rPr>
                        <a:t>Limitation</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18243A"/>
                    </a:solidFill>
                  </a:tcPr>
                </a:tc>
                <a:tc>
                  <a:txBody>
                    <a:bodyPr/>
                    <a:lstStyle/>
                    <a:p>
                      <a:pPr marL="0" indent="0">
                        <a:buNone/>
                      </a:pPr>
                      <a:r>
                        <a:rPr sz="1140" b="1">
                          <a:solidFill>
                            <a:srgbClr val="FFFFFF"/>
                          </a:solidFill>
                          <a:latin typeface="Aptos"/>
                          <a:ea typeface="Aptos"/>
                          <a:cs typeface="Aptos"/>
                        </a:rPr>
                        <a:t>Why it matters</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18243A"/>
                    </a:solidFill>
                  </a:tcPr>
                </a:tc>
                <a:tc>
                  <a:txBody>
                    <a:bodyPr/>
                    <a:lstStyle/>
                    <a:p>
                      <a:pPr marL="0" indent="0">
                        <a:buNone/>
                      </a:pPr>
                      <a:r>
                        <a:rPr sz="1140" b="1">
                          <a:solidFill>
                            <a:srgbClr val="FFFFFF"/>
                          </a:solidFill>
                          <a:latin typeface="Aptos"/>
                          <a:ea typeface="Aptos"/>
                          <a:cs typeface="Aptos"/>
                        </a:rPr>
                        <a:t>Planned mitigation / measurement</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18243A"/>
                    </a:solidFill>
                  </a:tcPr>
                </a:tc>
              </a:tr>
              <a:tr h="749808">
                <a:tc>
                  <a:txBody>
                    <a:bodyPr/>
                    <a:lstStyle/>
                    <a:p>
                      <a:pPr marL="0" indent="0">
                        <a:buNone/>
                      </a:pPr>
                      <a:r>
                        <a:rPr sz="1140">
                          <a:solidFill>
                            <a:srgbClr val="1C2940"/>
                          </a:solidFill>
                          <a:latin typeface="Aptos"/>
                          <a:ea typeface="Aptos"/>
                          <a:cs typeface="Aptos"/>
                        </a:rPr>
                        <a:t>64 synthetic fraud-only messages; no legitimate class</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Class boundaries and false positives are not representative</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Collect 200+ authorized reviewed rows per fraud label plus benign controls</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r>
              <a:tr h="749808">
                <a:tc>
                  <a:txBody>
                    <a:bodyPr/>
                    <a:lstStyle/>
                    <a:p>
                      <a:pPr marL="0" indent="0">
                        <a:buNone/>
                      </a:pPr>
                      <a:r>
                        <a:rPr sz="1140">
                          <a:solidFill>
                            <a:srgbClr val="1C2940"/>
                          </a:solidFill>
                          <a:latin typeface="Aptos"/>
                          <a:ea typeface="Aptos"/>
                          <a:cs typeface="Aptos"/>
                        </a:rPr>
                        <a:t>Eight-row frozen test; one row per class</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One error moves accuracy by 12.5 percentage points</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Use grouped external holdout, confidence intervals and temporal evaluation</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r>
              <a:tr h="804672">
                <a:tc>
                  <a:txBody>
                    <a:bodyPr/>
                    <a:lstStyle/>
                    <a:p>
                      <a:pPr marL="0" indent="0">
                        <a:buNone/>
                      </a:pPr>
                      <a:r>
                        <a:rPr sz="1140">
                          <a:solidFill>
                            <a:srgbClr val="1C2940"/>
                          </a:solidFill>
                          <a:latin typeface="Aptos"/>
                          <a:ea typeface="Aptos"/>
                          <a:cs typeface="Aptos"/>
                        </a:rPr>
                        <a:t>Controlled subsystem fixtures only</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Synthetic templates do not establish field or human-review quality</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Add natural screenshots, blinded labels and a human draft-quality rubric</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r>
              <a:tr h="749808">
                <a:tc>
                  <a:txBody>
                    <a:bodyPr/>
                    <a:lstStyle/>
                    <a:p>
                      <a:pPr marL="0" indent="0">
                        <a:buNone/>
                      </a:pPr>
                      <a:r>
                        <a:rPr sz="1140">
                          <a:solidFill>
                            <a:srgbClr val="1C2940"/>
                          </a:solidFill>
                          <a:latin typeface="Aptos"/>
                          <a:ea typeface="Aptos"/>
                          <a:cs typeface="Aptos"/>
                        </a:rPr>
                        <a:t>No Devanagari, drift or user study</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Generalization and usability remain unknown</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Create language/noise strata; supervised reviewer study and escalation rubric</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r>
              <a:tr h="804672">
                <a:tc>
                  <a:txBody>
                    <a:bodyPr/>
                    <a:lstStyle/>
                    <a:p>
                      <a:pPr marL="0" indent="0">
                        <a:buNone/>
                      </a:pPr>
                      <a:r>
                        <a:rPr sz="1140">
                          <a:solidFill>
                            <a:srgbClr val="1C2940"/>
                          </a:solidFill>
                          <a:latin typeface="Aptos"/>
                          <a:ea typeface="Aptos"/>
                          <a:cs typeface="Aptos"/>
                        </a:rPr>
                        <a:t>Shared educational deployment</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No end-user accounts, distributed limits or production operations</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c>
                  <a:txBody>
                    <a:bodyPr/>
                    <a:lstStyle/>
                    <a:p>
                      <a:pPr marL="0" indent="0">
                        <a:buNone/>
                      </a:pPr>
                      <a:r>
                        <a:rPr sz="1140">
                          <a:solidFill>
                            <a:srgbClr val="1C2940"/>
                          </a:solidFill>
                          <a:latin typeface="Aptos"/>
                          <a:ea typeface="Aptos"/>
                          <a:cs typeface="Aptos"/>
                        </a:rPr>
                        <a:t>Restricted demo access; add session auth, rate limits and external database before expansion</a:t>
                      </a:r>
                      <a:endParaRPr sz="1140">
                        <a:latin typeface="Aptos"/>
                        <a:ea typeface="Aptos"/>
                        <a:cs typeface="Aptos"/>
                      </a:endParaRPr>
                    </a:p>
                  </a:txBody>
                  <a:tcPr marL="64008" marR="64008" marT="64008" marB="64008" anchor="ctr">
                    <a:lnL w="8255" cmpd="sng">
                      <a:solidFill>
                        <a:srgbClr val="D7DEE8"/>
                      </a:solidFill>
                      <a:prstDash val="solid"/>
                    </a:lnL>
                    <a:lnR w="8255" cmpd="sng">
                      <a:solidFill>
                        <a:srgbClr val="D7DEE8"/>
                      </a:solidFill>
                      <a:prstDash val="solid"/>
                    </a:lnR>
                    <a:lnT w="8255" cmpd="sng">
                      <a:solidFill>
                        <a:srgbClr val="D7DEE8"/>
                      </a:solidFill>
                      <a:prstDash val="solid"/>
                    </a:lnT>
                    <a:lnB w="8255" cmpd="sng">
                      <a:solidFill>
                        <a:srgbClr val="D7DEE8"/>
                      </a:solidFill>
                      <a:prstDash val="solid"/>
                    </a:lnB>
                    <a:solidFill>
                      <a:srgbClr val="FFFFFF"/>
                    </a:solidFill>
                  </a:tcPr>
                </a:tc>
              </a:tr>
            </a:tbl>
          </a:graphicData>
        </a:graphic>
      </p:graphicFrame>
      <p:sp>
        <p:nvSpPr>
          <p:cNvPr id="8" name="Shape 4">
            <a:extLst xmlns:a="http://schemas.openxmlformats.org/drawingml/2006/main">
              <a:ext uri="{FF2B5EF4-FFF2-40B4-BE49-F238E27FC236}">
                <a16:creationId xmlns:a16="http://schemas.microsoft.com/office/drawing/2014/main" id="{85F71CED-B2C5-4C5D-829B-1E6AEB6C42E9}"/>
              </a:ext>
            </a:extLst>
          </p:cNvPr>
          <p:cNvSpPr>
            <a:spLocks xmlns:a="http://schemas.openxmlformats.org/drawingml/2006/main" noGrp="1"/>
          </p:cNvSpPr>
          <p:nvPr/>
        </p:nvSpPr>
        <p:spPr>
          <a:xfrm xmlns:a="http://schemas.openxmlformats.org/drawingml/2006/main">
            <a:off x="457200" y="5696712"/>
            <a:ext cx="8211312" cy="640080"/>
          </a:xfrm>
          <a:prstGeom xmlns:a="http://schemas.openxmlformats.org/drawingml/2006/main" prst="roundRect">
            <a:avLst>
              <a:gd name="adj" fmla="val 11429"/>
            </a:avLst>
          </a:prstGeom>
          <a:solidFill xmlns:a="http://schemas.openxmlformats.org/drawingml/2006/main">
            <a:srgbClr val="FFF7DF"/>
          </a:solidFill>
          <a:ln xmlns:a="http://schemas.openxmlformats.org/drawingml/2006/main" w="10160">
            <a:solidFill>
              <a:srgbClr val="E8CD7D"/>
            </a:solidFill>
            <a:prstDash val="solid"/>
          </a:ln>
        </p:spPr>
      </p:sp>
      <p:sp>
        <p:nvSpPr>
          <p:cNvPr id="9" name="Text 5">
            <a:extLst xmlns:a="http://schemas.openxmlformats.org/drawingml/2006/main">
              <a:ext uri="{FF2B5EF4-FFF2-40B4-BE49-F238E27FC236}">
                <a16:creationId xmlns:a16="http://schemas.microsoft.com/office/drawing/2014/main" id="{189F8B2F-802A-43FD-8192-3D65D6402008}"/>
              </a:ext>
            </a:extLst>
          </p:cNvPr>
          <p:cNvSpPr>
            <a:spLocks xmlns:a="http://schemas.openxmlformats.org/drawingml/2006/main" noGrp="1"/>
          </p:cNvSpPr>
          <p:nvPr/>
        </p:nvSpPr>
        <p:spPr>
          <a:xfrm xmlns:a="http://schemas.openxmlformats.org/drawingml/2006/main">
            <a:off x="676656" y="5897880"/>
            <a:ext cx="111556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40" b="1">
                <a:solidFill>
                  <a:srgbClr val="715400"/>
                </a:solidFill>
                <a:latin typeface="Aptos"/>
                <a:ea typeface="Aptos"/>
                <a:cs typeface="Aptos"/>
              </a:rPr>
              <a:t>Interpretation rule</a:t>
            </a:r>
            <a:endParaRPr sz="1140"/>
          </a:p>
        </p:txBody>
      </p:sp>
      <p:sp>
        <p:nvSpPr>
          <p:cNvPr id="10" name="Text 6">
            <a:extLst xmlns:a="http://schemas.openxmlformats.org/drawingml/2006/main">
              <a:ext uri="{FF2B5EF4-FFF2-40B4-BE49-F238E27FC236}">
                <a16:creationId xmlns:a16="http://schemas.microsoft.com/office/drawing/2014/main" id="{7B906498-63D8-42BB-B979-AA2E6EEEA5FF}"/>
              </a:ext>
            </a:extLst>
          </p:cNvPr>
          <p:cNvSpPr>
            <a:spLocks xmlns:a="http://schemas.openxmlformats.org/drawingml/2006/main" noGrp="1"/>
          </p:cNvSpPr>
          <p:nvPr/>
        </p:nvSpPr>
        <p:spPr>
          <a:xfrm xmlns:a="http://schemas.openxmlformats.org/drawingml/2006/main">
            <a:off x="1810512" y="5870448"/>
            <a:ext cx="647395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2627"/>
          </a:bodyPr>
          <a:lstStyle xmlns:a="http://schemas.openxmlformats.org/drawingml/2006/main"/>
          <a:p xmlns:a="http://schemas.openxmlformats.org/drawingml/2006/main">
            <a:pPr marL="0" indent="0">
              <a:buNone/>
            </a:pPr>
            <a:r>
              <a:rPr sz="1130" b="1">
                <a:solidFill>
                  <a:srgbClr val="1C2940"/>
                </a:solidFill>
                <a:latin typeface="Aptos"/>
                <a:ea typeface="Aptos"/>
                <a:cs typeface="Aptos"/>
              </a:rPr>
              <a:t>Use each score only for its declared task. Binary UCI ≠ eight-class runtime; controlled subsystem fixtures ≠ field or human studies.</a:t>
            </a:r>
            <a:endParaRPr sz="1130"/>
          </a:p>
        </p:txBody>
      </p:sp>
    </p:spTree>
    <p:extLst>
      <p:ext uri="{BB962C8B-B14F-4D97-AF65-F5344CB8AC3E}">
        <p14:creationId xmlns:p14="http://schemas.microsoft.com/office/powerpoint/2010/main" val="204672354"/>
      </p:ext>
    </p:extLst>
  </p:cSld>
</p:sld>
</file>

<file path=ppt/slides/slide10.xml><?xml version="1.0" encoding="utf-8"?>
<p:sld xmlns:p="http://schemas.openxmlformats.org/presentationml/2006/main">
  <p:cSld>
    <p:bg>
      <p:bgPr>
        <a:blipFill xmlns:a="http://schemas.openxmlformats.org/drawingml/2006/main">
          <a:blip xmlns:r="http://schemas.openxmlformats.org/officeDocument/2006/relationships" r:embed="R3d3b53e31fe14971">
            <a:alphaModFix amt="100000"/>
          </a:blip>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E63DF90-6A70-4D49-AFED-56DDFAFDCB17}"/>
              </a:ext>
            </a:extLst>
          </p:cNvPr>
          <p:cNvSpPr>
            <a:spLocks xmlns:a="http://schemas.openxmlformats.org/drawingml/2006/main" noGrp="1"/>
          </p:cNvSpPr>
          <p:nvPr/>
        </p:nvSpPr>
        <p:spPr>
          <a:xfrm xmlns:a="http://schemas.openxmlformats.org/drawingml/2006/main">
            <a:off x="438912" y="292608"/>
            <a:ext cx="7086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700" b="1">
                <a:solidFill>
                  <a:srgbClr val="18243A"/>
                </a:solidFill>
                <a:latin typeface="Aptos Display"/>
                <a:ea typeface="Aptos Display"/>
                <a:cs typeface="Aptos Display"/>
              </a:rPr>
              <a:t>Conclusion, Contribution &amp; Future Work</a:t>
            </a:r>
            <a:endParaRPr sz="2700"/>
          </a:p>
        </p:txBody>
      </p:sp>
      <p:sp>
        <p:nvSpPr>
          <p:cNvPr id="3" name="Text 1">
            <a:extLst xmlns:a="http://schemas.openxmlformats.org/drawingml/2006/main">
              <a:ext uri="{FF2B5EF4-FFF2-40B4-BE49-F238E27FC236}">
                <a16:creationId xmlns:a16="http://schemas.microsoft.com/office/drawing/2014/main" id="{A0EB5A2E-FCB1-4499-BD99-2C71E33FC485}"/>
              </a:ext>
            </a:extLst>
          </p:cNvPr>
          <p:cNvSpPr>
            <a:spLocks xmlns:a="http://schemas.openxmlformats.org/drawingml/2006/main" noGrp="1"/>
          </p:cNvSpPr>
          <p:nvPr/>
        </p:nvSpPr>
        <p:spPr>
          <a:xfrm xmlns:a="http://schemas.openxmlformats.org/drawingml/2006/main">
            <a:off x="457200" y="749808"/>
            <a:ext cx="7360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4831"/>
          </a:bodyPr>
          <a:lstStyle xmlns:a="http://schemas.openxmlformats.org/drawingml/2006/main"/>
          <a:p xmlns:a="http://schemas.openxmlformats.org/drawingml/2006/main">
            <a:pPr marL="0" indent="0">
              <a:buNone/>
            </a:pPr>
            <a:r>
              <a:rPr sz="1350">
                <a:solidFill>
                  <a:srgbClr val="52627A"/>
                </a:solidFill>
                <a:latin typeface="Aptos"/>
                <a:ea typeface="Aptos"/>
                <a:cs typeface="Aptos"/>
              </a:rPr>
              <a:t>FraudLens Bharat is software-complete with stronger hybrid evidence; the next milestone is field-valid evaluation.</a:t>
            </a:r>
            <a:endParaRPr sz="1350"/>
          </a:p>
        </p:txBody>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33aab7ac6c314596"/>
          <a:stretch xmlns:a="http://schemas.openxmlformats.org/drawingml/2006/main">
            <a:fillRect l="0" t="0" r="0" b="0"/>
          </a:stretch>
        </p:blipFill>
        <p:spPr>
          <a:xfrm xmlns:a="http://schemas.openxmlformats.org/drawingml/2006/main">
            <a:off x="7818120" y="219456"/>
            <a:ext cx="914400" cy="438912"/>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CC21D8EA-5250-44FC-926E-8DF0AC5CEEDE}"/>
              </a:ext>
            </a:extLst>
          </p:cNvPr>
          <p:cNvSpPr>
            <a:spLocks xmlns:a="http://schemas.openxmlformats.org/drawingml/2006/main" noGrp="1"/>
          </p:cNvSpPr>
          <p:nvPr/>
        </p:nvSpPr>
        <p:spPr>
          <a:xfrm xmlns:a="http://schemas.openxmlformats.org/drawingml/2006/main">
            <a:off x="411480" y="6583680"/>
            <a:ext cx="790956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30">
                <a:solidFill>
                  <a:srgbClr val="66758B"/>
                </a:solidFill>
                <a:latin typeface="Aptos"/>
                <a:ea typeface="Aptos"/>
                <a:cs typeface="Aptos"/>
              </a:rPr>
              <a:t>Release 1.0 candidate · hybrid evidence verified · hosted website: fraudlens-bharat.vercel.app</a:t>
            </a:r>
            <a:endParaRPr sz="830"/>
          </a:p>
        </p:txBody>
      </p:sp>
      <p:sp>
        <p:nvSpPr>
          <p:cNvPr id="6" name="Text 3">
            <a:extLst xmlns:a="http://schemas.openxmlformats.org/drawingml/2006/main">
              <a:ext uri="{FF2B5EF4-FFF2-40B4-BE49-F238E27FC236}">
                <a16:creationId xmlns:a16="http://schemas.microsoft.com/office/drawing/2014/main" id="{75AF81D1-1B86-493B-AAC6-1FCB0C468A6E}"/>
              </a:ext>
            </a:extLst>
          </p:cNvPr>
          <p:cNvSpPr>
            <a:spLocks xmlns:a="http://schemas.openxmlformats.org/drawingml/2006/main" noGrp="1"/>
          </p:cNvSpPr>
          <p:nvPr/>
        </p:nvSpPr>
        <p:spPr>
          <a:xfrm xmlns:a="http://schemas.openxmlformats.org/drawingml/2006/main">
            <a:off x="8430768" y="6556248"/>
            <a:ext cx="2743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542073"/>
                </a:solidFill>
                <a:latin typeface="Aptos"/>
                <a:ea typeface="Aptos"/>
                <a:cs typeface="Aptos"/>
              </a:rPr>
              <a:t>10</a:t>
            </a:r>
            <a:endParaRPr sz="900"/>
          </a:p>
        </p:txBody>
      </p:sp>
      <p:sp>
        <p:nvSpPr>
          <p:cNvPr id="7" name="Shape 4">
            <a:extLst xmlns:a="http://schemas.openxmlformats.org/drawingml/2006/main">
              <a:ext uri="{FF2B5EF4-FFF2-40B4-BE49-F238E27FC236}">
                <a16:creationId xmlns:a16="http://schemas.microsoft.com/office/drawing/2014/main" id="{62B7A22B-0AC2-457A-A8EE-B85653318BA6}"/>
              </a:ext>
            </a:extLst>
          </p:cNvPr>
          <p:cNvSpPr>
            <a:spLocks xmlns:a="http://schemas.openxmlformats.org/drawingml/2006/main" noGrp="1"/>
          </p:cNvSpPr>
          <p:nvPr/>
        </p:nvSpPr>
        <p:spPr>
          <a:xfrm xmlns:a="http://schemas.openxmlformats.org/drawingml/2006/main">
            <a:off x="457200" y="1188720"/>
            <a:ext cx="3767328" cy="4343400"/>
          </a:xfrm>
          <a:prstGeom xmlns:a="http://schemas.openxmlformats.org/drawingml/2006/main" prst="roundRect">
            <a:avLst>
              <a:gd name="adj" fmla="val 1942"/>
            </a:avLst>
          </a:prstGeom>
          <a:solidFill xmlns:a="http://schemas.openxmlformats.org/drawingml/2006/main">
            <a:srgbClr val="18243A"/>
          </a:solidFill>
          <a:ln xmlns:a="http://schemas.openxmlformats.org/drawingml/2006/main" w="10160">
            <a:solidFill>
              <a:srgbClr val="18243A"/>
            </a:solidFill>
            <a:prstDash val="solid"/>
          </a:ln>
        </p:spPr>
      </p:sp>
      <p:sp>
        <p:nvSpPr>
          <p:cNvPr id="8" name="Text 5">
            <a:extLst xmlns:a="http://schemas.openxmlformats.org/drawingml/2006/main">
              <a:ext uri="{FF2B5EF4-FFF2-40B4-BE49-F238E27FC236}">
                <a16:creationId xmlns:a16="http://schemas.microsoft.com/office/drawing/2014/main" id="{3537737A-2D63-4D3C-B9A0-CF922D7CC405}"/>
              </a:ext>
            </a:extLst>
          </p:cNvPr>
          <p:cNvSpPr>
            <a:spLocks xmlns:a="http://schemas.openxmlformats.org/drawingml/2006/main" noGrp="1"/>
          </p:cNvSpPr>
          <p:nvPr/>
        </p:nvSpPr>
        <p:spPr>
          <a:xfrm xmlns:a="http://schemas.openxmlformats.org/drawingml/2006/main">
            <a:off x="713232" y="1490472"/>
            <a:ext cx="310896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68D5DE"/>
                </a:solidFill>
                <a:latin typeface="Aptos"/>
                <a:ea typeface="Aptos"/>
                <a:cs typeface="Aptos"/>
              </a:rPr>
              <a:t>COMPLETED CONTRIBUTION</a:t>
            </a:r>
            <a:endParaRPr sz="1050"/>
          </a:p>
        </p:txBody>
      </p:sp>
      <p:sp>
        <p:nvSpPr>
          <p:cNvPr id="9" name="Text 6">
            <a:extLst xmlns:a="http://schemas.openxmlformats.org/drawingml/2006/main">
              <a:ext uri="{FF2B5EF4-FFF2-40B4-BE49-F238E27FC236}">
                <a16:creationId xmlns:a16="http://schemas.microsoft.com/office/drawing/2014/main" id="{36070B00-0003-4D4E-A83E-49F8151CE19F}"/>
              </a:ext>
            </a:extLst>
          </p:cNvPr>
          <p:cNvSpPr>
            <a:spLocks xmlns:a="http://schemas.openxmlformats.org/drawingml/2006/main" noGrp="1"/>
          </p:cNvSpPr>
          <p:nvPr/>
        </p:nvSpPr>
        <p:spPr>
          <a:xfrm xmlns:a="http://schemas.openxmlformats.org/drawingml/2006/main">
            <a:off x="713232" y="1874520"/>
            <a:ext cx="312724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2250" b="1">
                <a:solidFill>
                  <a:srgbClr val="FFFFFF"/>
                </a:solidFill>
                <a:latin typeface="Aptos Display"/>
                <a:ea typeface="Aptos Display"/>
                <a:cs typeface="Aptos Display"/>
              </a:rPr>
              <a:t>One human-controlled evidence workflow</a:t>
            </a:r>
            <a:endParaRPr sz="2250"/>
          </a:p>
        </p:txBody>
      </p:sp>
      <p:sp>
        <p:nvSpPr>
          <p:cNvPr id="10" name="Text 7">
            <a:extLst xmlns:a="http://schemas.openxmlformats.org/drawingml/2006/main">
              <a:ext uri="{FF2B5EF4-FFF2-40B4-BE49-F238E27FC236}">
                <a16:creationId xmlns:a16="http://schemas.microsoft.com/office/drawing/2014/main" id="{37CFA4B4-7FBF-4F2B-A7B5-12C7C45B803C}"/>
              </a:ext>
            </a:extLst>
          </p:cNvPr>
          <p:cNvSpPr>
            <a:spLocks xmlns:a="http://schemas.openxmlformats.org/drawingml/2006/main" noGrp="1"/>
          </p:cNvSpPr>
          <p:nvPr/>
        </p:nvSpPr>
        <p:spPr>
          <a:xfrm xmlns:a="http://schemas.openxmlformats.org/drawingml/2006/main">
            <a:off x="749808" y="2606040"/>
            <a:ext cx="3063240" cy="19659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t">
            <a:normAutofit fontScale="100000"/>
          </a:bodyPr>
          <a:lstStyle xmlns:a="http://schemas.openxmlformats.org/drawingml/2006/main"/>
          <a:p xmlns:a="http://schemas.openxmlformats.org/drawingml/2006/main">
            <a:pPr marL="165100" indent="-165100">
              <a:buSzPct val="100000"/>
              <a:buChar char="•"/>
            </a:pPr>
            <a:r>
              <a:rPr sz="1240">
                <a:solidFill>
                  <a:srgbClr val="FFFFFF"/>
                </a:solidFill>
                <a:latin typeface="Aptos"/>
                <a:ea typeface="Aptos"/>
                <a:cs typeface="Aptos"/>
              </a:rPr>
              <a:t>One shared text/screenshot analysis path with calibrated abstention</a:t>
            </a:r>
            <a:endParaRPr sz="1240"/>
          </a:p>
          <a:p xmlns:a="http://schemas.openxmlformats.org/drawingml/2006/main">
            <a:pPr marL="165100" indent="-165100">
              <a:buSzPct val="100000"/>
              <a:buChar char="•"/>
            </a:pPr>
            <a:r>
              <a:rPr sz="1240">
                <a:solidFill>
                  <a:srgbClr val="FFFFFF"/>
                </a:solidFill>
                <a:latin typeface="Aptos"/>
                <a:ea typeface="Aptos"/>
                <a:cs typeface="Aptos"/>
              </a:rPr>
              <a:t>Masked evidence, URL reasons, risk cues + editable complaint draft</a:t>
            </a:r>
            <a:endParaRPr sz="1240"/>
          </a:p>
          <a:p xmlns:a="http://schemas.openxmlformats.org/drawingml/2006/main">
            <a:pPr marL="165100" indent="-165100">
              <a:buSzPct val="100000"/>
              <a:buChar char="•"/>
            </a:pPr>
            <a:r>
              <a:rPr sz="1240">
                <a:solidFill>
                  <a:srgbClr val="FFFFFF"/>
                </a:solidFill>
                <a:latin typeface="Aptos"/>
                <a:ea typeface="Aptos"/>
                <a:cs typeface="Aptos"/>
              </a:rPr>
              <a:t>Consent, expiry + bounded repeated-entity context</a:t>
            </a:r>
            <a:endParaRPr sz="1240"/>
          </a:p>
          <a:p xmlns:a="http://schemas.openxmlformats.org/drawingml/2006/main">
            <a:pPr marL="165100" indent="-165100">
              <a:buSzPct val="100000"/>
              <a:buChar char="•"/>
            </a:pPr>
            <a:r>
              <a:rPr sz="1240">
                <a:solidFill>
                  <a:srgbClr val="FFFFFF"/>
                </a:solidFill>
                <a:latin typeface="Aptos"/>
                <a:ea typeface="Aptos"/>
                <a:cs typeface="Aptos"/>
              </a:rPr>
              <a:t>External binary validation + five subsystem benchmarks</a:t>
            </a:r>
            <a:endParaRPr sz="1240"/>
          </a:p>
          <a:p xmlns:a="http://schemas.openxmlformats.org/drawingml/2006/main">
            <a:pPr marL="165100" indent="-165100">
              <a:buSzPct val="100000"/>
              <a:buChar char="•"/>
            </a:pPr>
            <a:r>
              <a:rPr sz="1240">
                <a:solidFill>
                  <a:srgbClr val="FFFFFF"/>
                </a:solidFill>
                <a:latin typeface="Aptos"/>
                <a:ea typeface="Aptos"/>
                <a:cs typeface="Aptos"/>
              </a:rPr>
              <a:t>Reproducible aggregate evidence + 369 automated tests</a:t>
            </a:r>
            <a:endParaRPr sz="1240"/>
          </a:p>
        </p:txBody>
      </p:sp>
      <p:sp>
        <p:nvSpPr>
          <p:cNvPr id="11" name="Text 8">
            <a:extLst xmlns:a="http://schemas.openxmlformats.org/drawingml/2006/main">
              <a:ext uri="{FF2B5EF4-FFF2-40B4-BE49-F238E27FC236}">
                <a16:creationId xmlns:a16="http://schemas.microsoft.com/office/drawing/2014/main" id="{90ECE197-F706-4E9E-B9B3-1AC00A97B4D6}"/>
              </a:ext>
            </a:extLst>
          </p:cNvPr>
          <p:cNvSpPr>
            <a:spLocks xmlns:a="http://schemas.openxmlformats.org/drawingml/2006/main" noGrp="1"/>
          </p:cNvSpPr>
          <p:nvPr/>
        </p:nvSpPr>
        <p:spPr>
          <a:xfrm xmlns:a="http://schemas.openxmlformats.org/drawingml/2006/main">
            <a:off x="731520" y="4846320"/>
            <a:ext cx="841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68D5DE"/>
                </a:solidFill>
                <a:latin typeface="Aptos Display"/>
                <a:ea typeface="Aptos Display"/>
                <a:cs typeface="Aptos Display"/>
              </a:rPr>
              <a:t>369</a:t>
            </a:r>
            <a:endParaRPr sz="2400"/>
          </a:p>
        </p:txBody>
      </p:sp>
      <p:sp>
        <p:nvSpPr>
          <p:cNvPr id="12" name="Text 9">
            <a:extLst xmlns:a="http://schemas.openxmlformats.org/drawingml/2006/main">
              <a:ext uri="{FF2B5EF4-FFF2-40B4-BE49-F238E27FC236}">
                <a16:creationId xmlns:a16="http://schemas.microsoft.com/office/drawing/2014/main" id="{92FB293C-3BA2-46C2-A9CA-C81BB915DEA8}"/>
              </a:ext>
            </a:extLst>
          </p:cNvPr>
          <p:cNvSpPr>
            <a:spLocks xmlns:a="http://schemas.openxmlformats.org/drawingml/2006/main" noGrp="1"/>
          </p:cNvSpPr>
          <p:nvPr/>
        </p:nvSpPr>
        <p:spPr>
          <a:xfrm xmlns:a="http://schemas.openxmlformats.org/drawingml/2006/main">
            <a:off x="1444752" y="4919472"/>
            <a:ext cx="94183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C7D0DD"/>
                </a:solidFill>
                <a:latin typeface="Aptos"/>
                <a:ea typeface="Aptos"/>
                <a:cs typeface="Aptos"/>
              </a:rPr>
              <a:t>automated tests</a:t>
            </a:r>
            <a:endParaRPr sz="1050"/>
          </a:p>
        </p:txBody>
      </p:sp>
      <p:sp>
        <p:nvSpPr>
          <p:cNvPr id="13" name="Text 10">
            <a:extLst xmlns:a="http://schemas.openxmlformats.org/drawingml/2006/main">
              <a:ext uri="{FF2B5EF4-FFF2-40B4-BE49-F238E27FC236}">
                <a16:creationId xmlns:a16="http://schemas.microsoft.com/office/drawing/2014/main" id="{E8AA21E2-D267-4B86-92A7-8F90D9F6DAA6}"/>
              </a:ext>
            </a:extLst>
          </p:cNvPr>
          <p:cNvSpPr>
            <a:spLocks xmlns:a="http://schemas.openxmlformats.org/drawingml/2006/main" noGrp="1"/>
          </p:cNvSpPr>
          <p:nvPr/>
        </p:nvSpPr>
        <p:spPr>
          <a:xfrm xmlns:a="http://schemas.openxmlformats.org/drawingml/2006/main">
            <a:off x="2542032" y="4800600"/>
            <a:ext cx="13350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7209"/>
          </a:bodyPr>
          <a:lstStyle xmlns:a="http://schemas.openxmlformats.org/drawingml/2006/main"/>
          <a:p xmlns:a="http://schemas.openxmlformats.org/drawingml/2006/main">
            <a:pPr marL="0" indent="0">
              <a:buNone/>
            </a:pPr>
            <a:r>
              <a:rPr sz="860">
                <a:solidFill>
                  <a:srgbClr val="C7D0DD"/>
                </a:solidFill>
                <a:latin typeface="Aptos"/>
                <a:ea typeface="Aptos"/>
                <a:cs typeface="Aptos"/>
              </a:rPr>
              <a:t>External: 98.60% acc · 0.9682 F1</a:t>
            </a:r>
            <a:endParaRPr sz="860"/>
          </a:p>
          <a:p xmlns:a="http://schemas.openxmlformats.org/drawingml/2006/main">
            <a:pPr marL="0" indent="0">
              <a:buNone/>
            </a:pPr>
            <a:r>
              <a:rPr sz="860">
                <a:solidFill>
                  <a:srgbClr val="C7D0DD"/>
                </a:solidFill>
                <a:latin typeface="Aptos"/>
                <a:ea typeface="Aptos"/>
                <a:cs typeface="Aptos"/>
              </a:rPr>
              <a:t>Runtime: 50% acc · 87.5% coverage</a:t>
            </a:r>
            <a:endParaRPr sz="860"/>
          </a:p>
        </p:txBody>
      </p:sp>
      <p:sp>
        <p:nvSpPr>
          <p:cNvPr id="14" name="Text 11">
            <a:extLst xmlns:a="http://schemas.openxmlformats.org/drawingml/2006/main">
              <a:ext uri="{FF2B5EF4-FFF2-40B4-BE49-F238E27FC236}">
                <a16:creationId xmlns:a16="http://schemas.microsoft.com/office/drawing/2014/main" id="{44259FA9-A41F-463F-8A13-1582DD84E7B2}"/>
              </a:ext>
            </a:extLst>
          </p:cNvPr>
          <p:cNvSpPr>
            <a:spLocks xmlns:a="http://schemas.openxmlformats.org/drawingml/2006/main" noGrp="1"/>
          </p:cNvSpPr>
          <p:nvPr/>
        </p:nvSpPr>
        <p:spPr>
          <a:xfrm xmlns:a="http://schemas.openxmlformats.org/drawingml/2006/main">
            <a:off x="4498848" y="1225296"/>
            <a:ext cx="4023360" cy="192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542073"/>
                </a:solidFill>
                <a:latin typeface="Aptos"/>
                <a:ea typeface="Aptos"/>
                <a:cs typeface="Aptos"/>
              </a:rPr>
              <a:t>PRIORITIZED NEXT RESEARCH</a:t>
            </a:r>
            <a:endParaRPr sz="1050"/>
          </a:p>
        </p:txBody>
      </p:sp>
      <p:sp>
        <p:nvSpPr>
          <p:cNvPr id="15" name="Shape 12">
            <a:extLst xmlns:a="http://schemas.openxmlformats.org/drawingml/2006/main">
              <a:ext uri="{FF2B5EF4-FFF2-40B4-BE49-F238E27FC236}">
                <a16:creationId xmlns:a16="http://schemas.microsoft.com/office/drawing/2014/main" id="{7B46A26D-8AC9-48B9-B2F3-1E7DBCC63274}"/>
              </a:ext>
            </a:extLst>
          </p:cNvPr>
          <p:cNvSpPr>
            <a:spLocks xmlns:a="http://schemas.openxmlformats.org/drawingml/2006/main" noGrp="1"/>
          </p:cNvSpPr>
          <p:nvPr/>
        </p:nvSpPr>
        <p:spPr>
          <a:xfrm xmlns:a="http://schemas.openxmlformats.org/drawingml/2006/main">
            <a:off x="4498848" y="1554480"/>
            <a:ext cx="4169664" cy="877824"/>
          </a:xfrm>
          <a:prstGeom xmlns:a="http://schemas.openxmlformats.org/drawingml/2006/main" prst="roundRect">
            <a:avLst>
              <a:gd name="adj" fmla="val 8333"/>
            </a:avLst>
          </a:prstGeom>
          <a:solidFill xmlns:a="http://schemas.openxmlformats.org/drawingml/2006/main">
            <a:srgbClr val="F2EAF7"/>
          </a:solidFill>
          <a:ln xmlns:a="http://schemas.openxmlformats.org/drawingml/2006/main" w="10160">
            <a:solidFill>
              <a:srgbClr val="D7DEE8"/>
            </a:solidFill>
            <a:prstDash val="solid"/>
          </a:ln>
        </p:spPr>
      </p:sp>
      <p:sp>
        <p:nvSpPr>
          <p:cNvPr id="16" name="Shape 13">
            <a:extLst xmlns:a="http://schemas.openxmlformats.org/drawingml/2006/main">
              <a:ext uri="{FF2B5EF4-FFF2-40B4-BE49-F238E27FC236}">
                <a16:creationId xmlns:a16="http://schemas.microsoft.com/office/drawing/2014/main" id="{C2C69BDA-5E0F-4506-A35A-36B252CB74C5}"/>
              </a:ext>
            </a:extLst>
          </p:cNvPr>
          <p:cNvSpPr>
            <a:spLocks xmlns:a="http://schemas.openxmlformats.org/drawingml/2006/main" noGrp="1"/>
          </p:cNvSpPr>
          <p:nvPr/>
        </p:nvSpPr>
        <p:spPr>
          <a:xfrm xmlns:a="http://schemas.openxmlformats.org/drawingml/2006/main">
            <a:off x="4498848" y="1554480"/>
            <a:ext cx="64008" cy="877824"/>
          </a:xfrm>
          <a:prstGeom xmlns:a="http://schemas.openxmlformats.org/drawingml/2006/main" prst="rect">
            <a:avLst/>
          </a:prstGeom>
          <a:solidFill xmlns:a="http://schemas.openxmlformats.org/drawingml/2006/main">
            <a:srgbClr val="542073"/>
          </a:solidFill>
          <a:ln xmlns:a="http://schemas.openxmlformats.org/drawingml/2006/main" w="12700">
            <a:solidFill>
              <a:srgbClr val="542073">
                <a:alpha val="0"/>
              </a:srgbClr>
            </a:solidFill>
            <a:prstDash val="solid"/>
          </a:ln>
        </p:spPr>
      </p:sp>
      <p:sp>
        <p:nvSpPr>
          <p:cNvPr id="17" name="Text 14">
            <a:extLst xmlns:a="http://schemas.openxmlformats.org/drawingml/2006/main">
              <a:ext uri="{FF2B5EF4-FFF2-40B4-BE49-F238E27FC236}">
                <a16:creationId xmlns:a16="http://schemas.microsoft.com/office/drawing/2014/main" id="{B3784CFF-1B9D-4ECE-8ACA-8B0E5DA08EF7}"/>
              </a:ext>
            </a:extLst>
          </p:cNvPr>
          <p:cNvSpPr>
            <a:spLocks xmlns:a="http://schemas.openxmlformats.org/drawingml/2006/main" noGrp="1"/>
          </p:cNvSpPr>
          <p:nvPr/>
        </p:nvSpPr>
        <p:spPr>
          <a:xfrm xmlns:a="http://schemas.openxmlformats.org/drawingml/2006/main">
            <a:off x="4663440" y="1764792"/>
            <a:ext cx="34747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542073"/>
                </a:solidFill>
                <a:latin typeface="Aptos Display"/>
                <a:ea typeface="Aptos Display"/>
                <a:cs typeface="Aptos Display"/>
              </a:rPr>
              <a:t>1</a:t>
            </a:r>
            <a:endParaRPr sz="1600"/>
          </a:p>
        </p:txBody>
      </p:sp>
      <p:sp>
        <p:nvSpPr>
          <p:cNvPr id="18" name="Text 15">
            <a:extLst xmlns:a="http://schemas.openxmlformats.org/drawingml/2006/main">
              <a:ext uri="{FF2B5EF4-FFF2-40B4-BE49-F238E27FC236}">
                <a16:creationId xmlns:a16="http://schemas.microsoft.com/office/drawing/2014/main" id="{91889E58-19A7-49FB-83F7-6A858B9676D4}"/>
              </a:ext>
            </a:extLst>
          </p:cNvPr>
          <p:cNvSpPr>
            <a:spLocks xmlns:a="http://schemas.openxmlformats.org/drawingml/2006/main" noGrp="1"/>
          </p:cNvSpPr>
          <p:nvPr/>
        </p:nvSpPr>
        <p:spPr>
          <a:xfrm xmlns:a="http://schemas.openxmlformats.org/drawingml/2006/main">
            <a:off x="5138928" y="1700784"/>
            <a:ext cx="32735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778"/>
          </a:bodyPr>
          <a:lstStyle xmlns:a="http://schemas.openxmlformats.org/drawingml/2006/main"/>
          <a:p xmlns:a="http://schemas.openxmlformats.org/drawingml/2006/main">
            <a:pPr marL="0" indent="0">
              <a:buNone/>
            </a:pPr>
            <a:r>
              <a:rPr sz="1350" b="1">
                <a:solidFill>
                  <a:srgbClr val="1C2940"/>
                </a:solidFill>
                <a:latin typeface="Aptos Display"/>
                <a:ea typeface="Aptos Display"/>
                <a:cs typeface="Aptos Display"/>
              </a:rPr>
              <a:t>Authorized category data</a:t>
            </a:r>
            <a:endParaRPr sz="1400"/>
          </a:p>
        </p:txBody>
      </p:sp>
      <p:sp>
        <p:nvSpPr>
          <p:cNvPr id="19" name="Text 16">
            <a:extLst xmlns:a="http://schemas.openxmlformats.org/drawingml/2006/main">
              <a:ext uri="{FF2B5EF4-FFF2-40B4-BE49-F238E27FC236}">
                <a16:creationId xmlns:a16="http://schemas.microsoft.com/office/drawing/2014/main" id="{7DA644AB-D975-4879-8AF5-B798FB7EDD59}"/>
              </a:ext>
            </a:extLst>
          </p:cNvPr>
          <p:cNvSpPr>
            <a:spLocks xmlns:a="http://schemas.openxmlformats.org/drawingml/2006/main" noGrp="1"/>
          </p:cNvSpPr>
          <p:nvPr/>
        </p:nvSpPr>
        <p:spPr>
          <a:xfrm xmlns:a="http://schemas.openxmlformats.org/drawingml/2006/main">
            <a:off x="5138928" y="1993392"/>
            <a:ext cx="327355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2222"/>
          </a:bodyPr>
          <a:lstStyle xmlns:a="http://schemas.openxmlformats.org/drawingml/2006/main"/>
          <a:p xmlns:a="http://schemas.openxmlformats.org/drawingml/2006/main">
            <a:pPr marL="0" indent="0">
              <a:buNone/>
            </a:pPr>
            <a:r>
              <a:rPr sz="1080">
                <a:solidFill>
                  <a:srgbClr val="52627A"/>
                </a:solidFill>
                <a:latin typeface="Aptos"/>
                <a:ea typeface="Aptos"/>
                <a:cs typeface="Aptos"/>
              </a:rPr>
              <a:t>200+ reviewed rows per label, legitimate controls and a same-task external/temporal holdout</a:t>
            </a:r>
            <a:endParaRPr sz="1080"/>
          </a:p>
        </p:txBody>
      </p:sp>
      <p:sp>
        <p:nvSpPr>
          <p:cNvPr id="20" name="Shape 17">
            <a:extLst xmlns:a="http://schemas.openxmlformats.org/drawingml/2006/main">
              <a:ext uri="{FF2B5EF4-FFF2-40B4-BE49-F238E27FC236}">
                <a16:creationId xmlns:a16="http://schemas.microsoft.com/office/drawing/2014/main" id="{5D16AAE9-C53C-42DA-AAFB-4445D1D49DE3}"/>
              </a:ext>
            </a:extLst>
          </p:cNvPr>
          <p:cNvSpPr>
            <a:spLocks xmlns:a="http://schemas.openxmlformats.org/drawingml/2006/main" noGrp="1"/>
          </p:cNvSpPr>
          <p:nvPr/>
        </p:nvSpPr>
        <p:spPr>
          <a:xfrm xmlns:a="http://schemas.openxmlformats.org/drawingml/2006/main">
            <a:off x="4498848" y="2624328"/>
            <a:ext cx="4169664" cy="877824"/>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160">
            <a:solidFill>
              <a:srgbClr val="D7DEE8"/>
            </a:solidFill>
            <a:prstDash val="solid"/>
          </a:ln>
        </p:spPr>
      </p:sp>
      <p:sp>
        <p:nvSpPr>
          <p:cNvPr id="21" name="Shape 18">
            <a:extLst xmlns:a="http://schemas.openxmlformats.org/drawingml/2006/main">
              <a:ext uri="{FF2B5EF4-FFF2-40B4-BE49-F238E27FC236}">
                <a16:creationId xmlns:a16="http://schemas.microsoft.com/office/drawing/2014/main" id="{865D6E06-0BBF-422A-AE76-F447FFB49D0C}"/>
              </a:ext>
            </a:extLst>
          </p:cNvPr>
          <p:cNvSpPr>
            <a:spLocks xmlns:a="http://schemas.openxmlformats.org/drawingml/2006/main" noGrp="1"/>
          </p:cNvSpPr>
          <p:nvPr/>
        </p:nvSpPr>
        <p:spPr>
          <a:xfrm xmlns:a="http://schemas.openxmlformats.org/drawingml/2006/main">
            <a:off x="4498848" y="2624328"/>
            <a:ext cx="64008" cy="877824"/>
          </a:xfrm>
          <a:prstGeom xmlns:a="http://schemas.openxmlformats.org/drawingml/2006/main" prst="rect">
            <a:avLst/>
          </a:prstGeom>
          <a:solidFill xmlns:a="http://schemas.openxmlformats.org/drawingml/2006/main">
            <a:srgbClr val="009CAB"/>
          </a:solidFill>
          <a:ln xmlns:a="http://schemas.openxmlformats.org/drawingml/2006/main" w="12700">
            <a:solidFill>
              <a:srgbClr val="009CAB">
                <a:alpha val="0"/>
              </a:srgbClr>
            </a:solidFill>
            <a:prstDash val="solid"/>
          </a:ln>
        </p:spPr>
      </p:sp>
      <p:sp>
        <p:nvSpPr>
          <p:cNvPr id="22" name="Text 19">
            <a:extLst xmlns:a="http://schemas.openxmlformats.org/drawingml/2006/main">
              <a:ext uri="{FF2B5EF4-FFF2-40B4-BE49-F238E27FC236}">
                <a16:creationId xmlns:a16="http://schemas.microsoft.com/office/drawing/2014/main" id="{ABD11074-497A-494C-9549-D8AA23A6321A}"/>
              </a:ext>
            </a:extLst>
          </p:cNvPr>
          <p:cNvSpPr>
            <a:spLocks xmlns:a="http://schemas.openxmlformats.org/drawingml/2006/main" noGrp="1"/>
          </p:cNvSpPr>
          <p:nvPr/>
        </p:nvSpPr>
        <p:spPr>
          <a:xfrm xmlns:a="http://schemas.openxmlformats.org/drawingml/2006/main">
            <a:off x="4663440" y="2834640"/>
            <a:ext cx="34747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009CAB"/>
                </a:solidFill>
                <a:latin typeface="Aptos Display"/>
                <a:ea typeface="Aptos Display"/>
                <a:cs typeface="Aptos Display"/>
              </a:rPr>
              <a:t>2</a:t>
            </a:r>
            <a:endParaRPr sz="1600"/>
          </a:p>
        </p:txBody>
      </p:sp>
      <p:sp>
        <p:nvSpPr>
          <p:cNvPr id="23" name="Text 20">
            <a:extLst xmlns:a="http://schemas.openxmlformats.org/drawingml/2006/main">
              <a:ext uri="{FF2B5EF4-FFF2-40B4-BE49-F238E27FC236}">
                <a16:creationId xmlns:a16="http://schemas.microsoft.com/office/drawing/2014/main" id="{8A5E8847-ECB4-40AC-A97E-58D312F77E2B}"/>
              </a:ext>
            </a:extLst>
          </p:cNvPr>
          <p:cNvSpPr>
            <a:spLocks xmlns:a="http://schemas.openxmlformats.org/drawingml/2006/main" noGrp="1"/>
          </p:cNvSpPr>
          <p:nvPr/>
        </p:nvSpPr>
        <p:spPr>
          <a:xfrm xmlns:a="http://schemas.openxmlformats.org/drawingml/2006/main">
            <a:off x="5138928" y="2770632"/>
            <a:ext cx="32735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778"/>
          </a:bodyPr>
          <a:lstStyle xmlns:a="http://schemas.openxmlformats.org/drawingml/2006/main"/>
          <a:p xmlns:a="http://schemas.openxmlformats.org/drawingml/2006/main">
            <a:pPr marL="0" indent="0">
              <a:buNone/>
            </a:pPr>
            <a:r>
              <a:rPr sz="1350" b="1">
                <a:solidFill>
                  <a:srgbClr val="1C2940"/>
                </a:solidFill>
                <a:latin typeface="Aptos Display"/>
                <a:ea typeface="Aptos Display"/>
                <a:cs typeface="Aptos Display"/>
              </a:rPr>
              <a:t>Same-task model study</a:t>
            </a:r>
            <a:endParaRPr sz="1400"/>
          </a:p>
        </p:txBody>
      </p:sp>
      <p:sp>
        <p:nvSpPr>
          <p:cNvPr id="24" name="Text 21">
            <a:extLst xmlns:a="http://schemas.openxmlformats.org/drawingml/2006/main">
              <a:ext uri="{FF2B5EF4-FFF2-40B4-BE49-F238E27FC236}">
                <a16:creationId xmlns:a16="http://schemas.microsoft.com/office/drawing/2014/main" id="{13FDE38D-D4EA-44E2-84E6-90181E832B81}"/>
              </a:ext>
            </a:extLst>
          </p:cNvPr>
          <p:cNvSpPr>
            <a:spLocks xmlns:a="http://schemas.openxmlformats.org/drawingml/2006/main" noGrp="1"/>
          </p:cNvSpPr>
          <p:nvPr/>
        </p:nvSpPr>
        <p:spPr>
          <a:xfrm xmlns:a="http://schemas.openxmlformats.org/drawingml/2006/main">
            <a:off x="5138928" y="3063240"/>
            <a:ext cx="327355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2222"/>
          </a:bodyPr>
          <a:lstStyle xmlns:a="http://schemas.openxmlformats.org/drawingml/2006/main"/>
          <a:p xmlns:a="http://schemas.openxmlformats.org/drawingml/2006/main">
            <a:pPr marL="0" indent="0">
              <a:buNone/>
            </a:pPr>
            <a:r>
              <a:rPr sz="1080">
                <a:solidFill>
                  <a:srgbClr val="52627A"/>
                </a:solidFill>
                <a:latin typeface="Aptos"/>
                <a:ea typeface="Aptos"/>
                <a:cs typeface="Aptos"/>
              </a:rPr>
              <a:t>Same labels, split and thresholds for character TF-IDF versus a Hinglish transformer</a:t>
            </a:r>
            <a:endParaRPr sz="1080"/>
          </a:p>
        </p:txBody>
      </p:sp>
      <p:sp>
        <p:nvSpPr>
          <p:cNvPr id="25" name="Shape 22">
            <a:extLst xmlns:a="http://schemas.openxmlformats.org/drawingml/2006/main">
              <a:ext uri="{FF2B5EF4-FFF2-40B4-BE49-F238E27FC236}">
                <a16:creationId xmlns:a16="http://schemas.microsoft.com/office/drawing/2014/main" id="{4FF67097-8941-4BAC-8BEA-9F8BB375E650}"/>
              </a:ext>
            </a:extLst>
          </p:cNvPr>
          <p:cNvSpPr>
            <a:spLocks xmlns:a="http://schemas.openxmlformats.org/drawingml/2006/main" noGrp="1"/>
          </p:cNvSpPr>
          <p:nvPr/>
        </p:nvSpPr>
        <p:spPr>
          <a:xfrm xmlns:a="http://schemas.openxmlformats.org/drawingml/2006/main">
            <a:off x="4498848" y="3694176"/>
            <a:ext cx="4169664" cy="877824"/>
          </a:xfrm>
          <a:prstGeom xmlns:a="http://schemas.openxmlformats.org/drawingml/2006/main" prst="roundRect">
            <a:avLst>
              <a:gd name="adj" fmla="val 8333"/>
            </a:avLst>
          </a:prstGeom>
          <a:solidFill xmlns:a="http://schemas.openxmlformats.org/drawingml/2006/main">
            <a:srgbClr val="F2EAF7"/>
          </a:solidFill>
          <a:ln xmlns:a="http://schemas.openxmlformats.org/drawingml/2006/main" w="10160">
            <a:solidFill>
              <a:srgbClr val="D7DEE8"/>
            </a:solidFill>
            <a:prstDash val="solid"/>
          </a:ln>
        </p:spPr>
      </p:sp>
      <p:sp>
        <p:nvSpPr>
          <p:cNvPr id="26" name="Shape 23">
            <a:extLst xmlns:a="http://schemas.openxmlformats.org/drawingml/2006/main">
              <a:ext uri="{FF2B5EF4-FFF2-40B4-BE49-F238E27FC236}">
                <a16:creationId xmlns:a16="http://schemas.microsoft.com/office/drawing/2014/main" id="{91E1453B-45A7-40CE-82E5-E0AFC6D9ACB1}"/>
              </a:ext>
            </a:extLst>
          </p:cNvPr>
          <p:cNvSpPr>
            <a:spLocks xmlns:a="http://schemas.openxmlformats.org/drawingml/2006/main" noGrp="1"/>
          </p:cNvSpPr>
          <p:nvPr/>
        </p:nvSpPr>
        <p:spPr>
          <a:xfrm xmlns:a="http://schemas.openxmlformats.org/drawingml/2006/main">
            <a:off x="4498848" y="3694176"/>
            <a:ext cx="64008" cy="877824"/>
          </a:xfrm>
          <a:prstGeom xmlns:a="http://schemas.openxmlformats.org/drawingml/2006/main" prst="rect">
            <a:avLst/>
          </a:prstGeom>
          <a:solidFill xmlns:a="http://schemas.openxmlformats.org/drawingml/2006/main">
            <a:srgbClr val="E8AD12"/>
          </a:solidFill>
          <a:ln xmlns:a="http://schemas.openxmlformats.org/drawingml/2006/main" w="12700">
            <a:solidFill>
              <a:srgbClr val="E8AD12">
                <a:alpha val="0"/>
              </a:srgbClr>
            </a:solidFill>
            <a:prstDash val="solid"/>
          </a:ln>
        </p:spPr>
      </p:sp>
      <p:sp>
        <p:nvSpPr>
          <p:cNvPr id="27" name="Text 24">
            <a:extLst xmlns:a="http://schemas.openxmlformats.org/drawingml/2006/main">
              <a:ext uri="{FF2B5EF4-FFF2-40B4-BE49-F238E27FC236}">
                <a16:creationId xmlns:a16="http://schemas.microsoft.com/office/drawing/2014/main" id="{1235BF14-276F-46A3-9FE5-6095B7190767}"/>
              </a:ext>
            </a:extLst>
          </p:cNvPr>
          <p:cNvSpPr>
            <a:spLocks xmlns:a="http://schemas.openxmlformats.org/drawingml/2006/main" noGrp="1"/>
          </p:cNvSpPr>
          <p:nvPr/>
        </p:nvSpPr>
        <p:spPr>
          <a:xfrm xmlns:a="http://schemas.openxmlformats.org/drawingml/2006/main">
            <a:off x="4663440" y="3904488"/>
            <a:ext cx="34747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E8AD12"/>
                </a:solidFill>
                <a:latin typeface="Aptos Display"/>
                <a:ea typeface="Aptos Display"/>
                <a:cs typeface="Aptos Display"/>
              </a:rPr>
              <a:t>3</a:t>
            </a:r>
            <a:endParaRPr sz="1600"/>
          </a:p>
        </p:txBody>
      </p:sp>
      <p:sp>
        <p:nvSpPr>
          <p:cNvPr id="28" name="Text 25">
            <a:extLst xmlns:a="http://schemas.openxmlformats.org/drawingml/2006/main">
              <a:ext uri="{FF2B5EF4-FFF2-40B4-BE49-F238E27FC236}">
                <a16:creationId xmlns:a16="http://schemas.microsoft.com/office/drawing/2014/main" id="{FF89C706-198F-4680-8404-36FA495E64A0}"/>
              </a:ext>
            </a:extLst>
          </p:cNvPr>
          <p:cNvSpPr>
            <a:spLocks xmlns:a="http://schemas.openxmlformats.org/drawingml/2006/main" noGrp="1"/>
          </p:cNvSpPr>
          <p:nvPr/>
        </p:nvSpPr>
        <p:spPr>
          <a:xfrm xmlns:a="http://schemas.openxmlformats.org/drawingml/2006/main">
            <a:off x="5138928" y="3840480"/>
            <a:ext cx="32735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778"/>
          </a:bodyPr>
          <a:lstStyle xmlns:a="http://schemas.openxmlformats.org/drawingml/2006/main"/>
          <a:p xmlns:a="http://schemas.openxmlformats.org/drawingml/2006/main">
            <a:pPr marL="0" indent="0">
              <a:buNone/>
            </a:pPr>
            <a:r>
              <a:rPr sz="1350" b="1">
                <a:solidFill>
                  <a:srgbClr val="1C2940"/>
                </a:solidFill>
                <a:latin typeface="Aptos Display"/>
                <a:ea typeface="Aptos Display"/>
                <a:cs typeface="Aptos Display"/>
              </a:rPr>
              <a:t>Field subsystem validation</a:t>
            </a:r>
            <a:endParaRPr sz="1400"/>
          </a:p>
        </p:txBody>
      </p:sp>
      <p:sp>
        <p:nvSpPr>
          <p:cNvPr id="29" name="Text 26">
            <a:extLst xmlns:a="http://schemas.openxmlformats.org/drawingml/2006/main">
              <a:ext uri="{FF2B5EF4-FFF2-40B4-BE49-F238E27FC236}">
                <a16:creationId xmlns:a16="http://schemas.microsoft.com/office/drawing/2014/main" id="{E0B8B67C-86A6-4958-A7E4-532F30CA23A4}"/>
              </a:ext>
            </a:extLst>
          </p:cNvPr>
          <p:cNvSpPr>
            <a:spLocks xmlns:a="http://schemas.openxmlformats.org/drawingml/2006/main" noGrp="1"/>
          </p:cNvSpPr>
          <p:nvPr/>
        </p:nvSpPr>
        <p:spPr>
          <a:xfrm xmlns:a="http://schemas.openxmlformats.org/drawingml/2006/main">
            <a:off x="5138928" y="4133088"/>
            <a:ext cx="327355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2222"/>
          </a:bodyPr>
          <a:lstStyle xmlns:a="http://schemas.openxmlformats.org/drawingml/2006/main"/>
          <a:p xmlns:a="http://schemas.openxmlformats.org/drawingml/2006/main">
            <a:pPr marL="0" indent="0">
              <a:buNone/>
            </a:pPr>
            <a:r>
              <a:rPr sz="1080">
                <a:solidFill>
                  <a:srgbClr val="52627A"/>
                </a:solidFill>
                <a:latin typeface="Aptos"/>
                <a:ea typeface="Aptos"/>
                <a:cs typeface="Aptos"/>
              </a:rPr>
              <a:t>Natural screenshots, blinded entity/URL/graph labels and a human complaint-draft rubric</a:t>
            </a:r>
            <a:endParaRPr sz="1080"/>
          </a:p>
        </p:txBody>
      </p:sp>
      <p:sp>
        <p:nvSpPr>
          <p:cNvPr id="30" name="Shape 27">
            <a:extLst xmlns:a="http://schemas.openxmlformats.org/drawingml/2006/main">
              <a:ext uri="{FF2B5EF4-FFF2-40B4-BE49-F238E27FC236}">
                <a16:creationId xmlns:a16="http://schemas.microsoft.com/office/drawing/2014/main" id="{0A39BF13-6747-42DE-AD99-8FCF276571C9}"/>
              </a:ext>
            </a:extLst>
          </p:cNvPr>
          <p:cNvSpPr>
            <a:spLocks xmlns:a="http://schemas.openxmlformats.org/drawingml/2006/main" noGrp="1"/>
          </p:cNvSpPr>
          <p:nvPr/>
        </p:nvSpPr>
        <p:spPr>
          <a:xfrm xmlns:a="http://schemas.openxmlformats.org/drawingml/2006/main">
            <a:off x="4498848" y="4764024"/>
            <a:ext cx="4169664" cy="877824"/>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160">
            <a:solidFill>
              <a:srgbClr val="D7DEE8"/>
            </a:solidFill>
            <a:prstDash val="solid"/>
          </a:ln>
        </p:spPr>
      </p:sp>
      <p:sp>
        <p:nvSpPr>
          <p:cNvPr id="31" name="Shape 28">
            <a:extLst xmlns:a="http://schemas.openxmlformats.org/drawingml/2006/main">
              <a:ext uri="{FF2B5EF4-FFF2-40B4-BE49-F238E27FC236}">
                <a16:creationId xmlns:a16="http://schemas.microsoft.com/office/drawing/2014/main" id="{37CE6097-F50A-47CC-A63A-61B4F0F0049D}"/>
              </a:ext>
            </a:extLst>
          </p:cNvPr>
          <p:cNvSpPr>
            <a:spLocks xmlns:a="http://schemas.openxmlformats.org/drawingml/2006/main" noGrp="1"/>
          </p:cNvSpPr>
          <p:nvPr/>
        </p:nvSpPr>
        <p:spPr>
          <a:xfrm xmlns:a="http://schemas.openxmlformats.org/drawingml/2006/main">
            <a:off x="4498848" y="4764024"/>
            <a:ext cx="64008" cy="877824"/>
          </a:xfrm>
          <a:prstGeom xmlns:a="http://schemas.openxmlformats.org/drawingml/2006/main" prst="rect">
            <a:avLst/>
          </a:prstGeom>
          <a:solidFill xmlns:a="http://schemas.openxmlformats.org/drawingml/2006/main">
            <a:srgbClr val="23805D"/>
          </a:solidFill>
          <a:ln xmlns:a="http://schemas.openxmlformats.org/drawingml/2006/main" w="12700">
            <a:solidFill>
              <a:srgbClr val="23805D">
                <a:alpha val="0"/>
              </a:srgbClr>
            </a:solidFill>
            <a:prstDash val="solid"/>
          </a:ln>
        </p:spPr>
      </p:sp>
      <p:sp>
        <p:nvSpPr>
          <p:cNvPr id="32" name="Text 29">
            <a:extLst xmlns:a="http://schemas.openxmlformats.org/drawingml/2006/main">
              <a:ext uri="{FF2B5EF4-FFF2-40B4-BE49-F238E27FC236}">
                <a16:creationId xmlns:a16="http://schemas.microsoft.com/office/drawing/2014/main" id="{D31F92F2-D963-419F-B961-A0576F5717CD}"/>
              </a:ext>
            </a:extLst>
          </p:cNvPr>
          <p:cNvSpPr>
            <a:spLocks xmlns:a="http://schemas.openxmlformats.org/drawingml/2006/main" noGrp="1"/>
          </p:cNvSpPr>
          <p:nvPr/>
        </p:nvSpPr>
        <p:spPr>
          <a:xfrm xmlns:a="http://schemas.openxmlformats.org/drawingml/2006/main">
            <a:off x="4663440" y="4974336"/>
            <a:ext cx="34747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23805D"/>
                </a:solidFill>
                <a:latin typeface="Aptos Display"/>
                <a:ea typeface="Aptos Display"/>
                <a:cs typeface="Aptos Display"/>
              </a:rPr>
              <a:t>4</a:t>
            </a:r>
            <a:endParaRPr sz="1600"/>
          </a:p>
        </p:txBody>
      </p:sp>
      <p:sp>
        <p:nvSpPr>
          <p:cNvPr id="33" name="Text 30">
            <a:extLst xmlns:a="http://schemas.openxmlformats.org/drawingml/2006/main">
              <a:ext uri="{FF2B5EF4-FFF2-40B4-BE49-F238E27FC236}">
                <a16:creationId xmlns:a16="http://schemas.microsoft.com/office/drawing/2014/main" id="{C6C3BA40-132B-4794-ACA2-8F957BC2616C}"/>
              </a:ext>
            </a:extLst>
          </p:cNvPr>
          <p:cNvSpPr>
            <a:spLocks xmlns:a="http://schemas.openxmlformats.org/drawingml/2006/main" noGrp="1"/>
          </p:cNvSpPr>
          <p:nvPr/>
        </p:nvSpPr>
        <p:spPr>
          <a:xfrm xmlns:a="http://schemas.openxmlformats.org/drawingml/2006/main">
            <a:off x="5138928" y="4910328"/>
            <a:ext cx="32735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778"/>
          </a:bodyPr>
          <a:lstStyle xmlns:a="http://schemas.openxmlformats.org/drawingml/2006/main"/>
          <a:p xmlns:a="http://schemas.openxmlformats.org/drawingml/2006/main">
            <a:pPr marL="0" indent="0">
              <a:buNone/>
            </a:pPr>
            <a:r>
              <a:rPr sz="1350" b="1">
                <a:solidFill>
                  <a:srgbClr val="1C2940"/>
                </a:solidFill>
                <a:latin typeface="Aptos Display"/>
                <a:ea typeface="Aptos Display"/>
                <a:cs typeface="Aptos Display"/>
              </a:rPr>
              <a:t>User and operations study</a:t>
            </a:r>
            <a:endParaRPr sz="1400"/>
          </a:p>
        </p:txBody>
      </p:sp>
      <p:sp>
        <p:nvSpPr>
          <p:cNvPr id="34" name="Text 31">
            <a:extLst xmlns:a="http://schemas.openxmlformats.org/drawingml/2006/main">
              <a:ext uri="{FF2B5EF4-FFF2-40B4-BE49-F238E27FC236}">
                <a16:creationId xmlns:a16="http://schemas.microsoft.com/office/drawing/2014/main" id="{FD69E9A0-1AE5-475B-8967-169354937BA3}"/>
              </a:ext>
            </a:extLst>
          </p:cNvPr>
          <p:cNvSpPr>
            <a:spLocks xmlns:a="http://schemas.openxmlformats.org/drawingml/2006/main" noGrp="1"/>
          </p:cNvSpPr>
          <p:nvPr/>
        </p:nvSpPr>
        <p:spPr>
          <a:xfrm xmlns:a="http://schemas.openxmlformats.org/drawingml/2006/main">
            <a:off x="5138928" y="5202936"/>
            <a:ext cx="327355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72222"/>
          </a:bodyPr>
          <a:lstStyle xmlns:a="http://schemas.openxmlformats.org/drawingml/2006/main"/>
          <a:p xmlns:a="http://schemas.openxmlformats.org/drawingml/2006/main">
            <a:pPr marL="0" indent="0">
              <a:buNone/>
            </a:pPr>
            <a:r>
              <a:rPr sz="1080">
                <a:solidFill>
                  <a:srgbClr val="52627A"/>
                </a:solidFill>
                <a:latin typeface="Aptos"/>
                <a:ea typeface="Aptos"/>
                <a:cs typeface="Aptos"/>
              </a:rPr>
              <a:t>Reviewer effectiveness, latency/RAM, access control, durable storage and drift monitoring</a:t>
            </a:r>
            <a:endParaRPr sz="1080"/>
          </a:p>
        </p:txBody>
      </p:sp>
      <p:sp>
        <p:nvSpPr>
          <p:cNvPr id="35" name="Shape 32">
            <a:extLst xmlns:a="http://schemas.openxmlformats.org/drawingml/2006/main">
              <a:ext uri="{FF2B5EF4-FFF2-40B4-BE49-F238E27FC236}">
                <a16:creationId xmlns:a16="http://schemas.microsoft.com/office/drawing/2014/main" id="{5819CE04-D0DA-4420-B565-A538F9134696}"/>
              </a:ext>
            </a:extLst>
          </p:cNvPr>
          <p:cNvSpPr>
            <a:spLocks xmlns:a="http://schemas.openxmlformats.org/drawingml/2006/main" noGrp="1"/>
          </p:cNvSpPr>
          <p:nvPr/>
        </p:nvSpPr>
        <p:spPr>
          <a:xfrm xmlns:a="http://schemas.openxmlformats.org/drawingml/2006/main">
            <a:off x="4498848" y="5897880"/>
            <a:ext cx="4169664" cy="429768"/>
          </a:xfrm>
          <a:prstGeom xmlns:a="http://schemas.openxmlformats.org/drawingml/2006/main" prst="roundRect">
            <a:avLst>
              <a:gd name="adj" fmla="val 17021"/>
            </a:avLst>
          </a:prstGeom>
          <a:solidFill xmlns:a="http://schemas.openxmlformats.org/drawingml/2006/main">
            <a:srgbClr val="E8F7F8"/>
          </a:solidFill>
          <a:ln xmlns:a="http://schemas.openxmlformats.org/drawingml/2006/main" w="10160">
            <a:solidFill>
              <a:srgbClr val="B7E3E6"/>
            </a:solidFill>
            <a:prstDash val="solid"/>
          </a:ln>
        </p:spPr>
      </p:sp>
      <p:sp>
        <p:nvSpPr>
          <p:cNvPr id="36" name="Text 33">
            <a:extLst xmlns:a="http://schemas.openxmlformats.org/drawingml/2006/main">
              <a:ext uri="{FF2B5EF4-FFF2-40B4-BE49-F238E27FC236}">
                <a16:creationId xmlns:a16="http://schemas.microsoft.com/office/drawing/2014/main" id="{0ED06A4E-911D-48B5-A053-8095C1D3B45E}"/>
              </a:ext>
            </a:extLst>
          </p:cNvPr>
          <p:cNvSpPr>
            <a:spLocks xmlns:a="http://schemas.openxmlformats.org/drawingml/2006/main" noGrp="1"/>
          </p:cNvSpPr>
          <p:nvPr/>
        </p:nvSpPr>
        <p:spPr>
          <a:xfrm xmlns:a="http://schemas.openxmlformats.org/drawingml/2006/main">
            <a:off x="4718304" y="6016752"/>
            <a:ext cx="3730752"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55517"/>
          </a:bodyPr>
          <a:lstStyle xmlns:a="http://schemas.openxmlformats.org/drawingml/2006/main"/>
          <a:p xmlns:a="http://schemas.openxmlformats.org/drawingml/2006/main">
            <a:pPr marL="0" indent="0">
              <a:buNone/>
            </a:pPr>
            <a:r>
              <a:rPr sz="1110" b="1">
                <a:solidFill>
                  <a:srgbClr val="009CAB"/>
                </a:solidFill>
                <a:latin typeface="Aptos"/>
                <a:ea typeface="Aptos"/>
                <a:cs typeface="Aptos"/>
              </a:rPr>
              <a:t>Final takeaway: masked, inspectable evidence supports the reviewer; the human keeps the decision.</a:t>
            </a:r>
            <a:endParaRPr sz="1110"/>
          </a:p>
        </p:txBody>
      </p:sp>
    </p:spTree>
    <p:extLst>
      <p:ext uri="{BB962C8B-B14F-4D97-AF65-F5344CB8AC3E}">
        <p14:creationId xmlns:p14="http://schemas.microsoft.com/office/powerpoint/2010/main" val="5236452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2026-08-12T19:07:09.4230000Z</dcterms:created>
  <dcterms:modified xsi:type="dcterms:W3CDTF">2026-08-12T19:07:09.4230000Z</dcterms:modified>
</coreProperties>
</file>