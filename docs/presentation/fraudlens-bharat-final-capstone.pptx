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2c2de6e7ac347e8" /><Relationship Type="http://schemas.openxmlformats.org/officeDocument/2006/relationships/extended-properties" Target="/docProps/app.xml" Id="Rd2feabeeba31481b" /><Relationship Type="http://schemas.openxmlformats.org/officeDocument/2006/relationships/officeDocument" Target="/ppt/presentation.xml" Id="Rf1dcfd65066f415f" /></Relationships>
</file>

<file path=ppt/presentation.xml><?xml version="1.0" encoding="utf-8"?>
<p:presentation xmlns:p="http://schemas.openxmlformats.org/presentationml/2006/main">
  <p:sldMasterIdLst>
    <p:sldMasterId xmlns:r="http://schemas.openxmlformats.org/officeDocument/2006/relationships" id="2147483648" r:id="Ra32f0e9cafcd4586"/>
  </p:sldMasterIdLst>
  <p:notesMasterIdLst>
    <p:notesMasterId xmlns:r="http://schemas.openxmlformats.org/officeDocument/2006/relationships" r:id="R19ca80c566214616"/>
  </p:notesMasterIdLst>
  <p:sldIdLst>
    <p:sldId xmlns:r="http://schemas.openxmlformats.org/officeDocument/2006/relationships" id="256" r:id="R196b644e4f244359"/>
    <p:sldId xmlns:r="http://schemas.openxmlformats.org/officeDocument/2006/relationships" id="257" r:id="Re4300098d8a44951"/>
    <p:sldId xmlns:r="http://schemas.openxmlformats.org/officeDocument/2006/relationships" id="258" r:id="Rbd9d2c1c03214f02"/>
    <p:sldId xmlns:r="http://schemas.openxmlformats.org/officeDocument/2006/relationships" id="259" r:id="R1cf855161c0d4c19"/>
    <p:sldId xmlns:r="http://schemas.openxmlformats.org/officeDocument/2006/relationships" id="260" r:id="R47bfd611bb8241f1"/>
    <p:sldId xmlns:r="http://schemas.openxmlformats.org/officeDocument/2006/relationships" id="261" r:id="Re83914e5614d44f4"/>
    <p:sldId xmlns:r="http://schemas.openxmlformats.org/officeDocument/2006/relationships" id="262" r:id="R1bd1b6cde0b34b78"/>
    <p:sldId xmlns:r="http://schemas.openxmlformats.org/officeDocument/2006/relationships" id="263" r:id="Rdca02786d584408c"/>
    <p:sldId xmlns:r="http://schemas.openxmlformats.org/officeDocument/2006/relationships" id="264" r:id="R0f54ef61cfe74f53"/>
    <p:sldId xmlns:r="http://schemas.openxmlformats.org/officeDocument/2006/relationships" id="265" r:id="R88ce671d9b7b49d3"/>
  </p:sldIdLst>
  <p:sldSz cx="9144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4e2395ad11ba44fd" /><Relationship Type="http://schemas.openxmlformats.org/officeDocument/2006/relationships/slideMaster" Target="/ppt/slideMasters/slideMaster1.xml" Id="Ra32f0e9cafcd4586" /><Relationship Type="http://schemas.openxmlformats.org/officeDocument/2006/relationships/notesMaster" Target="/ppt/notesMasters/notesMaster1.xml" Id="R19ca80c566214616" /><Relationship Type="http://schemas.openxmlformats.org/officeDocument/2006/relationships/presProps" Target="/ppt/presProps.xml" Id="R2cef6be408994aec" /><Relationship Type="http://schemas.openxmlformats.org/officeDocument/2006/relationships/viewProps" Target="/ppt/viewProps.xml" Id="R4a7aed6af6c04c38" /><Relationship Type="http://schemas.openxmlformats.org/officeDocument/2006/relationships/tableStyles" Target="/ppt/tableStyles.xml" Id="R3e47b2821c90479c" /><Relationship Type="http://schemas.openxmlformats.org/officeDocument/2006/relationships/slide" Target="/ppt/slides/slide1.xml" Id="R196b644e4f244359" /><Relationship Type="http://schemas.openxmlformats.org/officeDocument/2006/relationships/slide" Target="/ppt/slides/slide2.xml" Id="Re4300098d8a44951" /><Relationship Type="http://schemas.openxmlformats.org/officeDocument/2006/relationships/slide" Target="/ppt/slides/slide3.xml" Id="Rbd9d2c1c03214f02" /><Relationship Type="http://schemas.openxmlformats.org/officeDocument/2006/relationships/slide" Target="/ppt/slides/slide4.xml" Id="R1cf855161c0d4c19" /><Relationship Type="http://schemas.openxmlformats.org/officeDocument/2006/relationships/slide" Target="/ppt/slides/slide5.xml" Id="R47bfd611bb8241f1" /><Relationship Type="http://schemas.openxmlformats.org/officeDocument/2006/relationships/slide" Target="/ppt/slides/slide6.xml" Id="Re83914e5614d44f4" /><Relationship Type="http://schemas.openxmlformats.org/officeDocument/2006/relationships/slide" Target="/ppt/slides/slide7.xml" Id="R1bd1b6cde0b34b78" /><Relationship Type="http://schemas.openxmlformats.org/officeDocument/2006/relationships/slide" Target="/ppt/slides/slide8.xml" Id="Rdca02786d584408c" /><Relationship Type="http://schemas.openxmlformats.org/officeDocument/2006/relationships/slide" Target="/ppt/slides/slide9.xml" Id="R0f54ef61cfe74f53" /><Relationship Type="http://schemas.openxmlformats.org/officeDocument/2006/relationships/slide" Target="/ppt/slides/slide10.xml" Id="R88ce671d9b7b49d3"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ff27d34ca0d4a7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apstone Meeting">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3ddaed9b25d471c" /><Relationship Type="http://schemas.openxmlformats.org/officeDocument/2006/relationships/notesMaster" Target="/ppt/notesMasters/notesMaster1.xml" Id="Rb9da54b4049b4c5f" /></Relationships>
</file>

<file path=ppt/notesSlides/_rels/notesSlide2.xml.rels>&#65279;<?xml version="1.0" encoding="utf-8"?><Relationships xmlns="http://schemas.openxmlformats.org/package/2006/relationships"><Relationship Type="http://schemas.openxmlformats.org/officeDocument/2006/relationships/slide" Target="/ppt/slides/slide2.xml" Id="R4a776745b41f4882" /><Relationship Type="http://schemas.openxmlformats.org/officeDocument/2006/relationships/notesMaster" Target="/ppt/notesMasters/notesMaster1.xml" Id="R9f3cc8dafadb4391" /></Relationships>
</file>

<file path=ppt/notesSlides/_rels/notesSlide3.xml.rels>&#65279;<?xml version="1.0" encoding="utf-8"?><Relationships xmlns="http://schemas.openxmlformats.org/package/2006/relationships"><Relationship Type="http://schemas.openxmlformats.org/officeDocument/2006/relationships/slide" Target="/ppt/slides/slide3.xml" Id="Ra9a93c8175514249" /><Relationship Type="http://schemas.openxmlformats.org/officeDocument/2006/relationships/notesMaster" Target="/ppt/notesMasters/notesMaster1.xml" Id="Rb24c190c05c04d39" /></Relationships>
</file>

<file path=ppt/notesSlides/_rels/notesSlide4.xml.rels>&#65279;<?xml version="1.0" encoding="utf-8"?><Relationships xmlns="http://schemas.openxmlformats.org/package/2006/relationships"><Relationship Type="http://schemas.openxmlformats.org/officeDocument/2006/relationships/slide" Target="/ppt/slides/slide4.xml" Id="R67b8b7762be943aa" /><Relationship Type="http://schemas.openxmlformats.org/officeDocument/2006/relationships/notesMaster" Target="/ppt/notesMasters/notesMaster1.xml" Id="R30d46a2ce370415f" /></Relationships>
</file>

<file path=ppt/notesSlides/_rels/notesSlide5.xml.rels>&#65279;<?xml version="1.0" encoding="utf-8"?><Relationships xmlns="http://schemas.openxmlformats.org/package/2006/relationships"><Relationship Type="http://schemas.openxmlformats.org/officeDocument/2006/relationships/slide" Target="/ppt/slides/slide5.xml" Id="Rd07883b15b68458a" /><Relationship Type="http://schemas.openxmlformats.org/officeDocument/2006/relationships/notesMaster" Target="/ppt/notesMasters/notesMaster1.xml" Id="Rf8ec62ad368f437e" /></Relationships>
</file>

<file path=ppt/notesSlides/_rels/notesSlide6.xml.rels>&#65279;<?xml version="1.0" encoding="utf-8"?><Relationships xmlns="http://schemas.openxmlformats.org/package/2006/relationships"><Relationship Type="http://schemas.openxmlformats.org/officeDocument/2006/relationships/slide" Target="/ppt/slides/slide6.xml" Id="R8ab2c5d0ab574a51" /><Relationship Type="http://schemas.openxmlformats.org/officeDocument/2006/relationships/notesMaster" Target="/ppt/notesMasters/notesMaster1.xml" Id="R59dd4ab612a24e8f" /></Relationships>
</file>

<file path=ppt/notesSlides/_rels/notesSlide7.xml.rels>&#65279;<?xml version="1.0" encoding="utf-8"?><Relationships xmlns="http://schemas.openxmlformats.org/package/2006/relationships"><Relationship Type="http://schemas.openxmlformats.org/officeDocument/2006/relationships/slide" Target="/ppt/slides/slide7.xml" Id="Rf3060ef02173471a" /><Relationship Type="http://schemas.openxmlformats.org/officeDocument/2006/relationships/notesMaster" Target="/ppt/notesMasters/notesMaster1.xml" Id="R6a83674103e3423b" /></Relationships>
</file>

<file path=ppt/notesSlides/_rels/notesSlide8.xml.rels>&#65279;<?xml version="1.0" encoding="utf-8"?><Relationships xmlns="http://schemas.openxmlformats.org/package/2006/relationships"><Relationship Type="http://schemas.openxmlformats.org/officeDocument/2006/relationships/slide" Target="/ppt/slides/slide8.xml" Id="Rd4c1abcc33f04c21" /><Relationship Type="http://schemas.openxmlformats.org/officeDocument/2006/relationships/notesMaster" Target="/ppt/notesMasters/notesMaster1.xml" Id="R0cb724a67e234823" /></Relationships>
</file>

<file path=ppt/notesSlides/_rels/notesSlide9.xml.rels>&#65279;<?xml version="1.0" encoding="utf-8"?><Relationships xmlns="http://schemas.openxmlformats.org/package/2006/relationships"><Relationship Type="http://schemas.openxmlformats.org/officeDocument/2006/relationships/slide" Target="/ppt/slides/slide9.xml" Id="R10cb1769b7544818" /><Relationship Type="http://schemas.openxmlformats.org/officeDocument/2006/relationships/notesMaster" Target="/ppt/notesMasters/notesMaster1.xml" Id="Ra28dd986421141e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72f930d325d4113" /><Relationship Type="http://schemas.openxmlformats.org/officeDocument/2006/relationships/notesMaster" Target="/ppt/notesMasters/notesMaster1.xml" Id="R5f7e36c667fa40a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 four separate tracks. The original eight-class synthetic benchmark remains evidence about category classification only. The external UCI SMS Spam Collection uses 5,574 public messages, normalized-text grouping to prevent duplicate leakage, and 858 held-out messages. Calibrated character TF-IDF reaches 98.60 percent accuracy, 0.9682 Macro-F1, 92.73 percent spam recall and ECE 0.0071. The character-minus-word Macro-F1 interval crosses zero, so the result is not a statistically decisive superiority claim. The deployed eight-class runtime is separately stress-tested on 748 ham messages: 70.99 percent abstention and zero medium/high escalation. Controlled subsystem benchmarks measure entity extraction, URL rules, masked graph linking, real Tesseract OCR and complaint templates. These tracks must never be combined into one overall accuracy.</a:t>
            </a:r>
          </a:p>
          <a:p xmlns:a="http://schemas.openxmlformats.org/drawingml/2006/main">
            <a:r>
              <a:t/>
            </a:r>
          </a:p>
          <a:p xmlns:a="http://schemas.openxmlformats.org/drawingml/2006/main">
            <a:r>
              <a:t>[Sources]</a:t>
            </a:r>
          </a:p>
          <a:p xmlns:a="http://schemas.openxmlformats.org/drawingml/2006/main">
            <a:r>
              <a:t>- outputs/evaluation/external_sms_summary.json and subsystem_summary.json.</a:t>
            </a:r>
          </a:p>
          <a:p xmlns:a="http://schemas.openxmlformats.org/drawingml/2006/main">
            <a:r>
              <a:t>- outputs/research/classification_summary.csv; models/metrics.json.</a:t>
            </a:r>
          </a:p>
          <a:p xmlns:a="http://schemas.openxmlformats.org/drawingml/2006/main">
            <a:r>
              <a:t>- UCI SMS Spam Collection [16], DOI 10.24432/C5CC84.</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what the hybrid evaluation fixed and what it did not. The project now has public external binary validation, duplicate-safe splitting, uncertainty intervals and measured subsystem fixtures. However, the internal eight-class dataset is still 64 synthetic fraud-only rows with no legitimate class. The UCI dataset addresses binary spam versus ham, not Indian fraud-category generalization. OCR images and entity, URL, graph and complaint cases are controlled synthetic fixtures; complaint checks are deterministic and not human ratings. A production claim still requires authorized same-label data, benign controls, temporal and source holdouts, naturally noisy screenshots, blinded annotation, inter-rater agreement, user studies and operational monitoring.</a:t>
            </a:r>
          </a:p>
          <a:p xmlns:a="http://schemas.openxmlformats.org/drawingml/2006/main">
            <a:r>
              <a:t/>
            </a:r>
          </a:p>
          <a:p xmlns:a="http://schemas.openxmlformats.org/drawingml/2006/main">
            <a:r>
              <a:t>[Sources]</a:t>
            </a:r>
          </a:p>
          <a:p xmlns:a="http://schemas.openxmlformats.org/drawingml/2006/main">
            <a:r>
              <a:t>- docs/phase2_research_report.md §§14, 17.</a:t>
            </a:r>
          </a:p>
          <a:p xmlns:a="http://schemas.openxmlformats.org/drawingml/2006/main">
            <a:r>
              <a:t>- docs/evaluation_plan.md; outputs/evaluation/*.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Close on the contribution: FraudLens Bharat is one inspectable path from pasted text or screenshot to an eight-class prediction or abstention, extracted and masked evidence, URL and risk reasons, an editable complaint draft and optional repeated-entity context. The final evaluation adds duplicate-safe external binary validation, Wilson and bootstrap uncertainty, held-out ham stress and five measured subsystem tracks. The evidence is reproducible and aggregate-only. The next work is not another interface feature: it is authorized same-label data, natural screenshot and identifier annotation, blinded human draft evaluation, user effectiveness, latency and memory measurement, drift monitoring and stronger deployment controls. The final verdict and complaint submission remain human decisions.</a:t>
            </a:r>
          </a:p>
          <a:p xmlns:a="http://schemas.openxmlformats.org/drawingml/2006/main">
            <a:r>
              <a:t/>
            </a:r>
          </a:p>
          <a:p xmlns:a="http://schemas.openxmlformats.org/drawingml/2006/main">
            <a:r>
              <a:t>[Sources]</a:t>
            </a:r>
          </a:p>
          <a:p xmlns:a="http://schemas.openxmlformats.org/drawingml/2006/main">
            <a:r>
              <a:t>- README.md; docs/final_capstone_report.md; docs/phase2_research_report.md.</a:t>
            </a:r>
          </a:p>
          <a:p xmlns:a="http://schemas.openxmlformats.org/drawingml/2006/main">
            <a:r>
              <a:t>- outputs/evaluation/* and outputs/presentation/*.</a:t>
            </a:r>
          </a:p>
          <a:p xmlns:a="http://schemas.openxmlformats.org/drawingml/2006/main">
            <a:r>
              <a:t>[/Sources]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3b5335ff4144ea8" /><Relationship Type="http://schemas.openxmlformats.org/officeDocument/2006/relationships/image" Target="/ppt/media/image.png" Id="R1c2fe90f8d254e43"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e395305d9c54015" /><Relationship Type="http://schemas.openxmlformats.org/officeDocument/2006/relationships/image" Target="/ppt/media/image.png" Id="Re845e217fd0241db" /><Relationship Type="http://schemas.openxmlformats.org/officeDocument/2006/relationships/image" Target="/ppt/media/image2.png" Id="Rb508f27a5bb448c0" /><Relationship Type="http://schemas.openxmlformats.org/officeDocument/2006/relationships/image" Target="/ppt/media/image3.png" Id="R48fc6a449f32434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439f5274f9674031"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3b9c3c8895f431c"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66e3d74b6c6436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c96d0a631f54360" /></Relationships>
</file>

<file path=ppt/slideLayouts/_rels/slideLayout7.xml.rels>&#65279;<?xml version="1.0" encoding="utf-8"?><Relationships xmlns="http://schemas.openxmlformats.org/package/2006/relationships"><Relationship Type="http://schemas.openxmlformats.org/officeDocument/2006/relationships/slideMaster" Target="/ppt/slideMasters/slideMaster1.xml" Id="Rf62e131280d94e18" /></Relationships>
</file>

<file path=ppt/slideLayouts/_rels/slideLayout8.xml.rels>&#65279;<?xml version="1.0" encoding="utf-8"?><Relationships xmlns="http://schemas.openxmlformats.org/package/2006/relationships"><Relationship Type="http://schemas.openxmlformats.org/officeDocument/2006/relationships/slideMaster" Target="/ppt/slideMasters/slideMaster1.xml" Id="R29194ac79ed74c4b" /></Relationships>
</file>

<file path=ppt/slideLayouts/_rels/slideLayout9.xml.rels>&#65279;<?xml version="1.0" encoding="utf-8"?><Relationships xmlns="http://schemas.openxmlformats.org/package/2006/relationships"><Relationship Type="http://schemas.openxmlformats.org/officeDocument/2006/relationships/slideMaster" Target="/ppt/slideMasters/slideMaster1.xml" Id="Rf218568636124f9d" /></Relationships>
</file>

<file path=ppt/slideLayouts/_rels/slideLayout10.xml.rels>&#65279;<?xml version="1.0" encoding="utf-8"?><Relationships xmlns="http://schemas.openxmlformats.org/package/2006/relationships"><Relationship Type="http://schemas.openxmlformats.org/officeDocument/2006/relationships/slideMaster" Target="/ppt/slideMasters/slideMaster1.xml" Id="Reaecf73bba0c4ae2" /></Relationships>
</file>

<file path=ppt/slideLayouts/_rels/slideLayout11.xml.rels>&#65279;<?xml version="1.0" encoding="utf-8"?><Relationships xmlns="http://schemas.openxmlformats.org/package/2006/relationships"><Relationship Type="http://schemas.openxmlformats.org/officeDocument/2006/relationships/slideMaster" Target="/ppt/slideMasters/slideMaster1.xml" Id="R0db75f6cfc994f99" /></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3B186C9-2BBA-55D0-BD4B-F8B71E2ECF16}"/>
              </a:ext>
            </a:extLst>
          </p:cNvPr>
          <p:cNvSpPr>
            <a:spLocks xmlns:a="http://schemas.openxmlformats.org/drawingml/2006/main" noGrp="1"/>
          </p:cNvSpPr>
          <p:nvPr>
            <p:ph type="ctrTitle" idx="0"/>
          </p:nvPr>
        </p:nvSpPr>
        <p:spPr>
          <a:xfrm xmlns:a="http://schemas.openxmlformats.org/drawingml/2006/main">
            <a:off x="1143000" y="1122363"/>
            <a:ext cx="6858000" cy="2387600"/>
          </a:xfrm>
        </p:spPr>
        <p:txBody>
          <a:bodyPr xmlns:a="http://schemas.openxmlformats.org/drawingml/2006/main" anchor="b"/>
          <a:lstStyle xmlns:a="http://schemas.openxmlformats.org/drawingml/2006/main">
            <a:lvl1pPr algn="ctr">
              <a:buNone/>
              <a:defRPr sz="45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954DE6BA-4AE7-822A-85CC-92BCCD9D6A26}"/>
              </a:ext>
            </a:extLst>
          </p:cNvPr>
          <p:cNvSpPr>
            <a:spLocks xmlns:a="http://schemas.openxmlformats.org/drawingml/2006/main" noGrp="1"/>
          </p:cNvSpPr>
          <p:nvPr>
            <p:ph type="subTitle" idx="1"/>
          </p:nvPr>
        </p:nvSpPr>
        <p:spPr>
          <a:xfrm xmlns:a="http://schemas.openxmlformats.org/drawingml/2006/main">
            <a:off x="1143000" y="3602038"/>
            <a:ext cx="6858000" cy="1655762"/>
          </a:xfrm>
        </p:spPr>
        <p:txBody>
          <a:bodyPr xmlns:a="http://schemas.openxmlformats.org/drawingml/2006/main"/>
          <a:lstStyle xmlns:a="http://schemas.openxmlformats.org/drawingml/2006/main">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D707BC8C-59D5-7186-B66E-4FCA965220D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2/10/2026</a:t>
            </a:fld>
            <a:endParaRPr/>
          </a:p>
        </p:txBody>
      </p:sp>
      <p:sp>
        <p:nvSpPr>
          <p:cNvPr id="5" name="Footer Placeholder 4">
            <a:extLst xmlns:a="http://schemas.openxmlformats.org/drawingml/2006/main">
              <a:ext uri="{FF2B5EF4-FFF2-40B4-BE49-F238E27FC236}">
                <a16:creationId xmlns:a16="http://schemas.microsoft.com/office/drawing/2014/main" id="{B7F99DD2-136E-B005-965D-33285448D7C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40DD1715-6A40-FAAC-BD2C-F7BE86FD896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pic>
        <p:nvPicPr>
          <p:cNvPr id="13" name="Picture 6"/>
          <p:cNvPicPr>
            <a:picLocks xmlns:a="http://schemas.openxmlformats.org/drawingml/2006/main" noChangeAspect="1"/>
          </p:cNvPicPr>
          <p:nvPr/>
        </p:nvPicPr>
        <p:blipFill>
          <a:blip xmlns:r="http://schemas.openxmlformats.org/officeDocument/2006/relationships" xmlns:a="http://schemas.openxmlformats.org/drawingml/2006/main" r:embed="R1c2fe90f8d254e43"/>
          <a:stretch xmlns:a="http://schemas.openxmlformats.org/drawingml/2006/main">
            <a:fillRect l="0" t="0" r="0" b="0"/>
          </a:stretch>
        </p:blipFill>
        <p:spPr>
          <a:xfrm xmlns:a="http://schemas.openxmlformats.org/drawingml/2006/main">
            <a:off x="-2" y="6466115"/>
            <a:ext cx="9153000" cy="108000"/>
          </a:xfrm>
          <a:prstGeom xmlns:a="http://schemas.openxmlformats.org/drawingml/2006/main" prst="rect">
            <a:avLst/>
          </a:prstGeom>
        </p:spPr>
      </p:pic>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7E8838B-2600-6588-AFF2-968994DAE8E7}"/>
              </a:ext>
            </a:extLst>
          </p:cNvPr>
          <p:cNvSpPr>
            <a:spLocks xmlns:a="http://schemas.openxmlformats.org/drawingml/2006/main" noGrp="1"/>
          </p:cNvSpPr>
          <p:nvPr>
            <p:ph type="title" idx="0"/>
          </p:nvPr>
        </p:nvSpPr>
        <p:spPr>
          <a:xfrm xmlns:a="http://schemas.openxmlformats.org/drawingml/2006/main">
            <a:off x="331470" y="349886"/>
            <a:ext cx="6995160" cy="930665"/>
          </a:xfrm>
        </p:spPr>
        <p:txBody>
          <a:bodyPr xmlns:a="http://schemas.openxmlformats.org/drawingml/2006/main"/>
          <a:lstStyle xmlns:a="http://schemas.openxmlformats.org/drawingml/2006/main">
            <a:lvl1pPr>
              <a:buNone/>
              <a:defRPr b="1" i="0">
                <a:latin typeface="Arial Narrow"/>
                <a:ea typeface="Arial Narrow"/>
                <a:cs typeface="Arial Narrow"/>
              </a:defRPr>
            </a:lvl1pPr>
          </a:lstStyle>
          <a:p xmlns:a="http://schemas.openxmlformats.org/drawingml/2006/main">
            <a:r>
              <a:t>Click to edit Master title style</a:t>
            </a:r>
            <a:endParaRPr/>
          </a:p>
        </p:txBody>
      </p:sp>
      <p:sp>
        <p:nvSpPr>
          <p:cNvPr id="3" name="Content Placeholder 2">
            <a:extLst xmlns:a="http://schemas.openxmlformats.org/drawingml/2006/main">
              <a:ext uri="{FF2B5EF4-FFF2-40B4-BE49-F238E27FC236}">
                <a16:creationId xmlns:a16="http://schemas.microsoft.com/office/drawing/2014/main" id="{B37DF390-C3B8-3F09-F40D-85696C04CD79}"/>
              </a:ext>
            </a:extLst>
          </p:cNvPr>
          <p:cNvSpPr>
            <a:spLocks xmlns:a="http://schemas.openxmlformats.org/drawingml/2006/main" noGrp="1"/>
          </p:cNvSpPr>
          <p:nvPr>
            <p:ph idx="1"/>
          </p:nvPr>
        </p:nvSpPr>
        <p:spPr>
          <a:xfrm xmlns:a="http://schemas.openxmlformats.org/drawingml/2006/main">
            <a:off x="400050" y="1825625"/>
            <a:ext cx="8492490" cy="4351338"/>
          </a:xfrm>
        </p:spPr>
        <p:txBody>
          <a:bodyPr xmlns:a="http://schemas.openxmlformats.org/drawingml/2006/main">
            <a:normAutofit/>
          </a:bodyPr>
          <a:lstStyle xmlns:a="http://schemas.openxmlformats.org/drawingml/2006/main">
            <a:lvl1pPr>
              <a:buNone/>
              <a:defRPr sz="1800"/>
            </a:lvl1pPr>
            <a:lvl2pPr>
              <a:buNone/>
              <a:defRPr sz="1500"/>
            </a:lvl2pPr>
            <a:lvl3pPr>
              <a:buNone/>
              <a:defRPr sz="1350"/>
            </a:lvl3pPr>
            <a:lvl4pPr>
              <a:buNone/>
              <a:defRPr sz="1200"/>
            </a:lvl4pPr>
            <a:lvl5pPr>
              <a:buNone/>
              <a:defRPr sz="1200"/>
            </a:lvl5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pic>
        <p:nvPicPr>
          <p:cNvPr id="9" name="Picture 6"/>
          <p:cNvPicPr>
            <a:picLocks xmlns:a="http://schemas.openxmlformats.org/drawingml/2006/main" noChangeAspect="1"/>
          </p:cNvPicPr>
          <p:nvPr/>
        </p:nvPicPr>
        <p:blipFill>
          <a:blip xmlns:r="http://schemas.openxmlformats.org/officeDocument/2006/relationships" xmlns:a="http://schemas.openxmlformats.org/drawingml/2006/main" r:embed="Re845e217fd0241db"/>
          <a:stretch xmlns:a="http://schemas.openxmlformats.org/drawingml/2006/main">
            <a:fillRect l="0" t="0" r="0" b="0"/>
          </a:stretch>
        </p:blipFill>
        <p:spPr>
          <a:xfrm xmlns:a="http://schemas.openxmlformats.org/drawingml/2006/main">
            <a:off x="-2" y="6466115"/>
            <a:ext cx="9153000" cy="108000"/>
          </a:xfrm>
          <a:prstGeom xmlns:a="http://schemas.openxmlformats.org/drawingml/2006/main" prst="rect">
            <a:avLst/>
          </a:prstGeom>
        </p:spPr>
      </p:pic>
      <p:pic>
        <p:nvPicPr>
          <p:cNvPr id="10" name="Picture 7"/>
          <p:cNvPicPr>
            <a:picLocks xmlns:a="http://schemas.openxmlformats.org/drawingml/2006/main" noChangeAspect="1"/>
          </p:cNvPicPr>
          <p:nvPr/>
        </p:nvPicPr>
        <p:blipFill>
          <a:blip xmlns:r="http://schemas.openxmlformats.org/officeDocument/2006/relationships" xmlns:a="http://schemas.openxmlformats.org/drawingml/2006/main" r:embed="Rb508f27a5bb448c0"/>
          <a:stretch xmlns:a="http://schemas.openxmlformats.org/drawingml/2006/main">
            <a:fillRect l="0" t="0" r="0" b="0"/>
          </a:stretch>
        </p:blipFill>
        <p:spPr>
          <a:xfrm xmlns:a="http://schemas.openxmlformats.org/drawingml/2006/main">
            <a:off x="-2" y="1295791"/>
            <a:ext cx="3348990" cy="103523"/>
          </a:xfrm>
          <a:prstGeom xmlns:a="http://schemas.openxmlformats.org/drawingml/2006/main" prst="rect">
            <a:avLst/>
          </a:prstGeom>
        </p:spPr>
      </p:pic>
      <p:pic>
        <p:nvPicPr>
          <p:cNvPr id="11" name="Picture 8"/>
          <p:cNvPicPr>
            <a:picLocks xmlns:a="http://schemas.openxmlformats.org/drawingml/2006/main" noChangeAspect="1"/>
          </p:cNvPicPr>
          <p:nvPr/>
        </p:nvPicPr>
        <p:blipFill>
          <a:blip xmlns:r="http://schemas.openxmlformats.org/officeDocument/2006/relationships" xmlns:a="http://schemas.openxmlformats.org/drawingml/2006/main" r:embed="R48fc6a449f324344"/>
          <a:stretch xmlns:a="http://schemas.openxmlformats.org/drawingml/2006/main">
            <a:fillRect l="0" t="0" r="0" b="0"/>
          </a:stretch>
        </p:blipFill>
        <p:spPr>
          <a:xfrm xmlns:a="http://schemas.openxmlformats.org/drawingml/2006/main">
            <a:off x="7559040" y="405951"/>
            <a:ext cx="1333500" cy="679450"/>
          </a:xfrm>
          <a:prstGeom xmlns:a="http://schemas.openxmlformats.org/drawingml/2006/main" prst="rect">
            <a:avLst/>
          </a:prstGeom>
        </p:spPr>
      </p:pic>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2468431-87F8-377B-002F-8008220780F5}"/>
              </a:ext>
            </a:extLst>
          </p:cNvPr>
          <p:cNvSpPr>
            <a:spLocks xmlns:a="http://schemas.openxmlformats.org/drawingml/2006/main" noGrp="1"/>
          </p:cNvSpPr>
          <p:nvPr>
            <p:ph type="title" idx="0"/>
          </p:nvPr>
        </p:nvSpPr>
        <p:spPr>
          <a:xfrm xmlns:a="http://schemas.openxmlformats.org/drawingml/2006/main">
            <a:off x="623888" y="1709739"/>
            <a:ext cx="7886700" cy="2852737"/>
          </a:xfrm>
        </p:spPr>
        <p:txBody>
          <a:bodyPr xmlns:a="http://schemas.openxmlformats.org/drawingml/2006/main" anchor="b"/>
          <a:lstStyle xmlns:a="http://schemas.openxmlformats.org/drawingml/2006/main">
            <a:lvl1pPr>
              <a:buNone/>
              <a:defRPr sz="4500"/>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2CCB87CB-EC0D-AC03-913E-540103ABA3DD}"/>
              </a:ext>
            </a:extLst>
          </p:cNvPr>
          <p:cNvSpPr>
            <a:spLocks xmlns:a="http://schemas.openxmlformats.org/drawingml/2006/main" noGrp="1"/>
          </p:cNvSpPr>
          <p:nvPr>
            <p:ph type="body" idx="1"/>
          </p:nvPr>
        </p:nvSpPr>
        <p:spPr>
          <a:xfrm xmlns:a="http://schemas.openxmlformats.org/drawingml/2006/main">
            <a:off x="623888" y="4589464"/>
            <a:ext cx="7886700" cy="1500187"/>
          </a:xfrm>
        </p:spPr>
        <p:txBody>
          <a:bodyPr xmlns:a="http://schemas.openxmlformats.org/drawingml/2006/main"/>
          <a:lstStyle xmlns:a="http://schemas.openxmlformats.org/drawingml/2006/main">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61B777A5-783A-D063-67E6-8CB761EE535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2/10/2026</a:t>
            </a:fld>
            <a:endParaRPr/>
          </a:p>
        </p:txBody>
      </p:sp>
      <p:sp>
        <p:nvSpPr>
          <p:cNvPr id="5" name="Footer Placeholder 4">
            <a:extLst xmlns:a="http://schemas.openxmlformats.org/drawingml/2006/main">
              <a:ext uri="{FF2B5EF4-FFF2-40B4-BE49-F238E27FC236}">
                <a16:creationId xmlns:a16="http://schemas.microsoft.com/office/drawing/2014/main" id="{02378A05-536D-01B1-B02E-017A1923F40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F04BE06D-95DC-C9AA-9F94-50F934BDD55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1B372BEB-1201-DD36-5A62-6C8322CBC41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E30EC01D-6BFB-5359-E1CB-F8393053EA11}"/>
              </a:ext>
            </a:extLst>
          </p:cNvPr>
          <p:cNvSpPr>
            <a:spLocks xmlns:a="http://schemas.openxmlformats.org/drawingml/2006/main" noGrp="1"/>
          </p:cNvSpPr>
          <p:nvPr>
            <p:ph idx="1"/>
          </p:nvPr>
        </p:nvSpPr>
        <p:spPr>
          <a:xfrm xmlns:a="http://schemas.openxmlformats.org/drawingml/2006/main">
            <a:off x="628650" y="1825625"/>
            <a:ext cx="3886200" cy="435133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A61294D6-52BE-8815-B5BE-B9B642695724}"/>
              </a:ext>
            </a:extLst>
          </p:cNvPr>
          <p:cNvSpPr>
            <a:spLocks xmlns:a="http://schemas.openxmlformats.org/drawingml/2006/main" noGrp="1"/>
          </p:cNvSpPr>
          <p:nvPr>
            <p:ph idx="2"/>
          </p:nvPr>
        </p:nvSpPr>
        <p:spPr>
          <a:xfrm xmlns:a="http://schemas.openxmlformats.org/drawingml/2006/main">
            <a:off x="4629150" y="1825625"/>
            <a:ext cx="3886200" cy="435133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FEABC93A-F94E-2DCF-1576-F9D87AD0202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2/10/2026</a:t>
            </a:fld>
            <a:endParaRPr/>
          </a:p>
        </p:txBody>
      </p:sp>
      <p:sp>
        <p:nvSpPr>
          <p:cNvPr id="6" name="Footer Placeholder 5">
            <a:extLst xmlns:a="http://schemas.openxmlformats.org/drawingml/2006/main">
              <a:ext uri="{FF2B5EF4-FFF2-40B4-BE49-F238E27FC236}">
                <a16:creationId xmlns:a16="http://schemas.microsoft.com/office/drawing/2014/main" id="{BE8D2396-B2FC-F8D4-BB47-05AFB0AB2D01}"/>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4E562123-4901-0C6F-544E-F6AA6832F5D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47CA608-63E2-19B2-AE4D-57CF441C1B9A}"/>
              </a:ext>
            </a:extLst>
          </p:cNvPr>
          <p:cNvSpPr>
            <a:spLocks xmlns:a="http://schemas.openxmlformats.org/drawingml/2006/main" noGrp="1"/>
          </p:cNvSpPr>
          <p:nvPr>
            <p:ph type="title" idx="0"/>
          </p:nvPr>
        </p:nvSpPr>
        <p:spPr>
          <a:xfrm xmlns:a="http://schemas.openxmlformats.org/drawingml/2006/main">
            <a:off x="629841" y="365126"/>
            <a:ext cx="7886700" cy="1325563"/>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A3FF64A4-C3C4-ACA3-1D1F-D208F767869F}"/>
              </a:ext>
            </a:extLst>
          </p:cNvPr>
          <p:cNvSpPr>
            <a:spLocks xmlns:a="http://schemas.openxmlformats.org/drawingml/2006/main" noGrp="1"/>
          </p:cNvSpPr>
          <p:nvPr>
            <p:ph type="body" idx="1"/>
          </p:nvPr>
        </p:nvSpPr>
        <p:spPr>
          <a:xfrm xmlns:a="http://schemas.openxmlformats.org/drawingml/2006/main">
            <a:off x="629842" y="1681163"/>
            <a:ext cx="3868340" cy="823912"/>
          </a:xfrm>
        </p:spPr>
        <p:txBody>
          <a:bodyPr xmlns:a="http://schemas.openxmlformats.org/drawingml/2006/main" anchor="b"/>
          <a:lstStyle xmlns:a="http://schemas.openxmlformats.org/drawingml/2006/main">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537ACB0F-31D6-4E31-9EF4-FAEE2ECF2D1F}"/>
              </a:ext>
            </a:extLst>
          </p:cNvPr>
          <p:cNvSpPr>
            <a:spLocks xmlns:a="http://schemas.openxmlformats.org/drawingml/2006/main" noGrp="1"/>
          </p:cNvSpPr>
          <p:nvPr>
            <p:ph idx="2"/>
          </p:nvPr>
        </p:nvSpPr>
        <p:spPr>
          <a:xfrm xmlns:a="http://schemas.openxmlformats.org/drawingml/2006/main">
            <a:off x="629842" y="2505075"/>
            <a:ext cx="3868340" cy="368458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5B8E2D7D-E306-0374-7D3C-62E8D219AEE6}"/>
              </a:ext>
            </a:extLst>
          </p:cNvPr>
          <p:cNvSpPr>
            <a:spLocks xmlns:a="http://schemas.openxmlformats.org/drawingml/2006/main" noGrp="1"/>
          </p:cNvSpPr>
          <p:nvPr>
            <p:ph type="body" idx="3"/>
          </p:nvPr>
        </p:nvSpPr>
        <p:spPr>
          <a:xfrm xmlns:a="http://schemas.openxmlformats.org/drawingml/2006/main">
            <a:off x="4629150" y="1681163"/>
            <a:ext cx="3887391" cy="823912"/>
          </a:xfrm>
        </p:spPr>
        <p:txBody>
          <a:bodyPr xmlns:a="http://schemas.openxmlformats.org/drawingml/2006/main" anchor="b"/>
          <a:lstStyle xmlns:a="http://schemas.openxmlformats.org/drawingml/2006/main">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A2BEC196-EF39-B64C-5B82-DC01BD711307}"/>
              </a:ext>
            </a:extLst>
          </p:cNvPr>
          <p:cNvSpPr>
            <a:spLocks xmlns:a="http://schemas.openxmlformats.org/drawingml/2006/main" noGrp="1"/>
          </p:cNvSpPr>
          <p:nvPr>
            <p:ph idx="4"/>
          </p:nvPr>
        </p:nvSpPr>
        <p:spPr>
          <a:xfrm xmlns:a="http://schemas.openxmlformats.org/drawingml/2006/main">
            <a:off x="4629150" y="2505075"/>
            <a:ext cx="3887391" cy="368458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D00B66E0-B7D7-BF74-CC5D-317C5567ED68}"/>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2/10/2026</a:t>
            </a:fld>
            <a:endParaRPr/>
          </a:p>
        </p:txBody>
      </p:sp>
      <p:sp>
        <p:nvSpPr>
          <p:cNvPr id="8" name="Footer Placeholder 7">
            <a:extLst xmlns:a="http://schemas.openxmlformats.org/drawingml/2006/main">
              <a:ext uri="{FF2B5EF4-FFF2-40B4-BE49-F238E27FC236}">
                <a16:creationId xmlns:a16="http://schemas.microsoft.com/office/drawing/2014/main" id="{E8C2566B-2AE2-3440-B5E5-557FA335D565}"/>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65C1E798-0C77-EC9C-37B4-4B7560BDB47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B068898-CA2D-FC1D-F85A-F4B614981F89}"/>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7BC0DC15-F701-899A-1878-CE763E82560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2/10/2026</a:t>
            </a:fld>
            <a:endParaRPr/>
          </a:p>
        </p:txBody>
      </p:sp>
      <p:sp>
        <p:nvSpPr>
          <p:cNvPr id="4" name="Footer Placeholder 3">
            <a:extLst xmlns:a="http://schemas.openxmlformats.org/drawingml/2006/main">
              <a:ext uri="{FF2B5EF4-FFF2-40B4-BE49-F238E27FC236}">
                <a16:creationId xmlns:a16="http://schemas.microsoft.com/office/drawing/2014/main" id="{7092D74A-4601-E794-8FA7-BB760570276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5CB1FF0C-0D43-1690-F1D9-BD21A784635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34575516-D291-7DF6-999B-D95626683380}"/>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2/10/2026</a:t>
            </a:fld>
            <a:endParaRPr/>
          </a:p>
        </p:txBody>
      </p:sp>
      <p:sp>
        <p:nvSpPr>
          <p:cNvPr id="3" name="Footer Placeholder 2">
            <a:extLst xmlns:a="http://schemas.openxmlformats.org/drawingml/2006/main">
              <a:ext uri="{FF2B5EF4-FFF2-40B4-BE49-F238E27FC236}">
                <a16:creationId xmlns:a16="http://schemas.microsoft.com/office/drawing/2014/main" id="{A66BCA8A-5542-72D5-4D01-7901049E96D7}"/>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B66685FB-F8C4-60A1-F7B2-63C03C82483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4904FAF-C8EA-6C50-C03C-6BE244FB3330}"/>
              </a:ext>
            </a:extLst>
          </p:cNvPr>
          <p:cNvSpPr>
            <a:spLocks xmlns:a="http://schemas.openxmlformats.org/drawingml/2006/main" noGrp="1"/>
          </p:cNvSpPr>
          <p:nvPr>
            <p:ph type="title" idx="0"/>
          </p:nvPr>
        </p:nvSpPr>
        <p:spPr>
          <a:xfrm xmlns:a="http://schemas.openxmlformats.org/drawingml/2006/main">
            <a:off x="629841" y="457200"/>
            <a:ext cx="2949178" cy="1600200"/>
          </a:xfrm>
        </p:spPr>
        <p:txBody>
          <a:bodyPr xmlns:a="http://schemas.openxmlformats.org/drawingml/2006/main" anchor="b"/>
          <a:lstStyle xmlns:a="http://schemas.openxmlformats.org/drawingml/2006/main">
            <a:lvl1pPr>
              <a:buNone/>
              <a:defRPr sz="2400"/>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83237747-0EAE-BF6C-0F71-1239CCED5C58}"/>
              </a:ext>
            </a:extLst>
          </p:cNvPr>
          <p:cNvSpPr>
            <a:spLocks xmlns:a="http://schemas.openxmlformats.org/drawingml/2006/main" noGrp="1"/>
          </p:cNvSpPr>
          <p:nvPr>
            <p:ph idx="1"/>
          </p:nvPr>
        </p:nvSpPr>
        <p:spPr>
          <a:xfrm xmlns:a="http://schemas.openxmlformats.org/drawingml/2006/main">
            <a:off x="3887391" y="987426"/>
            <a:ext cx="4629150" cy="4873625"/>
          </a:xfrm>
        </p:spPr>
        <p:txBody>
          <a:bodyPr xmlns:a="http://schemas.openxmlformats.org/drawingml/2006/main"/>
          <a:lstStyle xmlns:a="http://schemas.openxmlformats.org/drawingml/2006/main">
            <a:lvl1pPr>
              <a:buNone/>
              <a:defRPr sz="2400"/>
            </a:lvl1pPr>
            <a:lvl2pPr>
              <a:buNone/>
              <a:defRPr sz="2100"/>
            </a:lvl2pPr>
            <a:lvl3pPr>
              <a:buNone/>
              <a:defRPr sz="1800"/>
            </a:lvl3pPr>
            <a:lvl4pPr>
              <a:buNone/>
              <a:defRPr sz="1500"/>
            </a:lvl4pPr>
            <a:lvl5pPr>
              <a:buNone/>
              <a:defRPr sz="1500"/>
            </a:lvl5pPr>
            <a:lvl6pPr>
              <a:buNone/>
              <a:defRPr sz="1500"/>
            </a:lvl6pPr>
            <a:lvl7pPr>
              <a:buNone/>
              <a:defRPr sz="1500"/>
            </a:lvl7pPr>
            <a:lvl8pPr>
              <a:buNone/>
              <a:defRPr sz="1500"/>
            </a:lvl8pPr>
            <a:lvl9pPr>
              <a:buNone/>
              <a:defRPr sz="15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2EA81633-599E-0C57-85A4-85AF2FB3ED80}"/>
              </a:ext>
            </a:extLst>
          </p:cNvPr>
          <p:cNvSpPr>
            <a:spLocks xmlns:a="http://schemas.openxmlformats.org/drawingml/2006/main" noGrp="1"/>
          </p:cNvSpPr>
          <p:nvPr>
            <p:ph type="body" idx="2"/>
          </p:nvPr>
        </p:nvSpPr>
        <p:spPr>
          <a:xfrm xmlns:a="http://schemas.openxmlformats.org/drawingml/2006/main">
            <a:off x="629841" y="2057400"/>
            <a:ext cx="2949178" cy="3811588"/>
          </a:xfrm>
        </p:spPr>
        <p:txBody>
          <a:bodyPr xmlns:a="http://schemas.openxmlformats.org/drawingml/2006/main"/>
          <a:lstStyle xmlns:a="http://schemas.openxmlformats.org/drawingml/2006/main">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89CC1136-1C3C-B33A-D05E-2A6D49A0B74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2/10/2026</a:t>
            </a:fld>
            <a:endParaRPr/>
          </a:p>
        </p:txBody>
      </p:sp>
      <p:sp>
        <p:nvSpPr>
          <p:cNvPr id="6" name="Footer Placeholder 5">
            <a:extLst xmlns:a="http://schemas.openxmlformats.org/drawingml/2006/main">
              <a:ext uri="{FF2B5EF4-FFF2-40B4-BE49-F238E27FC236}">
                <a16:creationId xmlns:a16="http://schemas.microsoft.com/office/drawing/2014/main" id="{6ECF106D-088F-C9E1-A0D5-22F8B83BAEF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977A12DD-DCE1-05C2-B9F7-010563020ED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E6BEF12A-BEE5-D30E-A3A1-942D5B5C0ED8}"/>
              </a:ext>
            </a:extLst>
          </p:cNvPr>
          <p:cNvSpPr>
            <a:spLocks xmlns:a="http://schemas.openxmlformats.org/drawingml/2006/main" noGrp="1"/>
          </p:cNvSpPr>
          <p:nvPr>
            <p:ph type="title" idx="0"/>
          </p:nvPr>
        </p:nvSpPr>
        <p:spPr>
          <a:xfrm xmlns:a="http://schemas.openxmlformats.org/drawingml/2006/main">
            <a:off x="629841" y="457200"/>
            <a:ext cx="2949178" cy="1600200"/>
          </a:xfrm>
        </p:spPr>
        <p:txBody>
          <a:bodyPr xmlns:a="http://schemas.openxmlformats.org/drawingml/2006/main" anchor="b"/>
          <a:lstStyle xmlns:a="http://schemas.openxmlformats.org/drawingml/2006/main">
            <a:lvl1pPr>
              <a:buNone/>
              <a:defRPr sz="2400"/>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012D5563-6459-67DE-4D69-30053A9D0AC1}"/>
              </a:ext>
            </a:extLst>
          </p:cNvPr>
          <p:cNvSpPr>
            <a:spLocks xmlns:a="http://schemas.openxmlformats.org/drawingml/2006/main" noGrp="1"/>
          </p:cNvSpPr>
          <p:nvPr>
            <p:ph type="pic" idx="1"/>
          </p:nvPr>
        </p:nvSpPr>
        <p:spPr>
          <a:xfrm xmlns:a="http://schemas.openxmlformats.org/drawingml/2006/main">
            <a:off x="3887391" y="987426"/>
            <a:ext cx="4629150" cy="4873625"/>
          </a:xfrm>
        </p:spPr>
        <p:txBody>
          <a:bodyPr xmlns:a="http://schemas.openxmlformats.org/drawingml/2006/main"/>
          <a:lstStyle xmlns:a="http://schemas.openxmlformats.org/drawingml/2006/main">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xmlns:a="http://schemas.openxmlformats.org/drawingml/2006/main">
            <a:r>
              <a:t>Click icon to add picture</a:t>
            </a:r>
          </a:p>
        </p:txBody>
      </p:sp>
      <p:sp>
        <p:nvSpPr>
          <p:cNvPr id="4" name="Text Placeholder 3">
            <a:extLst xmlns:a="http://schemas.openxmlformats.org/drawingml/2006/main">
              <a:ext uri="{FF2B5EF4-FFF2-40B4-BE49-F238E27FC236}">
                <a16:creationId xmlns:a16="http://schemas.microsoft.com/office/drawing/2014/main" id="{477B9A17-FD7C-16CA-4EFC-03BD86855F86}"/>
              </a:ext>
            </a:extLst>
          </p:cNvPr>
          <p:cNvSpPr>
            <a:spLocks xmlns:a="http://schemas.openxmlformats.org/drawingml/2006/main" noGrp="1"/>
          </p:cNvSpPr>
          <p:nvPr>
            <p:ph type="body" idx="2"/>
          </p:nvPr>
        </p:nvSpPr>
        <p:spPr>
          <a:xfrm xmlns:a="http://schemas.openxmlformats.org/drawingml/2006/main">
            <a:off x="629841" y="2057400"/>
            <a:ext cx="2949178" cy="3811588"/>
          </a:xfrm>
        </p:spPr>
        <p:txBody>
          <a:bodyPr xmlns:a="http://schemas.openxmlformats.org/drawingml/2006/main"/>
          <a:lstStyle xmlns:a="http://schemas.openxmlformats.org/drawingml/2006/main">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ADC6D420-EC2E-8ABC-B2F2-CA9F497223B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2/10/2026</a:t>
            </a:fld>
            <a:endParaRPr/>
          </a:p>
        </p:txBody>
      </p:sp>
      <p:sp>
        <p:nvSpPr>
          <p:cNvPr id="6" name="Footer Placeholder 5">
            <a:extLst xmlns:a="http://schemas.openxmlformats.org/drawingml/2006/main">
              <a:ext uri="{FF2B5EF4-FFF2-40B4-BE49-F238E27FC236}">
                <a16:creationId xmlns:a16="http://schemas.microsoft.com/office/drawing/2014/main" id="{8DDA5612-CD5C-0B26-0604-34950D11FDC0}"/>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DFC7A36B-AF9A-508A-1438-B7C8B1597F81}"/>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02C38F9-C26A-A887-8868-A89E5C7C289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B3923C57-B3EA-971D-87BC-DF8B8D3CA151}"/>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CD88FFD4-A931-751C-7707-99B41CCD90E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2/10/2026</a:t>
            </a:fld>
            <a:endParaRPr/>
          </a:p>
        </p:txBody>
      </p:sp>
      <p:sp>
        <p:nvSpPr>
          <p:cNvPr id="5" name="Footer Placeholder 4">
            <a:extLst xmlns:a="http://schemas.openxmlformats.org/drawingml/2006/main">
              <a:ext uri="{FF2B5EF4-FFF2-40B4-BE49-F238E27FC236}">
                <a16:creationId xmlns:a16="http://schemas.microsoft.com/office/drawing/2014/main" id="{1456FB5B-4974-F079-60B2-005270B274DF}"/>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D82AA4EC-E107-73DE-0D25-2B1868B40DA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4FB63CB0-1DDE-C006-45DD-C4E5E494296C}"/>
              </a:ext>
            </a:extLst>
          </p:cNvPr>
          <p:cNvSpPr>
            <a:spLocks xmlns:a="http://schemas.openxmlformats.org/drawingml/2006/main" noGrp="1"/>
          </p:cNvSpPr>
          <p:nvPr>
            <p:ph type="title" idx="0"/>
          </p:nvPr>
        </p:nvSpPr>
        <p:spPr>
          <a:xfrm xmlns:a="http://schemas.openxmlformats.org/drawingml/2006/main">
            <a:off x="6543675" y="365125"/>
            <a:ext cx="1971675" cy="5811838"/>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73815BB5-31FC-01A3-455F-2FCDAC103C17}"/>
              </a:ext>
            </a:extLst>
          </p:cNvPr>
          <p:cNvSpPr>
            <a:spLocks xmlns:a="http://schemas.openxmlformats.org/drawingml/2006/main" noGrp="1"/>
          </p:cNvSpPr>
          <p:nvPr>
            <p:ph type="body" idx="1"/>
          </p:nvPr>
        </p:nvSpPr>
        <p:spPr>
          <a:xfrm xmlns:a="http://schemas.openxmlformats.org/drawingml/2006/main">
            <a:off x="628650" y="365125"/>
            <a:ext cx="5800725" cy="5811838"/>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BF94DB4B-80C3-F444-BB89-BAB7C213FDDE}"/>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5BCAD085-E8A6-8845-BD4E-CB4CCA059FC4}" type="datetimeFigureOut">
              <a:t>2/10/2026</a:t>
            </a:fld>
            <a:endParaRPr/>
          </a:p>
        </p:txBody>
      </p:sp>
      <p:sp>
        <p:nvSpPr>
          <p:cNvPr id="5" name="Footer Placeholder 4">
            <a:extLst xmlns:a="http://schemas.openxmlformats.org/drawingml/2006/main">
              <a:ext uri="{FF2B5EF4-FFF2-40B4-BE49-F238E27FC236}">
                <a16:creationId xmlns:a16="http://schemas.microsoft.com/office/drawing/2014/main" id="{9ABFC3CA-91F1-49B3-33BE-B13C2112EBBC}"/>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A1199E0A-B830-F842-ADDC-5FD15C993532}"/>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C1FF6DA9-008F-8B48-92A6-B652298478BF}" type="slidenum">
              <a:t>‹#›</a:t>
            </a:fld>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b4fc045c39c48c3" /><Relationship Type="http://schemas.openxmlformats.org/officeDocument/2006/relationships/slideLayout" Target="/ppt/slideLayouts/slideLayout1.xml" Id="Rf517776116054e23" /><Relationship Type="http://schemas.openxmlformats.org/officeDocument/2006/relationships/slideLayout" Target="/ppt/slideLayouts/slideLayout2.xml" Id="R787b0e341bd74c6b" /><Relationship Type="http://schemas.openxmlformats.org/officeDocument/2006/relationships/slideLayout" Target="/ppt/slideLayouts/slideLayout3.xml" Id="R349d5c3926f7442f" /><Relationship Type="http://schemas.openxmlformats.org/officeDocument/2006/relationships/slideLayout" Target="/ppt/slideLayouts/slideLayout4.xml" Id="R02dcc353d1a54ef7" /><Relationship Type="http://schemas.openxmlformats.org/officeDocument/2006/relationships/slideLayout" Target="/ppt/slideLayouts/slideLayout5.xml" Id="Re8ca4d11e6114e72" /><Relationship Type="http://schemas.openxmlformats.org/officeDocument/2006/relationships/slideLayout" Target="/ppt/slideLayouts/slideLayout6.xml" Id="R99700197abdd4b11" /><Relationship Type="http://schemas.openxmlformats.org/officeDocument/2006/relationships/slideLayout" Target="/ppt/slideLayouts/slideLayout7.xml" Id="Red014eea087e4b26" /><Relationship Type="http://schemas.openxmlformats.org/officeDocument/2006/relationships/slideLayout" Target="/ppt/slideLayouts/slideLayout8.xml" Id="R5b2e1c8666354fb4" /><Relationship Type="http://schemas.openxmlformats.org/officeDocument/2006/relationships/slideLayout" Target="/ppt/slideLayouts/slideLayout9.xml" Id="Re7cb0d047ab0463f" /><Relationship Type="http://schemas.openxmlformats.org/officeDocument/2006/relationships/slideLayout" Target="/ppt/slideLayouts/slideLayout10.xml" Id="Rd4022e0f1c924aa0" /><Relationship Type="http://schemas.openxmlformats.org/officeDocument/2006/relationships/slideLayout" Target="/ppt/slideLayouts/slideLayout11.xml" Id="Rd3bc757ee817467e"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84938481-3E3D-E956-CD00-8CB791685CE3}"/>
              </a:ext>
            </a:extLst>
          </p:cNvPr>
          <p:cNvSpPr>
            <a:spLocks xmlns:a="http://schemas.openxmlformats.org/drawingml/2006/main" noGrp="1"/>
          </p:cNvSpPr>
          <p:nvPr>
            <p:ph type="title" idx="0"/>
          </p:nvPr>
        </p:nvSpPr>
        <p:spPr>
          <a:xfrm xmlns:a="http://schemas.openxmlformats.org/drawingml/2006/main">
            <a:off x="628650" y="365126"/>
            <a:ext cx="7886700" cy="1325563"/>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678BA1C8-6503-E09A-694B-6C359C0BA89A}"/>
              </a:ext>
            </a:extLst>
          </p:cNvPr>
          <p:cNvSpPr>
            <a:spLocks xmlns:a="http://schemas.openxmlformats.org/drawingml/2006/main" noGrp="1"/>
          </p:cNvSpPr>
          <p:nvPr>
            <p:ph type="body" idx="1"/>
          </p:nvPr>
        </p:nvSpPr>
        <p:spPr>
          <a:xfrm xmlns:a="http://schemas.openxmlformats.org/drawingml/2006/main">
            <a:off x="628650" y="1825625"/>
            <a:ext cx="7886700" cy="4351338"/>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FEA84468-691A-BB42-58A0-82A6AA10D1C1}"/>
              </a:ext>
            </a:extLst>
          </p:cNvPr>
          <p:cNvSpPr>
            <a:spLocks xmlns:a="http://schemas.openxmlformats.org/drawingml/2006/main" noGrp="1"/>
          </p:cNvSpPr>
          <p:nvPr>
            <p:ph type="dt" idx="2"/>
          </p:nvPr>
        </p:nvSpPr>
        <p:spPr>
          <a:xfrm xmlns:a="http://schemas.openxmlformats.org/drawingml/2006/main">
            <a:off x="628650" y="6356351"/>
            <a:ext cx="20574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900">
                <a:solidFill>
                  <a:schemeClr val="tx1">
                    <a:tint val="82000"/>
                  </a:schemeClr>
                </a:solidFill>
              </a:defRPr>
            </a:lvl1pPr>
          </a:lstStyle>
          <a:p xmlns:a="http://schemas.openxmlformats.org/drawingml/2006/main">
            <a:fld id="{5BCAD085-E8A6-8845-BD4E-CB4CCA059FC4}" type="datetimeFigureOut">
              <a:t>2/10/2026</a:t>
            </a:fld>
            <a:endParaRPr/>
          </a:p>
        </p:txBody>
      </p:sp>
      <p:sp>
        <p:nvSpPr>
          <p:cNvPr id="5" name="Footer Placeholder 4">
            <a:extLst xmlns:a="http://schemas.openxmlformats.org/drawingml/2006/main">
              <a:ext uri="{FF2B5EF4-FFF2-40B4-BE49-F238E27FC236}">
                <a16:creationId xmlns:a16="http://schemas.microsoft.com/office/drawing/2014/main" id="{305BE529-10D3-2454-82D4-495C91F77191}"/>
              </a:ext>
            </a:extLst>
          </p:cNvPr>
          <p:cNvSpPr>
            <a:spLocks xmlns:a="http://schemas.openxmlformats.org/drawingml/2006/main" noGrp="1"/>
          </p:cNvSpPr>
          <p:nvPr>
            <p:ph type="ftr" idx="3"/>
          </p:nvPr>
        </p:nvSpPr>
        <p:spPr>
          <a:xfrm xmlns:a="http://schemas.openxmlformats.org/drawingml/2006/main">
            <a:off x="3028950" y="6356351"/>
            <a:ext cx="30861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900">
                <a:solidFill>
                  <a:schemeClr val="tx1">
                    <a:tint val="82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1ECC2B87-66F7-C8F0-A8BC-5A8446D4BBA1}"/>
              </a:ext>
            </a:extLst>
          </p:cNvPr>
          <p:cNvSpPr>
            <a:spLocks xmlns:a="http://schemas.openxmlformats.org/drawingml/2006/main" noGrp="1"/>
          </p:cNvSpPr>
          <p:nvPr>
            <p:ph type="sldNum" idx="4"/>
          </p:nvPr>
        </p:nvSpPr>
        <p:spPr>
          <a:xfrm xmlns:a="http://schemas.openxmlformats.org/drawingml/2006/main">
            <a:off x="6457950" y="6356351"/>
            <a:ext cx="20574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900">
                <a:solidFill>
                  <a:schemeClr val="tx1">
                    <a:tint val="82000"/>
                  </a:schemeClr>
                </a:solidFill>
              </a:defRPr>
            </a:lvl1pPr>
          </a:lstStyle>
          <a:p xmlns:a="http://schemas.openxmlformats.org/drawingml/2006/main">
            <a:fld id="{C1FF6DA9-008F-8B48-92A6-B652298478BF}"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517776116054e23"/>
    <p:sldLayoutId xmlns:r="http://schemas.openxmlformats.org/officeDocument/2006/relationships" id="2147483650" r:id="R787b0e341bd74c6b"/>
    <p:sldLayoutId xmlns:r="http://schemas.openxmlformats.org/officeDocument/2006/relationships" id="2147483651" r:id="R349d5c3926f7442f"/>
    <p:sldLayoutId xmlns:r="http://schemas.openxmlformats.org/officeDocument/2006/relationships" id="2147483652" r:id="R02dcc353d1a54ef7"/>
    <p:sldLayoutId xmlns:r="http://schemas.openxmlformats.org/officeDocument/2006/relationships" id="2147483653" r:id="Re8ca4d11e6114e72"/>
    <p:sldLayoutId xmlns:r="http://schemas.openxmlformats.org/officeDocument/2006/relationships" id="2147483654" r:id="R99700197abdd4b11"/>
    <p:sldLayoutId xmlns:r="http://schemas.openxmlformats.org/officeDocument/2006/relationships" id="2147483655" r:id="Red014eea087e4b26"/>
    <p:sldLayoutId xmlns:r="http://schemas.openxmlformats.org/officeDocument/2006/relationships" id="2147483656" r:id="R5b2e1c8666354fb4"/>
    <p:sldLayoutId xmlns:r="http://schemas.openxmlformats.org/officeDocument/2006/relationships" id="2147483657" r:id="Re7cb0d047ab0463f"/>
    <p:sldLayoutId xmlns:r="http://schemas.openxmlformats.org/officeDocument/2006/relationships" id="2147483658" r:id="Rd4022e0f1c924aa0"/>
    <p:sldLayoutId xmlns:r="http://schemas.openxmlformats.org/officeDocument/2006/relationships" id="2147483659" r:id="Rd3bc757ee817467e"/>
  </p:sldLayoutIdLst>
  <p:txStyles>
    <p:titleStyle>
      <a:lvl1pPr xmlns:a="http://schemas.openxmlformats.org/drawingml/2006/main" algn="l" defTabSz="685800">
        <a:lnSpc>
          <a:spcPct val="90000"/>
        </a:lnSpc>
        <a:spcBef>
          <a:spcPct val="0"/>
        </a:spcBef>
        <a:buNone/>
        <a:defRPr sz="3300" kern="1200">
          <a:solidFill>
            <a:schemeClr val="tx1"/>
          </a:solidFill>
          <a:latin typeface="+mj-lt"/>
          <a:ea typeface="+mj-lt"/>
          <a:cs typeface="+mj-lt"/>
        </a:defRPr>
      </a:lvl1pPr>
    </p:titleStyle>
    <p:bodyStyle>
      <a:lvl1pPr xmlns:a="http://schemas.openxmlformats.org/drawingml/2006/main" marL="171450" indent="-171450" algn="l" defTabSz="685800">
        <a:lnSpc>
          <a:spcPct val="90000"/>
        </a:lnSpc>
        <a:spcBef>
          <a:spcPts val="750"/>
        </a:spcBef>
        <a:buFont typeface="Arial"/>
        <a:buChar char="•"/>
        <a:defRPr sz="2100" kern="1200">
          <a:solidFill>
            <a:schemeClr val="tx1"/>
          </a:solidFill>
          <a:latin typeface="+mn-lt"/>
          <a:ea typeface="+mn-lt"/>
          <a:cs typeface="+mn-lt"/>
        </a:defRPr>
      </a:lvl1pPr>
      <a:lvl2pPr xmlns:a="http://schemas.openxmlformats.org/drawingml/2006/main" marL="514350" indent="-171450" algn="l" defTabSz="685800">
        <a:lnSpc>
          <a:spcPct val="90000"/>
        </a:lnSpc>
        <a:spcBef>
          <a:spcPts val="375"/>
        </a:spcBef>
        <a:buFont typeface="Arial"/>
        <a:buChar char="•"/>
        <a:defRPr sz="1800" kern="1200">
          <a:solidFill>
            <a:schemeClr val="tx1"/>
          </a:solidFill>
          <a:latin typeface="+mn-lt"/>
          <a:ea typeface="+mn-lt"/>
          <a:cs typeface="+mn-lt"/>
        </a:defRPr>
      </a:lvl2pPr>
      <a:lvl3pPr xmlns:a="http://schemas.openxmlformats.org/drawingml/2006/main" marL="857250" indent="-171450" algn="l" defTabSz="685800">
        <a:lnSpc>
          <a:spcPct val="90000"/>
        </a:lnSpc>
        <a:spcBef>
          <a:spcPts val="375"/>
        </a:spcBef>
        <a:buFont typeface="Arial"/>
        <a:buChar char="•"/>
        <a:defRPr sz="1500" kern="1200">
          <a:solidFill>
            <a:schemeClr val="tx1"/>
          </a:solidFill>
          <a:latin typeface="+mn-lt"/>
          <a:ea typeface="+mn-lt"/>
          <a:cs typeface="+mn-lt"/>
        </a:defRPr>
      </a:lvl3pPr>
      <a:lvl4pPr xmlns:a="http://schemas.openxmlformats.org/drawingml/2006/main" marL="1200150" indent="-171450" algn="l" defTabSz="685800">
        <a:lnSpc>
          <a:spcPct val="90000"/>
        </a:lnSpc>
        <a:spcBef>
          <a:spcPts val="375"/>
        </a:spcBef>
        <a:buFont typeface="Arial"/>
        <a:buChar char="•"/>
        <a:defRPr sz="1350" kern="1200">
          <a:solidFill>
            <a:schemeClr val="tx1"/>
          </a:solidFill>
          <a:latin typeface="+mn-lt"/>
          <a:ea typeface="+mn-lt"/>
          <a:cs typeface="+mn-lt"/>
        </a:defRPr>
      </a:lvl4pPr>
      <a:lvl5pPr xmlns:a="http://schemas.openxmlformats.org/drawingml/2006/main" marL="1543050" indent="-171450" algn="l" defTabSz="685800">
        <a:lnSpc>
          <a:spcPct val="90000"/>
        </a:lnSpc>
        <a:spcBef>
          <a:spcPts val="375"/>
        </a:spcBef>
        <a:buFont typeface="Arial"/>
        <a:buChar char="•"/>
        <a:defRPr sz="1350" kern="1200">
          <a:solidFill>
            <a:schemeClr val="tx1"/>
          </a:solidFill>
          <a:latin typeface="+mn-lt"/>
          <a:ea typeface="+mn-lt"/>
          <a:cs typeface="+mn-lt"/>
        </a:defRPr>
      </a:lvl5pPr>
      <a:lvl6pPr xmlns:a="http://schemas.openxmlformats.org/drawingml/2006/main" marL="1885950" indent="-171450" algn="l" defTabSz="685800">
        <a:lnSpc>
          <a:spcPct val="90000"/>
        </a:lnSpc>
        <a:spcBef>
          <a:spcPts val="375"/>
        </a:spcBef>
        <a:buFont typeface="Arial"/>
        <a:buChar char="•"/>
        <a:defRPr sz="1350" kern="1200">
          <a:solidFill>
            <a:schemeClr val="tx1"/>
          </a:solidFill>
          <a:latin typeface="+mn-lt"/>
          <a:ea typeface="+mn-lt"/>
          <a:cs typeface="+mn-lt"/>
        </a:defRPr>
      </a:lvl6pPr>
      <a:lvl7pPr xmlns:a="http://schemas.openxmlformats.org/drawingml/2006/main" marL="2228850" indent="-171450" algn="l" defTabSz="685800">
        <a:lnSpc>
          <a:spcPct val="90000"/>
        </a:lnSpc>
        <a:spcBef>
          <a:spcPts val="375"/>
        </a:spcBef>
        <a:buFont typeface="Arial"/>
        <a:buChar char="•"/>
        <a:defRPr sz="1350" kern="1200">
          <a:solidFill>
            <a:schemeClr val="tx1"/>
          </a:solidFill>
          <a:latin typeface="+mn-lt"/>
          <a:ea typeface="+mn-lt"/>
          <a:cs typeface="+mn-lt"/>
        </a:defRPr>
      </a:lvl7pPr>
      <a:lvl8pPr xmlns:a="http://schemas.openxmlformats.org/drawingml/2006/main" marL="2571750" indent="-171450" algn="l" defTabSz="685800">
        <a:lnSpc>
          <a:spcPct val="90000"/>
        </a:lnSpc>
        <a:spcBef>
          <a:spcPts val="375"/>
        </a:spcBef>
        <a:buFont typeface="Arial"/>
        <a:buChar char="•"/>
        <a:defRPr sz="1350" kern="1200">
          <a:solidFill>
            <a:schemeClr val="tx1"/>
          </a:solidFill>
          <a:latin typeface="+mn-lt"/>
          <a:ea typeface="+mn-lt"/>
          <a:cs typeface="+mn-lt"/>
        </a:defRPr>
      </a:lvl8pPr>
      <a:lvl9pPr xmlns:a="http://schemas.openxmlformats.org/drawingml/2006/main" marL="2914650" indent="-171450" algn="l" defTabSz="685800">
        <a:lnSpc>
          <a:spcPct val="90000"/>
        </a:lnSpc>
        <a:spcBef>
          <a:spcPts val="375"/>
        </a:spcBef>
        <a:buFont typeface="Arial"/>
        <a:buChar char="•"/>
        <a:defRPr sz="1350" kern="1200">
          <a:solidFill>
            <a:schemeClr val="tx1"/>
          </a:solidFill>
          <a:latin typeface="+mn-lt"/>
          <a:ea typeface="+mn-lt"/>
          <a:cs typeface="+mn-lt"/>
        </a:defRPr>
      </a:lvl9pPr>
    </p:bodyStyle>
    <p:otherStyle>
      <a:lvl1pPr xmlns:a="http://schemas.openxmlformats.org/drawingml/2006/main" marL="0" algn="l" defTabSz="685800">
        <a:buNone/>
        <a:defRPr sz="1350" kern="1200">
          <a:solidFill>
            <a:schemeClr val="tx1"/>
          </a:solidFill>
          <a:latin typeface="+mn-lt"/>
          <a:ea typeface="+mn-lt"/>
          <a:cs typeface="+mn-lt"/>
        </a:defRPr>
      </a:lvl1pPr>
      <a:lvl2pPr xmlns:a="http://schemas.openxmlformats.org/drawingml/2006/main" marL="342900" algn="l" defTabSz="685800">
        <a:buNone/>
        <a:defRPr sz="1350" kern="1200">
          <a:solidFill>
            <a:schemeClr val="tx1"/>
          </a:solidFill>
          <a:latin typeface="+mn-lt"/>
          <a:ea typeface="+mn-lt"/>
          <a:cs typeface="+mn-lt"/>
        </a:defRPr>
      </a:lvl2pPr>
      <a:lvl3pPr xmlns:a="http://schemas.openxmlformats.org/drawingml/2006/main" marL="685800" algn="l" defTabSz="685800">
        <a:buNone/>
        <a:defRPr sz="1350" kern="1200">
          <a:solidFill>
            <a:schemeClr val="tx1"/>
          </a:solidFill>
          <a:latin typeface="+mn-lt"/>
          <a:ea typeface="+mn-lt"/>
          <a:cs typeface="+mn-lt"/>
        </a:defRPr>
      </a:lvl3pPr>
      <a:lvl4pPr xmlns:a="http://schemas.openxmlformats.org/drawingml/2006/main" marL="1028700" algn="l" defTabSz="685800">
        <a:buNone/>
        <a:defRPr sz="1350" kern="1200">
          <a:solidFill>
            <a:schemeClr val="tx1"/>
          </a:solidFill>
          <a:latin typeface="+mn-lt"/>
          <a:ea typeface="+mn-lt"/>
          <a:cs typeface="+mn-lt"/>
        </a:defRPr>
      </a:lvl4pPr>
      <a:lvl5pPr xmlns:a="http://schemas.openxmlformats.org/drawingml/2006/main" marL="1371600" algn="l" defTabSz="685800">
        <a:buNone/>
        <a:defRPr sz="1350" kern="1200">
          <a:solidFill>
            <a:schemeClr val="tx1"/>
          </a:solidFill>
          <a:latin typeface="+mn-lt"/>
          <a:ea typeface="+mn-lt"/>
          <a:cs typeface="+mn-lt"/>
        </a:defRPr>
      </a:lvl5pPr>
      <a:lvl6pPr xmlns:a="http://schemas.openxmlformats.org/drawingml/2006/main" marL="1714500" algn="l" defTabSz="685800">
        <a:buNone/>
        <a:defRPr sz="1350" kern="1200">
          <a:solidFill>
            <a:schemeClr val="tx1"/>
          </a:solidFill>
          <a:latin typeface="+mn-lt"/>
          <a:ea typeface="+mn-lt"/>
          <a:cs typeface="+mn-lt"/>
        </a:defRPr>
      </a:lvl6pPr>
      <a:lvl7pPr xmlns:a="http://schemas.openxmlformats.org/drawingml/2006/main" marL="2057400" algn="l" defTabSz="685800">
        <a:buNone/>
        <a:defRPr sz="1350" kern="1200">
          <a:solidFill>
            <a:schemeClr val="tx1"/>
          </a:solidFill>
          <a:latin typeface="+mn-lt"/>
          <a:ea typeface="+mn-lt"/>
          <a:cs typeface="+mn-lt"/>
        </a:defRPr>
      </a:lvl7pPr>
      <a:lvl8pPr xmlns:a="http://schemas.openxmlformats.org/drawingml/2006/main" marL="2400300" algn="l" defTabSz="685800">
        <a:buNone/>
        <a:defRPr sz="1350" kern="1200">
          <a:solidFill>
            <a:schemeClr val="tx1"/>
          </a:solidFill>
          <a:latin typeface="+mn-lt"/>
          <a:ea typeface="+mn-lt"/>
          <a:cs typeface="+mn-lt"/>
        </a:defRPr>
      </a:lvl8pPr>
      <a:lvl9pPr xmlns:a="http://schemas.openxmlformats.org/drawingml/2006/main" marL="2743200" algn="l" defTabSz="685800">
        <a:buNone/>
        <a:defRPr sz="135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apstone Meeting">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45b7d591b9544fb6" /><Relationship Type="http://schemas.openxmlformats.org/officeDocument/2006/relationships/image" Target="/ppt/media/image4.png" Id="R90414cbbe9e14a92" /><Relationship Type="http://schemas.openxmlformats.org/officeDocument/2006/relationships/notesSlide" Target="/ppt/notesSlides/notesSlide1.xml" Id="Ree7996485fd84dba" /></Relationships>
</file>

<file path=ppt/slides/_rels/slide2.xml.rels>&#65279;<?xml version="1.0" encoding="utf-8"?><Relationships xmlns="http://schemas.openxmlformats.org/package/2006/relationships"><Relationship Type="http://schemas.openxmlformats.org/officeDocument/2006/relationships/slideLayout" Target="/ppt/slideLayouts/slideLayout2.xml" Id="Rf9ab2e00c1c84c11" /><Relationship Type="http://schemas.openxmlformats.org/officeDocument/2006/relationships/notesSlide" Target="/ppt/notesSlides/notesSlide2.xml" Id="Rc48a461128c74d48" /></Relationships>
</file>

<file path=ppt/slides/_rels/slide3.xml.rels>&#65279;<?xml version="1.0" encoding="utf-8"?><Relationships xmlns="http://schemas.openxmlformats.org/package/2006/relationships"><Relationship Type="http://schemas.openxmlformats.org/officeDocument/2006/relationships/slideLayout" Target="/ppt/slideLayouts/slideLayout2.xml" Id="R612b50b5e1c94df6" /><Relationship Type="http://schemas.openxmlformats.org/officeDocument/2006/relationships/notesSlide" Target="/ppt/notesSlides/notesSlide3.xml" Id="Ra3e10941e0184147" /></Relationships>
</file>

<file path=ppt/slides/_rels/slide4.xml.rels>&#65279;<?xml version="1.0" encoding="utf-8"?><Relationships xmlns="http://schemas.openxmlformats.org/package/2006/relationships"><Relationship Type="http://schemas.openxmlformats.org/officeDocument/2006/relationships/slideLayout" Target="/ppt/slideLayouts/slideLayout2.xml" Id="R28bb88cd3ba44aea" /><Relationship Type="http://schemas.openxmlformats.org/officeDocument/2006/relationships/notesSlide" Target="/ppt/notesSlides/notesSlide4.xml" Id="R8ba9723477354fe6" /></Relationships>
</file>

<file path=ppt/slides/_rels/slide5.xml.rels>&#65279;<?xml version="1.0" encoding="utf-8"?><Relationships xmlns="http://schemas.openxmlformats.org/package/2006/relationships"><Relationship Type="http://schemas.openxmlformats.org/officeDocument/2006/relationships/slideLayout" Target="/ppt/slideLayouts/slideLayout2.xml" Id="R98faf747ab704c72" /><Relationship Type="http://schemas.openxmlformats.org/officeDocument/2006/relationships/image" Target="/ppt/media/image5.png" Id="R7693ee331c2c4055" /><Relationship Type="http://schemas.openxmlformats.org/officeDocument/2006/relationships/notesSlide" Target="/ppt/notesSlides/notesSlide5.xml" Id="R0135b28cecc648c7"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31a4554da7d34442" /><Relationship Type="http://schemas.openxmlformats.org/officeDocument/2006/relationships/notesSlide" Target="/ppt/notesSlides/notesSlide6.xml" Id="R2ea52595ede6416e" /></Relationships>
</file>

<file path=ppt/slides/_rels/slide7.xml.rels>&#65279;<?xml version="1.0" encoding="utf-8"?><Relationships xmlns="http://schemas.openxmlformats.org/package/2006/relationships"><Relationship Type="http://schemas.openxmlformats.org/officeDocument/2006/relationships/slideLayout" Target="/ppt/slideLayouts/slideLayout2.xml" Id="R072b8b7d2c734b74" /><Relationship Type="http://schemas.openxmlformats.org/officeDocument/2006/relationships/image" Target="/ppt/media/image6.png" Id="Ra3bdee670ec646dd" /><Relationship Type="http://schemas.openxmlformats.org/officeDocument/2006/relationships/image" Target="/ppt/media/image7.png" Id="R3b7de2b02bc64d0d" /><Relationship Type="http://schemas.openxmlformats.org/officeDocument/2006/relationships/image" Target="/ppt/media/image8.png" Id="R71451d59594141a2" /><Relationship Type="http://schemas.openxmlformats.org/officeDocument/2006/relationships/notesSlide" Target="/ppt/notesSlides/notesSlide7.xml" Id="R058c6d8824f5457e" /></Relationships>
</file>

<file path=ppt/slides/_rels/slide8.xml.rels>&#65279;<?xml version="1.0" encoding="utf-8"?><Relationships xmlns="http://schemas.openxmlformats.org/package/2006/relationships"><Relationship Type="http://schemas.openxmlformats.org/officeDocument/2006/relationships/slideLayout" Target="/ppt/slideLayouts/slideLayout2.xml" Id="R5ec65b2985fc4e84" /><Relationship Type="http://schemas.openxmlformats.org/officeDocument/2006/relationships/image" Target="/ppt/media/image9.png" Id="R31c588fc8c4b471c" /><Relationship Type="http://schemas.openxmlformats.org/officeDocument/2006/relationships/notesSlide" Target="/ppt/notesSlides/notesSlide8.xml" Id="R13d750cdd44643fe" /></Relationships>
</file>

<file path=ppt/slides/_rels/slide9.xml.rels>&#65279;<?xml version="1.0" encoding="utf-8"?><Relationships xmlns="http://schemas.openxmlformats.org/package/2006/relationships"><Relationship Type="http://schemas.openxmlformats.org/officeDocument/2006/relationships/slideLayout" Target="/ppt/slideLayouts/slideLayout2.xml" Id="Re087492c351a4aef" /><Relationship Type="http://schemas.openxmlformats.org/officeDocument/2006/relationships/notesSlide" Target="/ppt/notesSlides/notesSlide9.xml" Id="R21d555f7eca84c0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1d6c58f89c8046dc" /><Relationship Type="http://schemas.openxmlformats.org/officeDocument/2006/relationships/notesSlide" Target="/ppt/notesSlides/notesSlide10.xml" Id="R2d8bdda22e294cb6"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24" name="Picture 4"/>
          <p:cNvPicPr>
            <a:picLocks xmlns:a="http://schemas.openxmlformats.org/drawingml/2006/main" noChangeAspect="1"/>
          </p:cNvPicPr>
          <p:nvPr/>
        </p:nvPicPr>
        <p:blipFill>
          <a:blip xmlns:r="http://schemas.openxmlformats.org/officeDocument/2006/relationships" xmlns:a="http://schemas.openxmlformats.org/drawingml/2006/main" r:embed="R90414cbbe9e14a92"/>
          <a:stretch xmlns:a="http://schemas.openxmlformats.org/drawingml/2006/main">
            <a:fillRect l="0" t="0" r="0" b="0"/>
          </a:stretch>
        </p:blipFill>
        <p:spPr>
          <a:xfrm xmlns:a="http://schemas.openxmlformats.org/drawingml/2006/main">
            <a:off x="594375" y="1743795"/>
            <a:ext cx="3290488" cy="1254499"/>
          </a:xfrm>
          <a:prstGeom xmlns:a="http://schemas.openxmlformats.org/drawingml/2006/main" prst="rect">
            <a:avLst/>
          </a:prstGeom>
        </p:spPr>
      </p:pic>
      <p:sp>
        <p:nvSpPr>
          <p:cNvPr id="2" name="Rectangle 1">
            <a:extLst xmlns:a="http://schemas.openxmlformats.org/drawingml/2006/main">
              <a:ext uri="{FF2B5EF4-FFF2-40B4-BE49-F238E27FC236}">
                <a16:creationId xmlns:a16="http://schemas.microsoft.com/office/drawing/2014/main" id="{07AD43B1-8B94-26CD-2746-B4F4D815FE52}"/>
              </a:ext>
            </a:extLst>
          </p:cNvPr>
          <p:cNvSpPr>
            <a:spLocks xmlns:a="http://schemas.openxmlformats.org/drawingml/2006/main" noGrp="1"/>
          </p:cNvSpPr>
          <p:nvPr/>
        </p:nvSpPr>
        <p:spPr>
          <a:xfrm xmlns:a="http://schemas.openxmlformats.org/drawingml/2006/main">
            <a:off x="4415831" y="1743795"/>
            <a:ext cx="45639" cy="1388569"/>
          </a:xfrm>
          <a:prstGeom xmlns:a="http://schemas.openxmlformats.org/drawingml/2006/main" prst="rect">
            <a:avLst/>
          </a:prstGeom>
          <a:solidFill xmlns:a="http://schemas.openxmlformats.org/drawingml/2006/main">
            <a:srgbClr val="9700FF"/>
          </a:solidFill>
          <a:ln xmlns:a="http://schemas.openxmlformats.org/drawingml/2006/main">
            <a:noFill/>
          </a:ln>
        </p:spPr>
        <p: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endParaRPr sz="1350"/>
          </a:p>
        </p:txBody>
      </p:sp>
      <p:sp>
        <p:nvSpPr>
          <p:cNvPr id="6" name="Rounded Rectangle 5">
            <a:extLst xmlns:a="http://schemas.openxmlformats.org/drawingml/2006/main">
              <a:ext uri="{FF2B5EF4-FFF2-40B4-BE49-F238E27FC236}">
                <a16:creationId xmlns:a16="http://schemas.microsoft.com/office/drawing/2014/main" id="{7F191284-600F-41DE-BA31-E922484C969A}"/>
              </a:ext>
            </a:extLst>
          </p:cNvPr>
          <p:cNvSpPr>
            <a:spLocks xmlns:a="http://schemas.openxmlformats.org/drawingml/2006/main" noGrp="1"/>
          </p:cNvSpPr>
          <p:nvPr/>
        </p:nvSpPr>
        <p:spPr>
          <a:xfrm xmlns:a="http://schemas.openxmlformats.org/drawingml/2006/main">
            <a:off x="3182112" y="658368"/>
            <a:ext cx="2788920" cy="310896"/>
          </a:xfrm>
          <a:prstGeom xmlns:a="http://schemas.openxmlformats.org/drawingml/2006/main" prst="roundRect">
            <a:avLst/>
          </a:prstGeom>
          <a:solidFill xmlns:a="http://schemas.openxmlformats.org/drawingml/2006/main">
            <a:srgbClr val="5B1D8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91B21BCC-3A70-409D-B88D-BE026A7CF6BC}"/>
              </a:ext>
            </a:extLst>
          </p:cNvPr>
          <p:cNvSpPr>
            <a:spLocks xmlns:a="http://schemas.openxmlformats.org/drawingml/2006/main" noGrp="1"/>
          </p:cNvSpPr>
          <p:nvPr/>
        </p:nvSpPr>
        <p:spPr>
          <a:xfrm xmlns:a="http://schemas.openxmlformats.org/drawingml/2006/main">
            <a:off x="3200400" y="672084"/>
            <a:ext cx="2752344" cy="246888"/>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lgn="ctr">
              <a:buNone/>
            </a:pPr>
            <a:r>
              <a:rPr sz="1100" b="1" i="0">
                <a:solidFill>
                  <a:srgbClr val="FFFFFF"/>
                </a:solidFill>
                <a:latin typeface="Aptos"/>
                <a:ea typeface="Aptos"/>
                <a:cs typeface="Aptos"/>
              </a:rPr>
              <a:t>FINAL CAPSTONE | PHASE 1 + PHASE 2</a:t>
            </a:r>
          </a:p>
        </p:txBody>
      </p:sp>
      <p:sp>
        <p:nvSpPr>
          <p:cNvPr id="8" name="TextBox 7">
            <a:extLst xmlns:a="http://schemas.openxmlformats.org/drawingml/2006/main">
              <a:ext uri="{FF2B5EF4-FFF2-40B4-BE49-F238E27FC236}">
                <a16:creationId xmlns:a16="http://schemas.microsoft.com/office/drawing/2014/main" id="{1E51AB0D-8415-46F3-8933-009FE0C60683}"/>
              </a:ext>
            </a:extLst>
          </p:cNvPr>
          <p:cNvSpPr>
            <a:spLocks xmlns:a="http://schemas.openxmlformats.org/drawingml/2006/main" noGrp="1"/>
          </p:cNvSpPr>
          <p:nvPr/>
        </p:nvSpPr>
        <p:spPr>
          <a:xfrm xmlns:a="http://schemas.openxmlformats.org/drawingml/2006/main">
            <a:off x="4736592" y="1874519"/>
            <a:ext cx="3337560" cy="256032"/>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000" b="1" i="0">
                <a:solidFill>
                  <a:srgbClr val="5B1D8C"/>
                </a:solidFill>
                <a:latin typeface="Aptos"/>
                <a:ea typeface="Aptos"/>
                <a:cs typeface="Aptos"/>
              </a:rPr>
              <a:t>PRESENTED BY</a:t>
            </a:r>
          </a:p>
        </p:txBody>
      </p:sp>
      <p:sp>
        <p:nvSpPr>
          <p:cNvPr id="9" name="TextBox 8">
            <a:extLst xmlns:a="http://schemas.openxmlformats.org/drawingml/2006/main">
              <a:ext uri="{FF2B5EF4-FFF2-40B4-BE49-F238E27FC236}">
                <a16:creationId xmlns:a16="http://schemas.microsoft.com/office/drawing/2014/main" id="{D73AA594-F6E9-4FAA-8B84-E1D23014A873}"/>
              </a:ext>
            </a:extLst>
          </p:cNvPr>
          <p:cNvSpPr>
            <a:spLocks xmlns:a="http://schemas.openxmlformats.org/drawingml/2006/main" noGrp="1"/>
          </p:cNvSpPr>
          <p:nvPr/>
        </p:nvSpPr>
        <p:spPr>
          <a:xfrm xmlns:a="http://schemas.openxmlformats.org/drawingml/2006/main">
            <a:off x="4736592" y="2176272"/>
            <a:ext cx="3337560" cy="640080"/>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600" b="1" i="0">
                <a:solidFill>
                  <a:srgbClr val="1E293B"/>
                </a:solidFill>
                <a:latin typeface="Aptos"/>
                <a:ea typeface="Aptos"/>
                <a:cs typeface="Aptos"/>
              </a:rPr>
              <a:t>Gautam Manchandani
2023EBCS209</a:t>
            </a:r>
          </a:p>
        </p:txBody>
      </p:sp>
      <p:sp>
        <p:nvSpPr>
          <p:cNvPr id="10" name="TextBox 9">
            <a:extLst xmlns:a="http://schemas.openxmlformats.org/drawingml/2006/main">
              <a:ext uri="{FF2B5EF4-FFF2-40B4-BE49-F238E27FC236}">
                <a16:creationId xmlns:a16="http://schemas.microsoft.com/office/drawing/2014/main" id="{52AC81F7-B264-45E4-91DF-4BA8DD7419F1}"/>
              </a:ext>
            </a:extLst>
          </p:cNvPr>
          <p:cNvSpPr>
            <a:spLocks xmlns:a="http://schemas.openxmlformats.org/drawingml/2006/main" noGrp="1"/>
          </p:cNvSpPr>
          <p:nvPr/>
        </p:nvSpPr>
        <p:spPr>
          <a:xfrm xmlns:a="http://schemas.openxmlformats.org/drawingml/2006/main">
            <a:off x="1005840" y="3456432"/>
            <a:ext cx="7132320" cy="475488"/>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ctr">
              <a:buNone/>
            </a:pPr>
            <a:r>
              <a:rPr sz="2900" b="1" i="0">
                <a:solidFill>
                  <a:srgbClr val="5B1D8C"/>
                </a:solidFill>
                <a:latin typeface="Aptos"/>
                <a:ea typeface="Aptos"/>
                <a:cs typeface="Aptos"/>
              </a:rPr>
              <a:t>FraudLens Bharat</a:t>
            </a:r>
          </a:p>
        </p:txBody>
      </p:sp>
      <p:sp>
        <p:nvSpPr>
          <p:cNvPr id="11" name="TextBox 10">
            <a:extLst xmlns:a="http://schemas.openxmlformats.org/drawingml/2006/main">
              <a:ext uri="{FF2B5EF4-FFF2-40B4-BE49-F238E27FC236}">
                <a16:creationId xmlns:a16="http://schemas.microsoft.com/office/drawing/2014/main" id="{36A9DFEC-6655-4CBD-93F6-F6AF42CF6A3A}"/>
              </a:ext>
            </a:extLst>
          </p:cNvPr>
          <p:cNvSpPr>
            <a:spLocks xmlns:a="http://schemas.openxmlformats.org/drawingml/2006/main" noGrp="1"/>
          </p:cNvSpPr>
          <p:nvPr/>
        </p:nvSpPr>
        <p:spPr>
          <a:xfrm xmlns:a="http://schemas.openxmlformats.org/drawingml/2006/main">
            <a:off x="1188720" y="3995928"/>
            <a:ext cx="6766560" cy="384048"/>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ctr">
              <a:buNone/>
            </a:pPr>
            <a:r>
              <a:rPr sz="1350" b="0" i="0">
                <a:solidFill>
                  <a:srgbClr val="475569"/>
                </a:solidFill>
                <a:latin typeface="Aptos"/>
                <a:ea typeface="Aptos"/>
                <a:cs typeface="Aptos"/>
              </a:rPr>
              <a:t>Explainable local cyber-fraud triage for Indian messages and screenshots</a:t>
            </a:r>
          </a:p>
        </p:txBody>
      </p:sp>
      <p:sp>
        <p:nvSpPr>
          <p:cNvPr id="12" name="TextBox 11">
            <a:extLst xmlns:a="http://schemas.openxmlformats.org/drawingml/2006/main">
              <a:ext uri="{FF2B5EF4-FFF2-40B4-BE49-F238E27FC236}">
                <a16:creationId xmlns:a16="http://schemas.microsoft.com/office/drawing/2014/main" id="{80E1CD0D-62C0-4BE5-98D1-9E5946E0B237}"/>
              </a:ext>
            </a:extLst>
          </p:cNvPr>
          <p:cNvSpPr>
            <a:spLocks xmlns:a="http://schemas.openxmlformats.org/drawingml/2006/main" noGrp="1"/>
          </p:cNvSpPr>
          <p:nvPr/>
        </p:nvSpPr>
        <p:spPr>
          <a:xfrm xmlns:a="http://schemas.openxmlformats.org/drawingml/2006/main">
            <a:off x="1005840" y="4626864"/>
            <a:ext cx="7132320" cy="292608"/>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ctr">
              <a:buNone/>
            </a:pPr>
            <a:r>
              <a:rPr sz="1150" b="1" i="0">
                <a:solidFill>
                  <a:srgbClr val="1E293B"/>
                </a:solidFill>
                <a:latin typeface="Aptos"/>
                <a:ea typeface="Aptos"/>
                <a:cs typeface="Aptos"/>
              </a:rPr>
              <a:t>BSc Computer Science  |  Academic Year 2025-2026</a:t>
            </a:r>
          </a:p>
        </p:txBody>
      </p:sp>
      <p:sp>
        <p:nvSpPr>
          <p:cNvPr id="13" name="TextBox 12">
            <a:extLst xmlns:a="http://schemas.openxmlformats.org/drawingml/2006/main">
              <a:ext uri="{FF2B5EF4-FFF2-40B4-BE49-F238E27FC236}">
                <a16:creationId xmlns:a16="http://schemas.microsoft.com/office/drawing/2014/main" id="{7D146BED-7DB4-4F9C-A068-30579021D819}"/>
              </a:ext>
            </a:extLst>
          </p:cNvPr>
          <p:cNvSpPr>
            <a:spLocks xmlns:a="http://schemas.openxmlformats.org/drawingml/2006/main" noGrp="1"/>
          </p:cNvSpPr>
          <p:nvPr/>
        </p:nvSpPr>
        <p:spPr>
          <a:xfrm xmlns:a="http://schemas.openxmlformats.org/drawingml/2006/main">
            <a:off x="1005840" y="4956048"/>
            <a:ext cx="7132320" cy="274320"/>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ctr">
              <a:buNone/>
            </a:pPr>
            <a:r>
              <a:rPr sz="1150" b="0" i="0">
                <a:solidFill>
                  <a:srgbClr val="1E293B"/>
                </a:solidFill>
                <a:latin typeface="Aptos"/>
                <a:ea typeface="Aptos"/>
                <a:cs typeface="Aptos"/>
              </a:rPr>
              <a:t>Under the guidance of Dr. Ashok Yemineni</a:t>
            </a:r>
          </a:p>
        </p:txBody>
      </p:sp>
      <p:sp>
        <p:nvSpPr>
          <p:cNvPr id="14" name="Rounded Rectangle 13">
            <a:extLst xmlns:a="http://schemas.openxmlformats.org/drawingml/2006/main">
              <a:ext uri="{FF2B5EF4-FFF2-40B4-BE49-F238E27FC236}">
                <a16:creationId xmlns:a16="http://schemas.microsoft.com/office/drawing/2014/main" id="{C45DDD74-A253-4865-9744-EADB8152662C}"/>
              </a:ext>
            </a:extLst>
          </p:cNvPr>
          <p:cNvSpPr>
            <a:spLocks xmlns:a="http://schemas.openxmlformats.org/drawingml/2006/main" noGrp="1"/>
          </p:cNvSpPr>
          <p:nvPr/>
        </p:nvSpPr>
        <p:spPr>
          <a:xfrm xmlns:a="http://schemas.openxmlformats.org/drawingml/2006/main">
            <a:off x="960120" y="5687568"/>
            <a:ext cx="2057400" cy="749808"/>
          </a:xfrm>
          <a:prstGeom xmlns:a="http://schemas.openxmlformats.org/drawingml/2006/main" prst="roundRect">
            <a:avLst/>
          </a:prstGeom>
          <a:solidFill xmlns:a="http://schemas.openxmlformats.org/drawingml/2006/main">
            <a:srgbClr val="E7F7F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4235EF8E-8051-4D01-9B20-D4586CAD0464}"/>
              </a:ext>
            </a:extLst>
          </p:cNvPr>
          <p:cNvSpPr>
            <a:spLocks xmlns:a="http://schemas.openxmlformats.org/drawingml/2006/main" noGrp="1"/>
          </p:cNvSpPr>
          <p:nvPr/>
        </p:nvSpPr>
        <p:spPr>
          <a:xfrm xmlns:a="http://schemas.openxmlformats.org/drawingml/2006/main">
            <a:off x="1033272" y="5760720"/>
            <a:ext cx="1911095" cy="329184"/>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ctr">
              <a:buNone/>
            </a:pPr>
            <a:r>
              <a:rPr sz="2000" b="1" i="0">
                <a:solidFill>
                  <a:srgbClr val="0097A7"/>
                </a:solidFill>
                <a:latin typeface="Aptos"/>
                <a:ea typeface="Aptos"/>
                <a:cs typeface="Aptos"/>
              </a:rPr>
              <a:t>8</a:t>
            </a:r>
          </a:p>
        </p:txBody>
      </p:sp>
      <p:sp>
        <p:nvSpPr>
          <p:cNvPr id="16" name="TextBox 15">
            <a:extLst xmlns:a="http://schemas.openxmlformats.org/drawingml/2006/main">
              <a:ext uri="{FF2B5EF4-FFF2-40B4-BE49-F238E27FC236}">
                <a16:creationId xmlns:a16="http://schemas.microsoft.com/office/drawing/2014/main" id="{E20F01B8-8AD9-447A-B6A3-E8190C571F39}"/>
              </a:ext>
            </a:extLst>
          </p:cNvPr>
          <p:cNvSpPr>
            <a:spLocks xmlns:a="http://schemas.openxmlformats.org/drawingml/2006/main" noGrp="1"/>
          </p:cNvSpPr>
          <p:nvPr/>
        </p:nvSpPr>
        <p:spPr>
          <a:xfrm xmlns:a="http://schemas.openxmlformats.org/drawingml/2006/main">
            <a:off x="1033272" y="6117336"/>
            <a:ext cx="1911095" cy="201168"/>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ctr">
              <a:buNone/>
            </a:pPr>
            <a:r>
              <a:rPr sz="919" b="0" i="0">
                <a:solidFill>
                  <a:srgbClr val="475569"/>
                </a:solidFill>
                <a:latin typeface="Aptos"/>
                <a:ea typeface="Aptos"/>
                <a:cs typeface="Aptos"/>
              </a:rPr>
              <a:t>fraud categories</a:t>
            </a:r>
          </a:p>
        </p:txBody>
      </p:sp>
      <p:sp>
        <p:nvSpPr>
          <p:cNvPr id="17" name="Rounded Rectangle 16">
            <a:extLst xmlns:a="http://schemas.openxmlformats.org/drawingml/2006/main">
              <a:ext uri="{FF2B5EF4-FFF2-40B4-BE49-F238E27FC236}">
                <a16:creationId xmlns:a16="http://schemas.microsoft.com/office/drawing/2014/main" id="{DA19E0DD-6BAE-4C6A-A8B0-12C38AA7DF7B}"/>
              </a:ext>
            </a:extLst>
          </p:cNvPr>
          <p:cNvSpPr>
            <a:spLocks xmlns:a="http://schemas.openxmlformats.org/drawingml/2006/main" noGrp="1"/>
          </p:cNvSpPr>
          <p:nvPr/>
        </p:nvSpPr>
        <p:spPr>
          <a:xfrm xmlns:a="http://schemas.openxmlformats.org/drawingml/2006/main">
            <a:off x="3520440" y="5687568"/>
            <a:ext cx="2057400" cy="749808"/>
          </a:xfrm>
          <a:prstGeom xmlns:a="http://schemas.openxmlformats.org/drawingml/2006/main" prst="roundRect">
            <a:avLst/>
          </a:prstGeom>
          <a:solidFill xmlns:a="http://schemas.openxmlformats.org/drawingml/2006/main">
            <a:srgbClr val="F6EFF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A38EF60B-4629-4CD8-B09F-44C13652C8EE}"/>
              </a:ext>
            </a:extLst>
          </p:cNvPr>
          <p:cNvSpPr>
            <a:spLocks xmlns:a="http://schemas.openxmlformats.org/drawingml/2006/main" noGrp="1"/>
          </p:cNvSpPr>
          <p:nvPr/>
        </p:nvSpPr>
        <p:spPr>
          <a:xfrm xmlns:a="http://schemas.openxmlformats.org/drawingml/2006/main">
            <a:off x="3593592" y="5760720"/>
            <a:ext cx="1911095" cy="451104"/>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ctr">
              <a:buNone/>
            </a:pPr>
            <a:r>
              <a:rPr sz="2000" b="1" i="0">
                <a:solidFill>
                  <a:srgbClr val="5B1D8C"/>
                </a:solidFill>
                <a:latin typeface="Aptos"/>
                <a:ea typeface="Aptos"/>
                <a:cs typeface="Aptos"/>
              </a:rPr>
              <a:t>369</a:t>
            </a:r>
          </a:p>
        </p:txBody>
      </p:sp>
      <p:sp>
        <p:nvSpPr>
          <p:cNvPr id="19" name="TextBox 18">
            <a:extLst xmlns:a="http://schemas.openxmlformats.org/drawingml/2006/main">
              <a:ext uri="{FF2B5EF4-FFF2-40B4-BE49-F238E27FC236}">
                <a16:creationId xmlns:a16="http://schemas.microsoft.com/office/drawing/2014/main" id="{C2C57C27-A55E-4C36-AB41-7209654411CA}"/>
              </a:ext>
            </a:extLst>
          </p:cNvPr>
          <p:cNvSpPr>
            <a:spLocks xmlns:a="http://schemas.openxmlformats.org/drawingml/2006/main" noGrp="1"/>
          </p:cNvSpPr>
          <p:nvPr/>
        </p:nvSpPr>
        <p:spPr>
          <a:xfrm xmlns:a="http://schemas.openxmlformats.org/drawingml/2006/main">
            <a:off x="3593592" y="6117336"/>
            <a:ext cx="1911095" cy="201168"/>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ctr">
              <a:buNone/>
            </a:pPr>
            <a:r>
              <a:rPr sz="919" b="0" i="0">
                <a:solidFill>
                  <a:srgbClr val="475569"/>
                </a:solidFill>
                <a:latin typeface="Aptos"/>
                <a:ea typeface="Aptos"/>
                <a:cs typeface="Aptos"/>
              </a:rPr>
              <a:t>automated tests</a:t>
            </a:r>
          </a:p>
        </p:txBody>
      </p:sp>
      <p:sp>
        <p:nvSpPr>
          <p:cNvPr id="20" name="Rounded Rectangle 19">
            <a:extLst xmlns:a="http://schemas.openxmlformats.org/drawingml/2006/main">
              <a:ext uri="{FF2B5EF4-FFF2-40B4-BE49-F238E27FC236}">
                <a16:creationId xmlns:a16="http://schemas.microsoft.com/office/drawing/2014/main" id="{1FF2A83F-5126-45FE-B8A4-10B441A93116}"/>
              </a:ext>
            </a:extLst>
          </p:cNvPr>
          <p:cNvSpPr>
            <a:spLocks xmlns:a="http://schemas.openxmlformats.org/drawingml/2006/main" noGrp="1"/>
          </p:cNvSpPr>
          <p:nvPr/>
        </p:nvSpPr>
        <p:spPr>
          <a:xfrm xmlns:a="http://schemas.openxmlformats.org/drawingml/2006/main">
            <a:off x="6080760" y="5687568"/>
            <a:ext cx="2057400" cy="749808"/>
          </a:xfrm>
          <a:prstGeom xmlns:a="http://schemas.openxmlformats.org/drawingml/2006/main" prst="roundRect">
            <a:avLst/>
          </a:prstGeom>
          <a:solidFill xmlns:a="http://schemas.openxmlformats.org/drawingml/2006/main">
            <a:srgbClr val="FFF8E1"/>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TextBox 20">
            <a:extLst xmlns:a="http://schemas.openxmlformats.org/drawingml/2006/main">
              <a:ext uri="{FF2B5EF4-FFF2-40B4-BE49-F238E27FC236}">
                <a16:creationId xmlns:a16="http://schemas.microsoft.com/office/drawing/2014/main" id="{2B858B10-4FCF-4416-B098-7841ACDCDDA1}"/>
              </a:ext>
            </a:extLst>
          </p:cNvPr>
          <p:cNvSpPr>
            <a:spLocks xmlns:a="http://schemas.openxmlformats.org/drawingml/2006/main" noGrp="1"/>
          </p:cNvSpPr>
          <p:nvPr/>
        </p:nvSpPr>
        <p:spPr>
          <a:xfrm xmlns:a="http://schemas.openxmlformats.org/drawingml/2006/main">
            <a:off x="6153912" y="5760720"/>
            <a:ext cx="1911095" cy="329184"/>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ctr">
              <a:buNone/>
            </a:pPr>
            <a:r>
              <a:rPr sz="2000" b="1" i="0">
                <a:solidFill>
                  <a:srgbClr val="E2B11F"/>
                </a:solidFill>
                <a:latin typeface="Aptos"/>
                <a:ea typeface="Aptos"/>
                <a:cs typeface="Aptos"/>
              </a:rPr>
              <a:t>2</a:t>
            </a:r>
          </a:p>
        </p:txBody>
      </p:sp>
      <p:sp>
        <p:nvSpPr>
          <p:cNvPr id="22" name="TextBox 21">
            <a:extLst xmlns:a="http://schemas.openxmlformats.org/drawingml/2006/main">
              <a:ext uri="{FF2B5EF4-FFF2-40B4-BE49-F238E27FC236}">
                <a16:creationId xmlns:a16="http://schemas.microsoft.com/office/drawing/2014/main" id="{4A9FF389-9813-4282-A239-0270FD62D991}"/>
              </a:ext>
            </a:extLst>
          </p:cNvPr>
          <p:cNvSpPr>
            <a:spLocks xmlns:a="http://schemas.openxmlformats.org/drawingml/2006/main" noGrp="1"/>
          </p:cNvSpPr>
          <p:nvPr/>
        </p:nvSpPr>
        <p:spPr>
          <a:xfrm xmlns:a="http://schemas.openxmlformats.org/drawingml/2006/main">
            <a:off x="6153912" y="6117336"/>
            <a:ext cx="1911095" cy="201168"/>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ctr">
              <a:buNone/>
            </a:pPr>
            <a:r>
              <a:rPr sz="919" b="0" i="0">
                <a:solidFill>
                  <a:srgbClr val="475569"/>
                </a:solidFill>
                <a:latin typeface="Aptos"/>
                <a:ea typeface="Aptos"/>
                <a:cs typeface="Aptos"/>
              </a:rPr>
              <a:t>text + screenshot inputs</a:t>
            </a:r>
          </a:p>
        </p:txBody>
      </p:sp>
    </p:spTree>
    <p:extLst>
      <p:ext uri="{BB962C8B-B14F-4D97-AF65-F5344CB8AC3E}">
        <p14:creationId xmlns:p14="http://schemas.microsoft.com/office/powerpoint/2010/main" val="283514997"/>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B182C4D9-8135-4B22-9876-5DBADBA9B0B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rPr b="1">
                <a:solidFill>
                  <a:srgbClr val="1E293B"/>
                </a:solidFill>
                <a:latin typeface="Aptos Display"/>
                <a:ea typeface="Aptos Display"/>
                <a:cs typeface="Aptos Display"/>
              </a:rPr>
              <a:t>Problem Statement</a:t>
            </a:r>
          </a:p>
        </p:txBody>
      </p:sp>
      <p:sp>
        <p:nvSpPr>
          <p:cNvPr id="3" name="TextBox 2">
            <a:extLst xmlns:a="http://schemas.openxmlformats.org/drawingml/2006/main">
              <a:ext uri="{FF2B5EF4-FFF2-40B4-BE49-F238E27FC236}">
                <a16:creationId xmlns:a16="http://schemas.microsoft.com/office/drawing/2014/main" id="{460CB11C-A963-406A-865E-46257AF71972}"/>
              </a:ext>
            </a:extLst>
          </p:cNvPr>
          <p:cNvSpPr>
            <a:spLocks xmlns:a="http://schemas.openxmlformats.org/drawingml/2006/main" noGrp="1"/>
          </p:cNvSpPr>
          <p:nvPr/>
        </p:nvSpPr>
        <p:spPr>
          <a:xfrm xmlns:a="http://schemas.openxmlformats.org/drawingml/2006/main">
            <a:off x="502920" y="960120"/>
            <a:ext cx="8001000" cy="320040"/>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100" b="0" i="0">
                <a:solidFill>
                  <a:srgbClr val="475569"/>
                </a:solidFill>
                <a:latin typeface="Aptos"/>
                <a:ea typeface="Aptos"/>
                <a:cs typeface="Aptos"/>
              </a:rPr>
              <a:t>From mixed-language scam evidence to a structured, reviewable complaint draft</a:t>
            </a:r>
          </a:p>
        </p:txBody>
      </p:sp>
      <p:sp>
        <p:nvSpPr>
          <p:cNvPr id="4" name="Rounded Rectangle 3">
            <a:extLst xmlns:a="http://schemas.openxmlformats.org/drawingml/2006/main">
              <a:ext uri="{FF2B5EF4-FFF2-40B4-BE49-F238E27FC236}">
                <a16:creationId xmlns:a16="http://schemas.microsoft.com/office/drawing/2014/main" id="{6618F47B-E1A0-42EC-B3E1-EACFCA71A4AE}"/>
              </a:ext>
            </a:extLst>
          </p:cNvPr>
          <p:cNvSpPr>
            <a:spLocks xmlns:a="http://schemas.openxmlformats.org/drawingml/2006/main" noGrp="1"/>
          </p:cNvSpPr>
          <p:nvPr/>
        </p:nvSpPr>
        <p:spPr>
          <a:xfrm xmlns:a="http://schemas.openxmlformats.org/drawingml/2006/main">
            <a:off x="502920" y="1417320"/>
            <a:ext cx="2487168" cy="1207008"/>
          </a:xfrm>
          <a:prstGeom xmlns:a="http://schemas.openxmlformats.org/drawingml/2006/main" prst="roundRect">
            <a:avLst/>
          </a:prstGeom>
          <a:solidFill xmlns:a="http://schemas.openxmlformats.org/drawingml/2006/main">
            <a:srgbClr val="F6EFFA"/>
          </a:solidFill>
          <a:ln xmlns:a="http://schemas.openxmlformats.org/drawingml/2006/main" w="8890">
            <a:solidFill>
              <a:srgbClr val="E1E1E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Rectangle 4">
            <a:extLst xmlns:a="http://schemas.openxmlformats.org/drawingml/2006/main">
              <a:ext uri="{FF2B5EF4-FFF2-40B4-BE49-F238E27FC236}">
                <a16:creationId xmlns:a16="http://schemas.microsoft.com/office/drawing/2014/main" id="{D5CFA602-C51A-445D-9DA6-C810BEFA5F0B}"/>
              </a:ext>
            </a:extLst>
          </p:cNvPr>
          <p:cNvSpPr>
            <a:spLocks xmlns:a="http://schemas.openxmlformats.org/drawingml/2006/main" noGrp="1"/>
          </p:cNvSpPr>
          <p:nvPr/>
        </p:nvSpPr>
        <p:spPr>
          <a:xfrm xmlns:a="http://schemas.openxmlformats.org/drawingml/2006/main">
            <a:off x="502920" y="1417320"/>
            <a:ext cx="73152" cy="1207008"/>
          </a:xfrm>
          <a:prstGeom xmlns:a="http://schemas.openxmlformats.org/drawingml/2006/main" prst="rect">
            <a:avLst/>
          </a:prstGeom>
          <a:solidFill xmlns:a="http://schemas.openxmlformats.org/drawingml/2006/main">
            <a:srgbClr val="5B1D8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92456D7B-D240-4C86-BA10-573EEFE29DA7}"/>
              </a:ext>
            </a:extLst>
          </p:cNvPr>
          <p:cNvSpPr>
            <a:spLocks xmlns:a="http://schemas.openxmlformats.org/drawingml/2006/main" noGrp="1"/>
          </p:cNvSpPr>
          <p:nvPr/>
        </p:nvSpPr>
        <p:spPr>
          <a:xfrm xmlns:a="http://schemas.openxmlformats.org/drawingml/2006/main">
            <a:off x="667512" y="1527048"/>
            <a:ext cx="2212848" cy="256032"/>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500" b="1" i="0">
                <a:solidFill>
                  <a:srgbClr val="5B1D8C"/>
                </a:solidFill>
                <a:latin typeface="Aptos"/>
                <a:ea typeface="Aptos"/>
                <a:cs typeface="Aptos"/>
              </a:rPr>
              <a:t>Unstructured evidence</a:t>
            </a:r>
          </a:p>
        </p:txBody>
      </p:sp>
      <p:sp>
        <p:nvSpPr>
          <p:cNvPr id="7" name="TextBox 6">
            <a:extLst xmlns:a="http://schemas.openxmlformats.org/drawingml/2006/main">
              <a:ext uri="{FF2B5EF4-FFF2-40B4-BE49-F238E27FC236}">
                <a16:creationId xmlns:a16="http://schemas.microsoft.com/office/drawing/2014/main" id="{F4D7002D-A3C9-4EE4-84FB-80B78C909B7E}"/>
              </a:ext>
            </a:extLst>
          </p:cNvPr>
          <p:cNvSpPr>
            <a:spLocks xmlns:a="http://schemas.openxmlformats.org/drawingml/2006/main" noGrp="1"/>
          </p:cNvSpPr>
          <p:nvPr/>
        </p:nvSpPr>
        <p:spPr>
          <a:xfrm xmlns:a="http://schemas.openxmlformats.org/drawingml/2006/main">
            <a:off x="667512" y="1856232"/>
            <a:ext cx="2212848" cy="694944"/>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150" b="0" i="0">
                <a:solidFill>
                  <a:srgbClr val="1E293B"/>
                </a:solidFill>
                <a:latin typeface="Aptos"/>
                <a:ea typeface="Aptos"/>
                <a:cs typeface="Aptos"/>
              </a:rPr>
              <a:t>SMS, WhatsApp, email, URL, UPI ID or screenshot; English, Hindi and Romanized Hinglish.</a:t>
            </a:r>
          </a:p>
        </p:txBody>
      </p:sp>
      <p:sp>
        <p:nvSpPr>
          <p:cNvPr id="8" name="Rounded Rectangle 7">
            <a:extLst xmlns:a="http://schemas.openxmlformats.org/drawingml/2006/main">
              <a:ext uri="{FF2B5EF4-FFF2-40B4-BE49-F238E27FC236}">
                <a16:creationId xmlns:a16="http://schemas.microsoft.com/office/drawing/2014/main" id="{1E82D1AE-69BD-432C-AE70-1B1AABEEF5F9}"/>
              </a:ext>
            </a:extLst>
          </p:cNvPr>
          <p:cNvSpPr>
            <a:spLocks xmlns:a="http://schemas.openxmlformats.org/drawingml/2006/main" noGrp="1"/>
          </p:cNvSpPr>
          <p:nvPr/>
        </p:nvSpPr>
        <p:spPr>
          <a:xfrm xmlns:a="http://schemas.openxmlformats.org/drawingml/2006/main">
            <a:off x="502920" y="2788920"/>
            <a:ext cx="2487168" cy="1207008"/>
          </a:xfrm>
          <a:prstGeom xmlns:a="http://schemas.openxmlformats.org/drawingml/2006/main" prst="roundRect">
            <a:avLst/>
          </a:prstGeom>
          <a:solidFill xmlns:a="http://schemas.openxmlformats.org/drawingml/2006/main">
            <a:srgbClr val="E7F7F7"/>
          </a:solidFill>
          <a:ln xmlns:a="http://schemas.openxmlformats.org/drawingml/2006/main" w="8890">
            <a:solidFill>
              <a:srgbClr val="E1E1E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Rectangle 8">
            <a:extLst xmlns:a="http://schemas.openxmlformats.org/drawingml/2006/main">
              <a:ext uri="{FF2B5EF4-FFF2-40B4-BE49-F238E27FC236}">
                <a16:creationId xmlns:a16="http://schemas.microsoft.com/office/drawing/2014/main" id="{10E819C8-B341-4267-862C-1FE097C31743}"/>
              </a:ext>
            </a:extLst>
          </p:cNvPr>
          <p:cNvSpPr>
            <a:spLocks xmlns:a="http://schemas.openxmlformats.org/drawingml/2006/main" noGrp="1"/>
          </p:cNvSpPr>
          <p:nvPr/>
        </p:nvSpPr>
        <p:spPr>
          <a:xfrm xmlns:a="http://schemas.openxmlformats.org/drawingml/2006/main">
            <a:off x="502920" y="2788920"/>
            <a:ext cx="73152" cy="1207008"/>
          </a:xfrm>
          <a:prstGeom xmlns:a="http://schemas.openxmlformats.org/drawingml/2006/main" prst="rect">
            <a:avLst/>
          </a:prstGeom>
          <a:solidFill xmlns:a="http://schemas.openxmlformats.org/drawingml/2006/main">
            <a:srgbClr val="0097A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2C575DC7-4261-4D08-B59C-41CFDD82F9AE}"/>
              </a:ext>
            </a:extLst>
          </p:cNvPr>
          <p:cNvSpPr>
            <a:spLocks xmlns:a="http://schemas.openxmlformats.org/drawingml/2006/main" noGrp="1"/>
          </p:cNvSpPr>
          <p:nvPr/>
        </p:nvSpPr>
        <p:spPr>
          <a:xfrm xmlns:a="http://schemas.openxmlformats.org/drawingml/2006/main">
            <a:off x="667512" y="2898648"/>
            <a:ext cx="2212848" cy="256032"/>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500" b="1" i="0">
                <a:solidFill>
                  <a:srgbClr val="0097A7"/>
                </a:solidFill>
                <a:latin typeface="Aptos"/>
                <a:ea typeface="Aptos"/>
                <a:cs typeface="Aptos"/>
              </a:rPr>
              <a:t>Evidence loss</a:t>
            </a:r>
          </a:p>
        </p:txBody>
      </p:sp>
      <p:sp>
        <p:nvSpPr>
          <p:cNvPr id="11" name="TextBox 10">
            <a:extLst xmlns:a="http://schemas.openxmlformats.org/drawingml/2006/main">
              <a:ext uri="{FF2B5EF4-FFF2-40B4-BE49-F238E27FC236}">
                <a16:creationId xmlns:a16="http://schemas.microsoft.com/office/drawing/2014/main" id="{04B1A865-7CA8-49BB-A1F0-30F0B660B4C0}"/>
              </a:ext>
            </a:extLst>
          </p:cNvPr>
          <p:cNvSpPr>
            <a:spLocks xmlns:a="http://schemas.openxmlformats.org/drawingml/2006/main" noGrp="1"/>
          </p:cNvSpPr>
          <p:nvPr/>
        </p:nvSpPr>
        <p:spPr>
          <a:xfrm xmlns:a="http://schemas.openxmlformats.org/drawingml/2006/main">
            <a:off x="667512" y="3227832"/>
            <a:ext cx="2212848" cy="694944"/>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150" b="0" i="0">
                <a:solidFill>
                  <a:srgbClr val="1E293B"/>
                </a:solidFill>
                <a:latin typeface="Aptos"/>
                <a:ea typeface="Aptos"/>
                <a:cs typeface="Aptos"/>
              </a:rPr>
              <a:t>A category label alone can miss the phone, amount, URL, OTP request, threat and urgency.</a:t>
            </a:r>
          </a:p>
        </p:txBody>
      </p:sp>
      <p:sp>
        <p:nvSpPr>
          <p:cNvPr id="12" name="Rounded Rectangle 11">
            <a:extLst xmlns:a="http://schemas.openxmlformats.org/drawingml/2006/main">
              <a:ext uri="{FF2B5EF4-FFF2-40B4-BE49-F238E27FC236}">
                <a16:creationId xmlns:a16="http://schemas.microsoft.com/office/drawing/2014/main" id="{1372B944-5679-454F-83DB-4B51992CDDA7}"/>
              </a:ext>
            </a:extLst>
          </p:cNvPr>
          <p:cNvSpPr>
            <a:spLocks xmlns:a="http://schemas.openxmlformats.org/drawingml/2006/main" noGrp="1"/>
          </p:cNvSpPr>
          <p:nvPr/>
        </p:nvSpPr>
        <p:spPr>
          <a:xfrm xmlns:a="http://schemas.openxmlformats.org/drawingml/2006/main">
            <a:off x="502920" y="4160520"/>
            <a:ext cx="2487168" cy="1207008"/>
          </a:xfrm>
          <a:prstGeom xmlns:a="http://schemas.openxmlformats.org/drawingml/2006/main" prst="roundRect">
            <a:avLst/>
          </a:prstGeom>
          <a:solidFill xmlns:a="http://schemas.openxmlformats.org/drawingml/2006/main">
            <a:srgbClr val="FDEEEF"/>
          </a:solidFill>
          <a:ln xmlns:a="http://schemas.openxmlformats.org/drawingml/2006/main" w="8890">
            <a:solidFill>
              <a:srgbClr val="E1E1E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Rectangle 12">
            <a:extLst xmlns:a="http://schemas.openxmlformats.org/drawingml/2006/main">
              <a:ext uri="{FF2B5EF4-FFF2-40B4-BE49-F238E27FC236}">
                <a16:creationId xmlns:a16="http://schemas.microsoft.com/office/drawing/2014/main" id="{30F48732-3C01-4CFF-92F1-5391F82F75FB}"/>
              </a:ext>
            </a:extLst>
          </p:cNvPr>
          <p:cNvSpPr>
            <a:spLocks xmlns:a="http://schemas.openxmlformats.org/drawingml/2006/main" noGrp="1"/>
          </p:cNvSpPr>
          <p:nvPr/>
        </p:nvSpPr>
        <p:spPr>
          <a:xfrm xmlns:a="http://schemas.openxmlformats.org/drawingml/2006/main">
            <a:off x="502920" y="4160520"/>
            <a:ext cx="73152" cy="1207008"/>
          </a:xfrm>
          <a:prstGeom xmlns:a="http://schemas.openxmlformats.org/drawingml/2006/main" prst="rect">
            <a:avLst/>
          </a:prstGeom>
          <a:solidFill xmlns:a="http://schemas.openxmlformats.org/drawingml/2006/main">
            <a:srgbClr val="A9233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81EFB4F1-C03A-4C4F-9C8C-18C36EAF999B}"/>
              </a:ext>
            </a:extLst>
          </p:cNvPr>
          <p:cNvSpPr>
            <a:spLocks xmlns:a="http://schemas.openxmlformats.org/drawingml/2006/main" noGrp="1"/>
          </p:cNvSpPr>
          <p:nvPr/>
        </p:nvSpPr>
        <p:spPr>
          <a:xfrm xmlns:a="http://schemas.openxmlformats.org/drawingml/2006/main">
            <a:off x="667512" y="4270248"/>
            <a:ext cx="2212848" cy="256032"/>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500" b="1" i="0">
                <a:solidFill>
                  <a:srgbClr val="A92330"/>
                </a:solidFill>
                <a:latin typeface="Aptos"/>
                <a:ea typeface="Aptos"/>
                <a:cs typeface="Aptos"/>
              </a:rPr>
              <a:t>Unsafe automation</a:t>
            </a:r>
          </a:p>
        </p:txBody>
      </p:sp>
      <p:sp>
        <p:nvSpPr>
          <p:cNvPr id="15" name="TextBox 14">
            <a:extLst xmlns:a="http://schemas.openxmlformats.org/drawingml/2006/main">
              <a:ext uri="{FF2B5EF4-FFF2-40B4-BE49-F238E27FC236}">
                <a16:creationId xmlns:a16="http://schemas.microsoft.com/office/drawing/2014/main" id="{BB459115-EF0B-4FC3-A682-DFB4CF25E621}"/>
              </a:ext>
            </a:extLst>
          </p:cNvPr>
          <p:cNvSpPr>
            <a:spLocks xmlns:a="http://schemas.openxmlformats.org/drawingml/2006/main" noGrp="1"/>
          </p:cNvSpPr>
          <p:nvPr/>
        </p:nvSpPr>
        <p:spPr>
          <a:xfrm xmlns:a="http://schemas.openxmlformats.org/drawingml/2006/main">
            <a:off x="667512" y="4599431"/>
            <a:ext cx="2212848" cy="694944"/>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150" b="0" i="0">
                <a:solidFill>
                  <a:srgbClr val="1E293B"/>
                </a:solidFill>
                <a:latin typeface="Aptos"/>
                <a:ea typeface="Aptos"/>
                <a:cs typeface="Aptos"/>
              </a:rPr>
              <a:t>Hidden uncertainty or silent storage can amplify harm when a prediction is wrong.</a:t>
            </a:r>
          </a:p>
        </p:txBody>
      </p:sp>
      <p:sp>
        <p:nvSpPr>
          <p:cNvPr id="16" name="Rounded Rectangle 15">
            <a:extLst xmlns:a="http://schemas.openxmlformats.org/drawingml/2006/main">
              <a:ext uri="{FF2B5EF4-FFF2-40B4-BE49-F238E27FC236}">
                <a16:creationId xmlns:a16="http://schemas.microsoft.com/office/drawing/2014/main" id="{2CF1E76D-3FC7-46D2-A0EC-5B4B7944DFBE}"/>
              </a:ext>
            </a:extLst>
          </p:cNvPr>
          <p:cNvSpPr>
            <a:spLocks xmlns:a="http://schemas.openxmlformats.org/drawingml/2006/main" noGrp="1"/>
          </p:cNvSpPr>
          <p:nvPr/>
        </p:nvSpPr>
        <p:spPr>
          <a:xfrm xmlns:a="http://schemas.openxmlformats.org/drawingml/2006/main">
            <a:off x="3310128" y="1417320"/>
            <a:ext cx="5285232" cy="3950208"/>
          </a:xfrm>
          <a:prstGeom xmlns:a="http://schemas.openxmlformats.org/drawingml/2006/main" prst="roundRect">
            <a:avLst/>
          </a:prstGeom>
          <a:solidFill xmlns:a="http://schemas.openxmlformats.org/drawingml/2006/main">
            <a:srgbClr val="F7F6FA"/>
          </a:solidFill>
          <a:ln xmlns:a="http://schemas.openxmlformats.org/drawingml/2006/main" w="12700">
            <a:solidFill>
              <a:srgbClr val="DEDAE4"/>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228600" tIns="228600" rIns="228600" bIns="228600" anchor="ctr"/>
          <a:lstStyle xmlns:a="http://schemas.openxmlformats.org/drawingml/2006/main"/>
          <a:p xmlns:a="http://schemas.openxmlformats.org/drawingml/2006/main">
            <a:pPr algn="l">
              <a:spcAft>
                <a:spcPts val="500"/>
              </a:spcAft>
              <a:buNone/>
              <a:defRPr sz="1100" b="1" i="0">
                <a:solidFill>
                  <a:srgbClr val="5B1D8C"/>
                </a:solidFill>
                <a:latin typeface="Aptos"/>
                <a:ea typeface="Aptos"/>
                <a:cs typeface="Aptos"/>
              </a:defRPr>
            </a:pPr>
            <a:r>
              <a:t>TYPICAL RAW INPUT</a:t>
            </a:r>
          </a:p>
          <a:p xmlns:a="http://schemas.openxmlformats.org/drawingml/2006/main">
            <a:pPr algn="l">
              <a:spcAft>
                <a:spcPts val="1800"/>
              </a:spcAft>
              <a:buNone/>
              <a:defRPr sz="1700" b="1" i="0">
                <a:solidFill>
                  <a:srgbClr val="1E293B"/>
                </a:solidFill>
                <a:latin typeface="Aptos"/>
                <a:ea typeface="Aptos"/>
                <a:cs typeface="Aptos"/>
              </a:defRPr>
            </a:pPr>
            <a:r>
              <a:t>Your KYC expires today. Verify now at fraud-demo.example or your account will be blocked.</a:t>
            </a:r>
          </a:p>
          <a:p xmlns:a="http://schemas.openxmlformats.org/drawingml/2006/main">
            <a:pPr algn="l">
              <a:spcAft>
                <a:spcPts val="500"/>
              </a:spcAft>
              <a:buNone/>
              <a:defRPr sz="1100" b="1" i="0">
                <a:solidFill>
                  <a:srgbClr val="0097A7"/>
                </a:solidFill>
                <a:latin typeface="Aptos"/>
                <a:ea typeface="Aptos"/>
                <a:cs typeface="Aptos"/>
              </a:defRPr>
            </a:pPr>
            <a:r>
              <a:t>FRAUDLENS OUTPUT</a:t>
            </a:r>
          </a:p>
          <a:p xmlns:a="http://schemas.openxmlformats.org/drawingml/2006/main">
            <a:pPr algn="l">
              <a:spcAft>
                <a:spcPts val="500"/>
              </a:spcAft>
              <a:buNone/>
              <a:defRPr sz="1350" b="1" i="0">
                <a:solidFill>
                  <a:srgbClr val="1E293B"/>
                </a:solidFill>
                <a:latin typeface="Aptos"/>
                <a:ea typeface="Aptos"/>
                <a:cs typeface="Aptos"/>
              </a:defRPr>
            </a:pPr>
            <a:r>
              <a:t>Scam category + confidence / abstention</a:t>
            </a:r>
          </a:p>
          <a:p xmlns:a="http://schemas.openxmlformats.org/drawingml/2006/main">
            <a:pPr algn="l">
              <a:spcAft>
                <a:spcPts val="500"/>
              </a:spcAft>
              <a:buNone/>
              <a:defRPr sz="1350" b="1" i="0">
                <a:solidFill>
                  <a:srgbClr val="1E293B"/>
                </a:solidFill>
                <a:latin typeface="Aptos"/>
                <a:ea typeface="Aptos"/>
                <a:cs typeface="Aptos"/>
              </a:defRPr>
            </a:pPr>
            <a:r>
              <a:t>Extracted evidence and URL signals</a:t>
            </a:r>
          </a:p>
          <a:p xmlns:a="http://schemas.openxmlformats.org/drawingml/2006/main">
            <a:pPr algn="l">
              <a:spcAft>
                <a:spcPts val="500"/>
              </a:spcAft>
              <a:buNone/>
              <a:defRPr sz="1350" b="1" i="0">
                <a:solidFill>
                  <a:srgbClr val="1E293B"/>
                </a:solidFill>
                <a:latin typeface="Aptos"/>
                <a:ea typeface="Aptos"/>
                <a:cs typeface="Aptos"/>
              </a:defRPr>
            </a:pPr>
            <a:r>
              <a:t>Risk reasons and complaint-ready draft</a:t>
            </a:r>
          </a:p>
          <a:p xmlns:a="http://schemas.openxmlformats.org/drawingml/2006/main">
            <a:pPr algn="l">
              <a:spcAft>
                <a:spcPts val="0"/>
              </a:spcAft>
              <a:buNone/>
              <a:defRPr sz="1150" b="1" i="0">
                <a:solidFill>
                  <a:srgbClr val="A92330"/>
                </a:solidFill>
                <a:latin typeface="Aptos"/>
                <a:ea typeface="Aptos"/>
                <a:cs typeface="Aptos"/>
              </a:defRPr>
            </a:pPr>
            <a:r>
              <a:t>Human review required; no automatic filing or legal decision.</a:t>
            </a:r>
          </a:p>
        </p:txBody>
      </p:sp>
      <p:sp>
        <p:nvSpPr>
          <p:cNvPr id="17" name="TextBox 16">
            <a:extLst xmlns:a="http://schemas.openxmlformats.org/drawingml/2006/main">
              <a:ext uri="{FF2B5EF4-FFF2-40B4-BE49-F238E27FC236}">
                <a16:creationId xmlns:a16="http://schemas.microsoft.com/office/drawing/2014/main" id="{3EFC297B-BF4D-4D02-8C1A-97AE26D9F814}"/>
              </a:ext>
            </a:extLst>
          </p:cNvPr>
          <p:cNvSpPr>
            <a:spLocks xmlns:a="http://schemas.openxmlformats.org/drawingml/2006/main" noGrp="1"/>
          </p:cNvSpPr>
          <p:nvPr/>
        </p:nvSpPr>
        <p:spPr>
          <a:xfrm xmlns:a="http://schemas.openxmlformats.org/drawingml/2006/main">
            <a:off x="502920" y="6528816"/>
            <a:ext cx="7818120" cy="201168"/>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830" b="0" i="0">
                <a:solidFill>
                  <a:srgbClr val="475569"/>
                </a:solidFill>
                <a:latin typeface="Aptos"/>
                <a:ea typeface="Aptos"/>
                <a:cs typeface="Aptos"/>
              </a:rPr>
              <a:t>Scope: assistive local triage for synthetic educational evidence</a:t>
            </a:r>
          </a:p>
        </p:txBody>
      </p:sp>
      <p:sp>
        <p:nvSpPr>
          <p:cNvPr id="18" name="TextBox 17">
            <a:extLst xmlns:a="http://schemas.openxmlformats.org/drawingml/2006/main">
              <a:ext uri="{FF2B5EF4-FFF2-40B4-BE49-F238E27FC236}">
                <a16:creationId xmlns:a16="http://schemas.microsoft.com/office/drawing/2014/main" id="{3A3F4E11-E441-4F59-A8CF-FACD37D8EC75}"/>
              </a:ext>
            </a:extLst>
          </p:cNvPr>
          <p:cNvSpPr>
            <a:spLocks xmlns:a="http://schemas.openxmlformats.org/drawingml/2006/main" noGrp="1"/>
          </p:cNvSpPr>
          <p:nvPr/>
        </p:nvSpPr>
        <p:spPr>
          <a:xfrm xmlns:a="http://schemas.openxmlformats.org/drawingml/2006/main">
            <a:off x="8394192" y="6528816"/>
            <a:ext cx="274320" cy="182880"/>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r">
              <a:buNone/>
            </a:pPr>
            <a:r>
              <a:rPr sz="800" b="1" i="0">
                <a:solidFill>
                  <a:srgbClr val="5B1D8C"/>
                </a:solidFill>
                <a:latin typeface="Aptos"/>
                <a:ea typeface="Aptos"/>
                <a:cs typeface="Aptos"/>
              </a:rPr>
              <a:t>2</a:t>
            </a:r>
          </a:p>
        </p:txBody>
      </p:sp>
    </p:spTree>
    <p:extLst>
      <p:ext uri="{BB962C8B-B14F-4D97-AF65-F5344CB8AC3E}">
        <p14:creationId xmlns:p14="http://schemas.microsoft.com/office/powerpoint/2010/main" val="206646872"/>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FE96036-2A85-4025-953D-0579C94780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rPr b="1">
                <a:solidFill>
                  <a:srgbClr val="1E293B"/>
                </a:solidFill>
                <a:latin typeface="Aptos Display"/>
                <a:ea typeface="Aptos Display"/>
                <a:cs typeface="Aptos Display"/>
              </a:rPr>
              <a:t>Objectives &amp; Scope</a:t>
            </a:r>
          </a:p>
        </p:txBody>
      </p:sp>
      <p:sp>
        <p:nvSpPr>
          <p:cNvPr id="3" name="TextBox 2">
            <a:extLst xmlns:a="http://schemas.openxmlformats.org/drawingml/2006/main">
              <a:ext uri="{FF2B5EF4-FFF2-40B4-BE49-F238E27FC236}">
                <a16:creationId xmlns:a16="http://schemas.microsoft.com/office/drawing/2014/main" id="{6E22DED7-912E-48D0-BFB0-21FFF774FC27}"/>
              </a:ext>
            </a:extLst>
          </p:cNvPr>
          <p:cNvSpPr>
            <a:spLocks xmlns:a="http://schemas.openxmlformats.org/drawingml/2006/main" noGrp="1"/>
          </p:cNvSpPr>
          <p:nvPr/>
        </p:nvSpPr>
        <p:spPr>
          <a:xfrm xmlns:a="http://schemas.openxmlformats.org/drawingml/2006/main">
            <a:off x="502920" y="960120"/>
            <a:ext cx="8001000" cy="320040"/>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100" b="0" i="0">
                <a:solidFill>
                  <a:srgbClr val="475569"/>
                </a:solidFill>
                <a:latin typeface="Aptos"/>
                <a:ea typeface="Aptos"/>
                <a:cs typeface="Aptos"/>
              </a:rPr>
              <a:t>Phase 1 built the core loop; Phase 2 completed input coverage, privacy, research and release evidence</a:t>
            </a:r>
          </a:p>
        </p:txBody>
      </p:sp>
      <p:sp>
        <p:nvSpPr>
          <p:cNvPr id="4" name="Rounded Rectangle 3">
            <a:extLst xmlns:a="http://schemas.openxmlformats.org/drawingml/2006/main">
              <a:ext uri="{FF2B5EF4-FFF2-40B4-BE49-F238E27FC236}">
                <a16:creationId xmlns:a16="http://schemas.microsoft.com/office/drawing/2014/main" id="{CFE2428E-1FF5-48AB-BA56-2E0D4DE6C8C3}"/>
              </a:ext>
            </a:extLst>
          </p:cNvPr>
          <p:cNvSpPr>
            <a:spLocks xmlns:a="http://schemas.openxmlformats.org/drawingml/2006/main" noGrp="1"/>
          </p:cNvSpPr>
          <p:nvPr/>
        </p:nvSpPr>
        <p:spPr>
          <a:xfrm xmlns:a="http://schemas.openxmlformats.org/drawingml/2006/main">
            <a:off x="502920" y="1417320"/>
            <a:ext cx="1481328" cy="2011680"/>
          </a:xfrm>
          <a:prstGeom xmlns:a="http://schemas.openxmlformats.org/drawingml/2006/main" prst="roundRect">
            <a:avLst/>
          </a:prstGeom>
          <a:solidFill xmlns:a="http://schemas.openxmlformats.org/drawingml/2006/main">
            <a:srgbClr val="FFFFFF"/>
          </a:solidFill>
          <a:ln xmlns:a="http://schemas.openxmlformats.org/drawingml/2006/main" w="8890">
            <a:solidFill>
              <a:srgbClr val="E1E1E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Rectangle 4">
            <a:extLst xmlns:a="http://schemas.openxmlformats.org/drawingml/2006/main">
              <a:ext uri="{FF2B5EF4-FFF2-40B4-BE49-F238E27FC236}">
                <a16:creationId xmlns:a16="http://schemas.microsoft.com/office/drawing/2014/main" id="{99DA4C07-E155-410A-950E-DFBF01118AD2}"/>
              </a:ext>
            </a:extLst>
          </p:cNvPr>
          <p:cNvSpPr>
            <a:spLocks xmlns:a="http://schemas.openxmlformats.org/drawingml/2006/main" noGrp="1"/>
          </p:cNvSpPr>
          <p:nvPr/>
        </p:nvSpPr>
        <p:spPr>
          <a:xfrm xmlns:a="http://schemas.openxmlformats.org/drawingml/2006/main">
            <a:off x="502920" y="1417320"/>
            <a:ext cx="73152" cy="2011680"/>
          </a:xfrm>
          <a:prstGeom xmlns:a="http://schemas.openxmlformats.org/drawingml/2006/main" prst="rect">
            <a:avLst/>
          </a:prstGeom>
          <a:solidFill xmlns:a="http://schemas.openxmlformats.org/drawingml/2006/main">
            <a:srgbClr val="5B1D8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1D2BEE42-797A-4459-8B02-58445F013DF7}"/>
              </a:ext>
            </a:extLst>
          </p:cNvPr>
          <p:cNvSpPr>
            <a:spLocks xmlns:a="http://schemas.openxmlformats.org/drawingml/2006/main" noGrp="1"/>
          </p:cNvSpPr>
          <p:nvPr/>
        </p:nvSpPr>
        <p:spPr>
          <a:xfrm xmlns:a="http://schemas.openxmlformats.org/drawingml/2006/main">
            <a:off x="667512" y="1527048"/>
            <a:ext cx="1207008" cy="256032"/>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250" b="1" i="0">
                <a:solidFill>
                  <a:srgbClr val="5B1D8C"/>
                </a:solidFill>
                <a:latin typeface="Aptos"/>
                <a:ea typeface="Aptos"/>
                <a:cs typeface="Aptos"/>
              </a:rPr>
              <a:t>01  Classify</a:t>
            </a:r>
          </a:p>
        </p:txBody>
      </p:sp>
      <p:sp>
        <p:nvSpPr>
          <p:cNvPr id="7" name="TextBox 6">
            <a:extLst xmlns:a="http://schemas.openxmlformats.org/drawingml/2006/main">
              <a:ext uri="{FF2B5EF4-FFF2-40B4-BE49-F238E27FC236}">
                <a16:creationId xmlns:a16="http://schemas.microsoft.com/office/drawing/2014/main" id="{E0AC7371-2D23-478F-9A1C-73AB85689E33}"/>
              </a:ext>
            </a:extLst>
          </p:cNvPr>
          <p:cNvSpPr>
            <a:spLocks xmlns:a="http://schemas.openxmlformats.org/drawingml/2006/main" noGrp="1"/>
          </p:cNvSpPr>
          <p:nvPr/>
        </p:nvSpPr>
        <p:spPr>
          <a:xfrm xmlns:a="http://schemas.openxmlformats.org/drawingml/2006/main">
            <a:off x="667512" y="1856232"/>
            <a:ext cx="1207008" cy="1499616"/>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019" b="0" i="0">
                <a:solidFill>
                  <a:srgbClr val="1E293B"/>
                </a:solidFill>
                <a:latin typeface="Aptos"/>
                <a:ea typeface="Aptos"/>
                <a:cs typeface="Aptos"/>
              </a:rPr>
              <a:t>Eight common Indian scam-message categories</a:t>
            </a:r>
          </a:p>
        </p:txBody>
      </p:sp>
      <p:sp>
        <p:nvSpPr>
          <p:cNvPr id="8" name="Rounded Rectangle 7">
            <a:extLst xmlns:a="http://schemas.openxmlformats.org/drawingml/2006/main">
              <a:ext uri="{FF2B5EF4-FFF2-40B4-BE49-F238E27FC236}">
                <a16:creationId xmlns:a16="http://schemas.microsoft.com/office/drawing/2014/main" id="{B1DDA148-9F7B-4D7F-9BC7-363A347D34AC}"/>
              </a:ext>
            </a:extLst>
          </p:cNvPr>
          <p:cNvSpPr>
            <a:spLocks xmlns:a="http://schemas.openxmlformats.org/drawingml/2006/main" noGrp="1"/>
          </p:cNvSpPr>
          <p:nvPr/>
        </p:nvSpPr>
        <p:spPr>
          <a:xfrm xmlns:a="http://schemas.openxmlformats.org/drawingml/2006/main">
            <a:off x="2130552" y="1417320"/>
            <a:ext cx="1481328" cy="2011680"/>
          </a:xfrm>
          <a:prstGeom xmlns:a="http://schemas.openxmlformats.org/drawingml/2006/main" prst="roundRect">
            <a:avLst/>
          </a:prstGeom>
          <a:solidFill xmlns:a="http://schemas.openxmlformats.org/drawingml/2006/main">
            <a:srgbClr val="FFFFFF"/>
          </a:solidFill>
          <a:ln xmlns:a="http://schemas.openxmlformats.org/drawingml/2006/main" w="8890">
            <a:solidFill>
              <a:srgbClr val="E1E1E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Rectangle 8">
            <a:extLst xmlns:a="http://schemas.openxmlformats.org/drawingml/2006/main">
              <a:ext uri="{FF2B5EF4-FFF2-40B4-BE49-F238E27FC236}">
                <a16:creationId xmlns:a16="http://schemas.microsoft.com/office/drawing/2014/main" id="{3D1DE406-1500-4065-A0C8-25D390F10BC1}"/>
              </a:ext>
            </a:extLst>
          </p:cNvPr>
          <p:cNvSpPr>
            <a:spLocks xmlns:a="http://schemas.openxmlformats.org/drawingml/2006/main" noGrp="1"/>
          </p:cNvSpPr>
          <p:nvPr/>
        </p:nvSpPr>
        <p:spPr>
          <a:xfrm xmlns:a="http://schemas.openxmlformats.org/drawingml/2006/main">
            <a:off x="2130552" y="1417320"/>
            <a:ext cx="73152" cy="2011680"/>
          </a:xfrm>
          <a:prstGeom xmlns:a="http://schemas.openxmlformats.org/drawingml/2006/main" prst="rect">
            <a:avLst/>
          </a:prstGeom>
          <a:solidFill xmlns:a="http://schemas.openxmlformats.org/drawingml/2006/main">
            <a:srgbClr val="0097A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97F4DDA7-DABF-42B5-8091-4FB3F6916560}"/>
              </a:ext>
            </a:extLst>
          </p:cNvPr>
          <p:cNvSpPr>
            <a:spLocks xmlns:a="http://schemas.openxmlformats.org/drawingml/2006/main" noGrp="1"/>
          </p:cNvSpPr>
          <p:nvPr/>
        </p:nvSpPr>
        <p:spPr>
          <a:xfrm xmlns:a="http://schemas.openxmlformats.org/drawingml/2006/main">
            <a:off x="2295144" y="1527048"/>
            <a:ext cx="1207008" cy="256032"/>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250" b="1" i="0">
                <a:solidFill>
                  <a:srgbClr val="0097A7"/>
                </a:solidFill>
                <a:latin typeface="Aptos"/>
                <a:ea typeface="Aptos"/>
                <a:cs typeface="Aptos"/>
              </a:rPr>
              <a:t>02  Preserve</a:t>
            </a:r>
          </a:p>
        </p:txBody>
      </p:sp>
      <p:sp>
        <p:nvSpPr>
          <p:cNvPr id="11" name="TextBox 10">
            <a:extLst xmlns:a="http://schemas.openxmlformats.org/drawingml/2006/main">
              <a:ext uri="{FF2B5EF4-FFF2-40B4-BE49-F238E27FC236}">
                <a16:creationId xmlns:a16="http://schemas.microsoft.com/office/drawing/2014/main" id="{D65F9371-F205-4689-911A-CEC50CE8923F}"/>
              </a:ext>
            </a:extLst>
          </p:cNvPr>
          <p:cNvSpPr>
            <a:spLocks xmlns:a="http://schemas.openxmlformats.org/drawingml/2006/main" noGrp="1"/>
          </p:cNvSpPr>
          <p:nvPr/>
        </p:nvSpPr>
        <p:spPr>
          <a:xfrm xmlns:a="http://schemas.openxmlformats.org/drawingml/2006/main">
            <a:off x="2295144" y="1856232"/>
            <a:ext cx="1207008" cy="1499616"/>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019" b="0" i="0">
                <a:solidFill>
                  <a:srgbClr val="1E293B"/>
                </a:solidFill>
                <a:latin typeface="Aptos"/>
                <a:ea typeface="Aptos"/>
                <a:cs typeface="Aptos"/>
              </a:rPr>
              <a:t>Phones, UPI IDs, email, URL, amount and OTP evidence</a:t>
            </a:r>
          </a:p>
        </p:txBody>
      </p:sp>
      <p:sp>
        <p:nvSpPr>
          <p:cNvPr id="12" name="Rounded Rectangle 11">
            <a:extLst xmlns:a="http://schemas.openxmlformats.org/drawingml/2006/main">
              <a:ext uri="{FF2B5EF4-FFF2-40B4-BE49-F238E27FC236}">
                <a16:creationId xmlns:a16="http://schemas.microsoft.com/office/drawing/2014/main" id="{8B38FBA5-8C0A-453B-AFE6-85A61FD6AD39}"/>
              </a:ext>
            </a:extLst>
          </p:cNvPr>
          <p:cNvSpPr>
            <a:spLocks xmlns:a="http://schemas.openxmlformats.org/drawingml/2006/main" noGrp="1"/>
          </p:cNvSpPr>
          <p:nvPr/>
        </p:nvSpPr>
        <p:spPr>
          <a:xfrm xmlns:a="http://schemas.openxmlformats.org/drawingml/2006/main">
            <a:off x="3758184" y="1417320"/>
            <a:ext cx="1481328" cy="2011680"/>
          </a:xfrm>
          <a:prstGeom xmlns:a="http://schemas.openxmlformats.org/drawingml/2006/main" prst="roundRect">
            <a:avLst/>
          </a:prstGeom>
          <a:solidFill xmlns:a="http://schemas.openxmlformats.org/drawingml/2006/main">
            <a:srgbClr val="FFFFFF"/>
          </a:solidFill>
          <a:ln xmlns:a="http://schemas.openxmlformats.org/drawingml/2006/main" w="8890">
            <a:solidFill>
              <a:srgbClr val="E1E1E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Rectangle 12">
            <a:extLst xmlns:a="http://schemas.openxmlformats.org/drawingml/2006/main">
              <a:ext uri="{FF2B5EF4-FFF2-40B4-BE49-F238E27FC236}">
                <a16:creationId xmlns:a16="http://schemas.microsoft.com/office/drawing/2014/main" id="{269165A4-6A5A-4963-8A69-3B75A220593E}"/>
              </a:ext>
            </a:extLst>
          </p:cNvPr>
          <p:cNvSpPr>
            <a:spLocks xmlns:a="http://schemas.openxmlformats.org/drawingml/2006/main" noGrp="1"/>
          </p:cNvSpPr>
          <p:nvPr/>
        </p:nvSpPr>
        <p:spPr>
          <a:xfrm xmlns:a="http://schemas.openxmlformats.org/drawingml/2006/main">
            <a:off x="3758184" y="1417320"/>
            <a:ext cx="73152" cy="2011680"/>
          </a:xfrm>
          <a:prstGeom xmlns:a="http://schemas.openxmlformats.org/drawingml/2006/main" prst="rect">
            <a:avLst/>
          </a:prstGeom>
          <a:solidFill xmlns:a="http://schemas.openxmlformats.org/drawingml/2006/main">
            <a:srgbClr val="E2B11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9D7C7E29-5936-400D-924E-3678362BEE92}"/>
              </a:ext>
            </a:extLst>
          </p:cNvPr>
          <p:cNvSpPr>
            <a:spLocks xmlns:a="http://schemas.openxmlformats.org/drawingml/2006/main" noGrp="1"/>
          </p:cNvSpPr>
          <p:nvPr/>
        </p:nvSpPr>
        <p:spPr>
          <a:xfrm xmlns:a="http://schemas.openxmlformats.org/drawingml/2006/main">
            <a:off x="3922776" y="1527048"/>
            <a:ext cx="1207008" cy="256032"/>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250" b="1" i="0">
                <a:solidFill>
                  <a:srgbClr val="E2B11F"/>
                </a:solidFill>
                <a:latin typeface="Aptos"/>
                <a:ea typeface="Aptos"/>
                <a:cs typeface="Aptos"/>
              </a:rPr>
              <a:t>03  Explain</a:t>
            </a:r>
          </a:p>
        </p:txBody>
      </p:sp>
      <p:sp>
        <p:nvSpPr>
          <p:cNvPr id="15" name="TextBox 14">
            <a:extLst xmlns:a="http://schemas.openxmlformats.org/drawingml/2006/main">
              <a:ext uri="{FF2B5EF4-FFF2-40B4-BE49-F238E27FC236}">
                <a16:creationId xmlns:a16="http://schemas.microsoft.com/office/drawing/2014/main" id="{54A3AE60-9C93-4838-AACB-AE4DD16B6794}"/>
              </a:ext>
            </a:extLst>
          </p:cNvPr>
          <p:cNvSpPr>
            <a:spLocks xmlns:a="http://schemas.openxmlformats.org/drawingml/2006/main" noGrp="1"/>
          </p:cNvSpPr>
          <p:nvPr/>
        </p:nvSpPr>
        <p:spPr>
          <a:xfrm xmlns:a="http://schemas.openxmlformats.org/drawingml/2006/main">
            <a:off x="3922776" y="1856232"/>
            <a:ext cx="1207008" cy="1499616"/>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019" b="0" i="0">
                <a:solidFill>
                  <a:srgbClr val="1E293B"/>
                </a:solidFill>
                <a:latin typeface="Aptos"/>
                <a:ea typeface="Aptos"/>
                <a:cs typeface="Aptos"/>
              </a:rPr>
              <a:t>Confidence, abstention, visible reasons and risk band</a:t>
            </a:r>
          </a:p>
        </p:txBody>
      </p:sp>
      <p:sp>
        <p:nvSpPr>
          <p:cNvPr id="16" name="Rounded Rectangle 15">
            <a:extLst xmlns:a="http://schemas.openxmlformats.org/drawingml/2006/main">
              <a:ext uri="{FF2B5EF4-FFF2-40B4-BE49-F238E27FC236}">
                <a16:creationId xmlns:a16="http://schemas.microsoft.com/office/drawing/2014/main" id="{D6F12BAF-78DB-4ACF-B22E-66F567A87CD5}"/>
              </a:ext>
            </a:extLst>
          </p:cNvPr>
          <p:cNvSpPr>
            <a:spLocks xmlns:a="http://schemas.openxmlformats.org/drawingml/2006/main" noGrp="1"/>
          </p:cNvSpPr>
          <p:nvPr/>
        </p:nvSpPr>
        <p:spPr>
          <a:xfrm xmlns:a="http://schemas.openxmlformats.org/drawingml/2006/main">
            <a:off x="5385816" y="1417320"/>
            <a:ext cx="1481328" cy="2011680"/>
          </a:xfrm>
          <a:prstGeom xmlns:a="http://schemas.openxmlformats.org/drawingml/2006/main" prst="roundRect">
            <a:avLst/>
          </a:prstGeom>
          <a:solidFill xmlns:a="http://schemas.openxmlformats.org/drawingml/2006/main">
            <a:srgbClr val="FFFFFF"/>
          </a:solidFill>
          <a:ln xmlns:a="http://schemas.openxmlformats.org/drawingml/2006/main" w="8890">
            <a:solidFill>
              <a:srgbClr val="E1E1E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Rectangle 16">
            <a:extLst xmlns:a="http://schemas.openxmlformats.org/drawingml/2006/main">
              <a:ext uri="{FF2B5EF4-FFF2-40B4-BE49-F238E27FC236}">
                <a16:creationId xmlns:a16="http://schemas.microsoft.com/office/drawing/2014/main" id="{2A93880A-8DD3-4960-A8BE-071A23A99F69}"/>
              </a:ext>
            </a:extLst>
          </p:cNvPr>
          <p:cNvSpPr>
            <a:spLocks xmlns:a="http://schemas.openxmlformats.org/drawingml/2006/main" noGrp="1"/>
          </p:cNvSpPr>
          <p:nvPr/>
        </p:nvSpPr>
        <p:spPr>
          <a:xfrm xmlns:a="http://schemas.openxmlformats.org/drawingml/2006/main">
            <a:off x="5385816" y="1417320"/>
            <a:ext cx="73152" cy="2011680"/>
          </a:xfrm>
          <a:prstGeom xmlns:a="http://schemas.openxmlformats.org/drawingml/2006/main" prst="rect">
            <a:avLst/>
          </a:prstGeom>
          <a:solidFill xmlns:a="http://schemas.openxmlformats.org/drawingml/2006/main">
            <a:srgbClr val="237C5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8C2E4796-C2A7-401E-9A83-354BDD2A8910}"/>
              </a:ext>
            </a:extLst>
          </p:cNvPr>
          <p:cNvSpPr>
            <a:spLocks xmlns:a="http://schemas.openxmlformats.org/drawingml/2006/main" noGrp="1"/>
          </p:cNvSpPr>
          <p:nvPr/>
        </p:nvSpPr>
        <p:spPr>
          <a:xfrm xmlns:a="http://schemas.openxmlformats.org/drawingml/2006/main">
            <a:off x="5550407" y="1527048"/>
            <a:ext cx="1207008" cy="256032"/>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250" b="1" i="0">
                <a:solidFill>
                  <a:srgbClr val="237C58"/>
                </a:solidFill>
                <a:latin typeface="Aptos"/>
                <a:ea typeface="Aptos"/>
                <a:cs typeface="Aptos"/>
              </a:rPr>
              <a:t>04  Accept</a:t>
            </a:r>
          </a:p>
        </p:txBody>
      </p:sp>
      <p:sp>
        <p:nvSpPr>
          <p:cNvPr id="19" name="TextBox 18">
            <a:extLst xmlns:a="http://schemas.openxmlformats.org/drawingml/2006/main">
              <a:ext uri="{FF2B5EF4-FFF2-40B4-BE49-F238E27FC236}">
                <a16:creationId xmlns:a16="http://schemas.microsoft.com/office/drawing/2014/main" id="{8D8E1990-459A-42A4-9F76-BDCC16624812}"/>
              </a:ext>
            </a:extLst>
          </p:cNvPr>
          <p:cNvSpPr>
            <a:spLocks xmlns:a="http://schemas.openxmlformats.org/drawingml/2006/main" noGrp="1"/>
          </p:cNvSpPr>
          <p:nvPr/>
        </p:nvSpPr>
        <p:spPr>
          <a:xfrm xmlns:a="http://schemas.openxmlformats.org/drawingml/2006/main">
            <a:off x="5550407" y="1856232"/>
            <a:ext cx="1207008" cy="1499616"/>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019" b="0" i="0">
                <a:solidFill>
                  <a:srgbClr val="1E293B"/>
                </a:solidFill>
                <a:latin typeface="Aptos"/>
                <a:ea typeface="Aptos"/>
                <a:cs typeface="Aptos"/>
              </a:rPr>
              <a:t>Pasted text plus bounded local screenshot OCR</a:t>
            </a:r>
          </a:p>
        </p:txBody>
      </p:sp>
      <p:sp>
        <p:nvSpPr>
          <p:cNvPr id="20" name="Rounded Rectangle 19">
            <a:extLst xmlns:a="http://schemas.openxmlformats.org/drawingml/2006/main">
              <a:ext uri="{FF2B5EF4-FFF2-40B4-BE49-F238E27FC236}">
                <a16:creationId xmlns:a16="http://schemas.microsoft.com/office/drawing/2014/main" id="{36DDC92F-1048-4CBD-9E1B-74321614E835}"/>
              </a:ext>
            </a:extLst>
          </p:cNvPr>
          <p:cNvSpPr>
            <a:spLocks xmlns:a="http://schemas.openxmlformats.org/drawingml/2006/main" noGrp="1"/>
          </p:cNvSpPr>
          <p:nvPr/>
        </p:nvSpPr>
        <p:spPr>
          <a:xfrm xmlns:a="http://schemas.openxmlformats.org/drawingml/2006/main">
            <a:off x="7013448" y="1417320"/>
            <a:ext cx="1481328" cy="2011680"/>
          </a:xfrm>
          <a:prstGeom xmlns:a="http://schemas.openxmlformats.org/drawingml/2006/main" prst="roundRect">
            <a:avLst/>
          </a:prstGeom>
          <a:solidFill xmlns:a="http://schemas.openxmlformats.org/drawingml/2006/main">
            <a:srgbClr val="FFFFFF"/>
          </a:solidFill>
          <a:ln xmlns:a="http://schemas.openxmlformats.org/drawingml/2006/main" w="8890">
            <a:solidFill>
              <a:srgbClr val="E1E1E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Rectangle 20">
            <a:extLst xmlns:a="http://schemas.openxmlformats.org/drawingml/2006/main">
              <a:ext uri="{FF2B5EF4-FFF2-40B4-BE49-F238E27FC236}">
                <a16:creationId xmlns:a16="http://schemas.microsoft.com/office/drawing/2014/main" id="{8AA357CB-8A23-4F08-9A32-39A37680F45C}"/>
              </a:ext>
            </a:extLst>
          </p:cNvPr>
          <p:cNvSpPr>
            <a:spLocks xmlns:a="http://schemas.openxmlformats.org/drawingml/2006/main" noGrp="1"/>
          </p:cNvSpPr>
          <p:nvPr/>
        </p:nvSpPr>
        <p:spPr>
          <a:xfrm xmlns:a="http://schemas.openxmlformats.org/drawingml/2006/main">
            <a:off x="7013448" y="1417320"/>
            <a:ext cx="73152" cy="2011680"/>
          </a:xfrm>
          <a:prstGeom xmlns:a="http://schemas.openxmlformats.org/drawingml/2006/main" prst="rect">
            <a:avLst/>
          </a:prstGeom>
          <a:solidFill xmlns:a="http://schemas.openxmlformats.org/drawingml/2006/main">
            <a:srgbClr val="A9233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0EF6A578-5039-48A8-8B0F-74924418A229}"/>
              </a:ext>
            </a:extLst>
          </p:cNvPr>
          <p:cNvSpPr>
            <a:spLocks xmlns:a="http://schemas.openxmlformats.org/drawingml/2006/main" noGrp="1"/>
          </p:cNvSpPr>
          <p:nvPr/>
        </p:nvSpPr>
        <p:spPr>
          <a:xfrm xmlns:a="http://schemas.openxmlformats.org/drawingml/2006/main">
            <a:off x="7178040" y="1527048"/>
            <a:ext cx="1207008" cy="256032"/>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250" b="1" i="0">
                <a:solidFill>
                  <a:srgbClr val="A92330"/>
                </a:solidFill>
                <a:latin typeface="Aptos"/>
                <a:ea typeface="Aptos"/>
                <a:cs typeface="Aptos"/>
              </a:rPr>
              <a:t>05  Protect</a:t>
            </a:r>
          </a:p>
        </p:txBody>
      </p:sp>
      <p:sp>
        <p:nvSpPr>
          <p:cNvPr id="23" name="TextBox 22">
            <a:extLst xmlns:a="http://schemas.openxmlformats.org/drawingml/2006/main">
              <a:ext uri="{FF2B5EF4-FFF2-40B4-BE49-F238E27FC236}">
                <a16:creationId xmlns:a16="http://schemas.microsoft.com/office/drawing/2014/main" id="{FFB8E8A9-131F-4337-8884-D2FF3C330476}"/>
              </a:ext>
            </a:extLst>
          </p:cNvPr>
          <p:cNvSpPr>
            <a:spLocks xmlns:a="http://schemas.openxmlformats.org/drawingml/2006/main" noGrp="1"/>
          </p:cNvSpPr>
          <p:nvPr/>
        </p:nvSpPr>
        <p:spPr>
          <a:xfrm xmlns:a="http://schemas.openxmlformats.org/drawingml/2006/main">
            <a:off x="7178040" y="1856232"/>
            <a:ext cx="1207008" cy="1499616"/>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019" b="0" i="0">
                <a:solidFill>
                  <a:srgbClr val="1E293B"/>
                </a:solidFill>
                <a:latin typeface="Aptos"/>
                <a:ea typeface="Aptos"/>
                <a:cs typeface="Aptos"/>
              </a:rPr>
              <a:t>Consent, retention and masked relationship links</a:t>
            </a:r>
          </a:p>
        </p:txBody>
      </p:sp>
      <p:sp>
        <p:nvSpPr>
          <p:cNvPr id="24" name="TextBox 23">
            <a:extLst xmlns:a="http://schemas.openxmlformats.org/drawingml/2006/main">
              <a:ext uri="{FF2B5EF4-FFF2-40B4-BE49-F238E27FC236}">
                <a16:creationId xmlns:a16="http://schemas.microsoft.com/office/drawing/2014/main" id="{6442FB5B-3C4C-4CF4-83F3-C704957B1312}"/>
              </a:ext>
            </a:extLst>
          </p:cNvPr>
          <p:cNvSpPr>
            <a:spLocks xmlns:a="http://schemas.openxmlformats.org/drawingml/2006/main" noGrp="1"/>
          </p:cNvSpPr>
          <p:nvPr/>
        </p:nvSpPr>
        <p:spPr>
          <a:xfrm xmlns:a="http://schemas.openxmlformats.org/drawingml/2006/main">
            <a:off x="566928" y="3767328"/>
            <a:ext cx="3840480" cy="292608"/>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200" b="1" i="0">
                <a:solidFill>
                  <a:srgbClr val="237C58"/>
                </a:solidFill>
                <a:latin typeface="Aptos"/>
                <a:ea typeface="Aptos"/>
                <a:cs typeface="Aptos"/>
              </a:rPr>
              <a:t>IN SCOPE</a:t>
            </a:r>
          </a:p>
        </p:txBody>
      </p:sp>
      <p:sp>
        <p:nvSpPr>
          <p:cNvPr id="25" name="Rounded Rectangle 24">
            <a:extLst xmlns:a="http://schemas.openxmlformats.org/drawingml/2006/main">
              <a:ext uri="{FF2B5EF4-FFF2-40B4-BE49-F238E27FC236}">
                <a16:creationId xmlns:a16="http://schemas.microsoft.com/office/drawing/2014/main" id="{CA33A036-ED5B-49A2-9D8A-52FFA4E54005}"/>
              </a:ext>
            </a:extLst>
          </p:cNvPr>
          <p:cNvSpPr>
            <a:spLocks xmlns:a="http://schemas.openxmlformats.org/drawingml/2006/main" noGrp="1"/>
          </p:cNvSpPr>
          <p:nvPr/>
        </p:nvSpPr>
        <p:spPr>
          <a:xfrm xmlns:a="http://schemas.openxmlformats.org/drawingml/2006/main">
            <a:off x="502920" y="4096512"/>
            <a:ext cx="3886200" cy="1508760"/>
          </a:xfrm>
          <a:prstGeom xmlns:a="http://schemas.openxmlformats.org/drawingml/2006/main" prst="roundRect">
            <a:avLst/>
          </a:prstGeom>
          <a:solidFill xmlns:a="http://schemas.openxmlformats.org/drawingml/2006/main">
            <a:srgbClr val="EDF9F3"/>
          </a:solidFill>
          <a:ln xmlns:a="http://schemas.openxmlformats.org/drawingml/2006/main" w="12700">
            <a:solidFill>
              <a:srgbClr val="B9E0CD"/>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137160" tIns="137160" rIns="137160" bIns="137160" anchor="ctr"/>
          <a:lstStyle xmlns:a="http://schemas.openxmlformats.org/drawingml/2006/main"/>
          <a:p xmlns:a="http://schemas.openxmlformats.org/drawingml/2006/main">
            <a:pPr algn="l">
              <a:spcAft>
                <a:spcPts val="500"/>
              </a:spcAft>
              <a:buNone/>
              <a:defRPr sz="1150" b="1" i="0">
                <a:solidFill>
                  <a:srgbClr val="1E293B"/>
                </a:solidFill>
                <a:latin typeface="Aptos"/>
                <a:ea typeface="Aptos"/>
                <a:cs typeface="Aptos"/>
              </a:defRPr>
            </a:pPr>
            <a:r>
              <a:t>Next.js + FastAPI on one analysis service</a:t>
            </a:r>
          </a:p>
          <a:p xmlns:a="http://schemas.openxmlformats.org/drawingml/2006/main">
            <a:pPr algn="l">
              <a:spcAft>
                <a:spcPts val="500"/>
              </a:spcAft>
              <a:buNone/>
              <a:defRPr sz="1150" b="0" i="0">
                <a:solidFill>
                  <a:srgbClr val="1E293B"/>
                </a:solidFill>
                <a:latin typeface="Aptos"/>
                <a:ea typeface="Aptos"/>
                <a:cs typeface="Aptos"/>
              </a:defRPr>
            </a:pPr>
            <a:r>
              <a:t>Calibrated TF-IDF, OCR, entities, URL checks, risk and draft</a:t>
            </a:r>
          </a:p>
          <a:p xmlns:a="http://schemas.openxmlformats.org/drawingml/2006/main">
            <a:pPr algn="l">
              <a:spcAft>
                <a:spcPts val="500"/>
              </a:spcAft>
              <a:buNone/>
              <a:defRPr sz="1150" b="0" i="0">
                <a:solidFill>
                  <a:srgbClr val="1E293B"/>
                </a:solidFill>
                <a:latin typeface="Aptos"/>
                <a:ea typeface="Aptos"/>
                <a:cs typeface="Aptos"/>
              </a:defRPr>
            </a:pPr>
            <a:r>
              <a:t>Optional SQLite history and privacy-safe entity graph</a:t>
            </a:r>
          </a:p>
        </p:txBody>
      </p:sp>
      <p:sp>
        <p:nvSpPr>
          <p:cNvPr id="26" name="TextBox 25">
            <a:extLst xmlns:a="http://schemas.openxmlformats.org/drawingml/2006/main">
              <a:ext uri="{FF2B5EF4-FFF2-40B4-BE49-F238E27FC236}">
                <a16:creationId xmlns:a16="http://schemas.microsoft.com/office/drawing/2014/main" id="{75E5496D-8120-4C1D-8EC2-E5744DF56B9E}"/>
              </a:ext>
            </a:extLst>
          </p:cNvPr>
          <p:cNvSpPr>
            <a:spLocks xmlns:a="http://schemas.openxmlformats.org/drawingml/2006/main" noGrp="1"/>
          </p:cNvSpPr>
          <p:nvPr/>
        </p:nvSpPr>
        <p:spPr>
          <a:xfrm xmlns:a="http://schemas.openxmlformats.org/drawingml/2006/main">
            <a:off x="4709160" y="3767328"/>
            <a:ext cx="3840480" cy="292608"/>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200" b="1" i="0">
                <a:solidFill>
                  <a:srgbClr val="A92330"/>
                </a:solidFill>
                <a:latin typeface="Aptos"/>
                <a:ea typeface="Aptos"/>
                <a:cs typeface="Aptos"/>
              </a:rPr>
              <a:t>OUT OF SCOPE</a:t>
            </a:r>
          </a:p>
        </p:txBody>
      </p:sp>
      <p:sp>
        <p:nvSpPr>
          <p:cNvPr id="27" name="Rounded Rectangle 26">
            <a:extLst xmlns:a="http://schemas.openxmlformats.org/drawingml/2006/main">
              <a:ext uri="{FF2B5EF4-FFF2-40B4-BE49-F238E27FC236}">
                <a16:creationId xmlns:a16="http://schemas.microsoft.com/office/drawing/2014/main" id="{8F3F6C93-2780-430C-AB18-FF4FA31B58C0}"/>
              </a:ext>
            </a:extLst>
          </p:cNvPr>
          <p:cNvSpPr>
            <a:spLocks xmlns:a="http://schemas.openxmlformats.org/drawingml/2006/main" noGrp="1"/>
          </p:cNvSpPr>
          <p:nvPr/>
        </p:nvSpPr>
        <p:spPr>
          <a:xfrm xmlns:a="http://schemas.openxmlformats.org/drawingml/2006/main">
            <a:off x="4645152" y="4096512"/>
            <a:ext cx="3950208" cy="1508760"/>
          </a:xfrm>
          <a:prstGeom xmlns:a="http://schemas.openxmlformats.org/drawingml/2006/main" prst="roundRect">
            <a:avLst/>
          </a:prstGeom>
          <a:solidFill xmlns:a="http://schemas.openxmlformats.org/drawingml/2006/main">
            <a:srgbClr val="FDF1F1"/>
          </a:solidFill>
          <a:ln xmlns:a="http://schemas.openxmlformats.org/drawingml/2006/main" w="12700">
            <a:solidFill>
              <a:srgbClr val="ECC6C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137160" tIns="137160" rIns="137160" bIns="137160" anchor="ctr"/>
          <a:lstStyle xmlns:a="http://schemas.openxmlformats.org/drawingml/2006/main"/>
          <a:p xmlns:a="http://schemas.openxmlformats.org/drawingml/2006/main">
            <a:pPr algn="l">
              <a:spcAft>
                <a:spcPts val="500"/>
              </a:spcAft>
              <a:buNone/>
              <a:defRPr sz="1150" b="1" i="0">
                <a:solidFill>
                  <a:srgbClr val="1E293B"/>
                </a:solidFill>
                <a:latin typeface="Aptos"/>
                <a:ea typeface="Aptos"/>
                <a:cs typeface="Aptos"/>
              </a:defRPr>
            </a:pPr>
            <a:r>
              <a:t>Automatic NCRP filing or transaction blocking</a:t>
            </a:r>
          </a:p>
          <a:p xmlns:a="http://schemas.openxmlformats.org/drawingml/2006/main">
            <a:pPr algn="l">
              <a:spcAft>
                <a:spcPts val="500"/>
              </a:spcAft>
              <a:buNone/>
              <a:defRPr sz="1150" b="0" i="0">
                <a:solidFill>
                  <a:srgbClr val="1E293B"/>
                </a:solidFill>
                <a:latin typeface="Aptos"/>
                <a:ea typeface="Aptos"/>
                <a:cs typeface="Aptos"/>
              </a:defRPr>
            </a:pPr>
            <a:r>
              <a:t>Public deployment, transformer fine-tuning or GNN detection</a:t>
            </a:r>
          </a:p>
          <a:p xmlns:a="http://schemas.openxmlformats.org/drawingml/2006/main">
            <a:pPr algn="l">
              <a:spcAft>
                <a:spcPts val="500"/>
              </a:spcAft>
              <a:buNone/>
              <a:defRPr sz="1150" b="0" i="0">
                <a:solidFill>
                  <a:srgbClr val="1E293B"/>
                </a:solidFill>
                <a:latin typeface="Aptos"/>
                <a:ea typeface="Aptos"/>
                <a:cs typeface="Aptos"/>
              </a:defRPr>
            </a:pPr>
            <a:r>
              <a:t>Production accuracy, guilt or legal conclusions</a:t>
            </a:r>
          </a:p>
        </p:txBody>
      </p:sp>
      <p:sp>
        <p:nvSpPr>
          <p:cNvPr id="28" name="TextBox 27">
            <a:extLst xmlns:a="http://schemas.openxmlformats.org/drawingml/2006/main">
              <a:ext uri="{FF2B5EF4-FFF2-40B4-BE49-F238E27FC236}">
                <a16:creationId xmlns:a16="http://schemas.microsoft.com/office/drawing/2014/main" id="{85A756F6-5BF3-4194-8540-616835CAA942}"/>
              </a:ext>
            </a:extLst>
          </p:cNvPr>
          <p:cNvSpPr>
            <a:spLocks xmlns:a="http://schemas.openxmlformats.org/drawingml/2006/main" noGrp="1"/>
          </p:cNvSpPr>
          <p:nvPr/>
        </p:nvSpPr>
        <p:spPr>
          <a:xfrm xmlns:a="http://schemas.openxmlformats.org/drawingml/2006/main">
            <a:off x="502920" y="6528816"/>
            <a:ext cx="7818120" cy="201168"/>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830" b="0" i="0">
                <a:solidFill>
                  <a:srgbClr val="475569"/>
                </a:solidFill>
                <a:latin typeface="Aptos"/>
                <a:ea typeface="Aptos"/>
                <a:cs typeface="Aptos"/>
              </a:rPr>
              <a:t>Final release 1.0.0 | OCR and observational graph analytics are implemented</a:t>
            </a:r>
          </a:p>
        </p:txBody>
      </p:sp>
      <p:sp>
        <p:nvSpPr>
          <p:cNvPr id="29" name="TextBox 28">
            <a:extLst xmlns:a="http://schemas.openxmlformats.org/drawingml/2006/main">
              <a:ext uri="{FF2B5EF4-FFF2-40B4-BE49-F238E27FC236}">
                <a16:creationId xmlns:a16="http://schemas.microsoft.com/office/drawing/2014/main" id="{2DCEA931-EAD0-4C3E-A1C4-B0AEA1D36475}"/>
              </a:ext>
            </a:extLst>
          </p:cNvPr>
          <p:cNvSpPr>
            <a:spLocks xmlns:a="http://schemas.openxmlformats.org/drawingml/2006/main" noGrp="1"/>
          </p:cNvSpPr>
          <p:nvPr/>
        </p:nvSpPr>
        <p:spPr>
          <a:xfrm xmlns:a="http://schemas.openxmlformats.org/drawingml/2006/main">
            <a:off x="8394192" y="6528816"/>
            <a:ext cx="274320" cy="182880"/>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r">
              <a:buNone/>
            </a:pPr>
            <a:r>
              <a:rPr sz="800" b="1" i="0">
                <a:solidFill>
                  <a:srgbClr val="5B1D8C"/>
                </a:solidFill>
                <a:latin typeface="Aptos"/>
                <a:ea typeface="Aptos"/>
                <a:cs typeface="Aptos"/>
              </a:rPr>
              <a:t>3</a:t>
            </a:r>
          </a:p>
        </p:txBody>
      </p:sp>
    </p:spTree>
    <p:extLst>
      <p:ext uri="{BB962C8B-B14F-4D97-AF65-F5344CB8AC3E}">
        <p14:creationId xmlns:p14="http://schemas.microsoft.com/office/powerpoint/2010/main" val="2012987151"/>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44A46808-DBA2-43BB-9CD8-3680C437BD90}"/>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rPr b="1">
                <a:solidFill>
                  <a:srgbClr val="1E293B"/>
                </a:solidFill>
                <a:latin typeface="Aptos Display"/>
                <a:ea typeface="Aptos Display"/>
                <a:cs typeface="Aptos Display"/>
              </a:rPr>
              <a:t>Existing System / Literature Review</a:t>
            </a:r>
          </a:p>
        </p:txBody>
      </p:sp>
      <p:sp>
        <p:nvSpPr>
          <p:cNvPr id="3" name="TextBox 2">
            <a:extLst xmlns:a="http://schemas.openxmlformats.org/drawingml/2006/main">
              <a:ext uri="{FF2B5EF4-FFF2-40B4-BE49-F238E27FC236}">
                <a16:creationId xmlns:a16="http://schemas.microsoft.com/office/drawing/2014/main" id="{0B2E0CB9-4681-4575-A8BC-CECD07CA580A}"/>
              </a:ext>
            </a:extLst>
          </p:cNvPr>
          <p:cNvSpPr>
            <a:spLocks xmlns:a="http://schemas.openxmlformats.org/drawingml/2006/main" noGrp="1"/>
          </p:cNvSpPr>
          <p:nvPr/>
        </p:nvSpPr>
        <p:spPr>
          <a:xfrm xmlns:a="http://schemas.openxmlformats.org/drawingml/2006/main">
            <a:off x="502920" y="960120"/>
            <a:ext cx="8001000" cy="320040"/>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100" b="0" i="0">
                <a:solidFill>
                  <a:srgbClr val="475569"/>
                </a:solidFill>
                <a:latin typeface="Aptos"/>
                <a:ea typeface="Aptos"/>
                <a:cs typeface="Aptos"/>
              </a:rPr>
              <a:t>Compare like with like: published results use different inputs, labels and datasets</a:t>
            </a:r>
          </a:p>
        </p:txBody>
      </p:sp>
      <p:sp>
        <p:nvSpPr>
          <p:cNvPr id="4" name="Rectangle 3">
            <a:extLst xmlns:a="http://schemas.openxmlformats.org/drawingml/2006/main">
              <a:ext uri="{FF2B5EF4-FFF2-40B4-BE49-F238E27FC236}">
                <a16:creationId xmlns:a16="http://schemas.microsoft.com/office/drawing/2014/main" id="{FE317535-D021-4FDF-8B9E-65BBE6547FCB}"/>
              </a:ext>
            </a:extLst>
          </p:cNvPr>
          <p:cNvSpPr>
            <a:spLocks xmlns:a="http://schemas.openxmlformats.org/drawingml/2006/main" noGrp="1"/>
          </p:cNvSpPr>
          <p:nvPr/>
        </p:nvSpPr>
        <p:spPr>
          <a:xfrm xmlns:a="http://schemas.openxmlformats.org/drawingml/2006/main">
            <a:off x="502920" y="1371600"/>
            <a:ext cx="1508760" cy="438912"/>
          </a:xfrm>
          <a:prstGeom xmlns:a="http://schemas.openxmlformats.org/drawingml/2006/main" prst="rect">
            <a:avLst/>
          </a:prstGeom>
          <a:solidFill xmlns:a="http://schemas.openxmlformats.org/drawingml/2006/main">
            <a:srgbClr val="371455"/>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82296" tIns="82296" rIns="82296" bIns="82296" anchor="ctr"/>
          <a:lstStyle xmlns:a="http://schemas.openxmlformats.org/drawingml/2006/main"/>
          <a:p xmlns:a="http://schemas.openxmlformats.org/drawingml/2006/main">
            <a:pPr algn="ctr">
              <a:spcAft>
                <a:spcPts val="500"/>
              </a:spcAft>
              <a:buNone/>
              <a:defRPr sz="1050" b="1" i="0">
                <a:solidFill>
                  <a:srgbClr val="FFFFFF"/>
                </a:solidFill>
                <a:latin typeface="Aptos"/>
                <a:ea typeface="Aptos"/>
                <a:cs typeface="Aptos"/>
              </a:defRPr>
            </a:pPr>
            <a:r>
              <a:t>Approach</a:t>
            </a:r>
          </a:p>
        </p:txBody>
      </p:sp>
      <p:sp>
        <p:nvSpPr>
          <p:cNvPr id="5" name="Rectangle 4">
            <a:extLst xmlns:a="http://schemas.openxmlformats.org/drawingml/2006/main">
              <a:ext uri="{FF2B5EF4-FFF2-40B4-BE49-F238E27FC236}">
                <a16:creationId xmlns:a16="http://schemas.microsoft.com/office/drawing/2014/main" id="{A8025BA8-8783-4B54-A39C-E2638928826C}"/>
              </a:ext>
            </a:extLst>
          </p:cNvPr>
          <p:cNvSpPr>
            <a:spLocks xmlns:a="http://schemas.openxmlformats.org/drawingml/2006/main" noGrp="1"/>
          </p:cNvSpPr>
          <p:nvPr/>
        </p:nvSpPr>
        <p:spPr>
          <a:xfrm xmlns:a="http://schemas.openxmlformats.org/drawingml/2006/main">
            <a:off x="2011680" y="1371600"/>
            <a:ext cx="1993392" cy="438912"/>
          </a:xfrm>
          <a:prstGeom xmlns:a="http://schemas.openxmlformats.org/drawingml/2006/main" prst="rect">
            <a:avLst/>
          </a:prstGeom>
          <a:solidFill xmlns:a="http://schemas.openxmlformats.org/drawingml/2006/main">
            <a:srgbClr val="371455"/>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82296" tIns="82296" rIns="82296" bIns="82296" anchor="ctr"/>
          <a:lstStyle xmlns:a="http://schemas.openxmlformats.org/drawingml/2006/main"/>
          <a:p xmlns:a="http://schemas.openxmlformats.org/drawingml/2006/main">
            <a:pPr algn="ctr">
              <a:spcAft>
                <a:spcPts val="500"/>
              </a:spcAft>
              <a:buNone/>
              <a:defRPr sz="1050" b="1" i="0">
                <a:solidFill>
                  <a:srgbClr val="FFFFFF"/>
                </a:solidFill>
                <a:latin typeface="Aptos"/>
                <a:ea typeface="Aptos"/>
                <a:cs typeface="Aptos"/>
              </a:defRPr>
            </a:pPr>
            <a:r>
              <a:t>Reported evidence</a:t>
            </a:r>
          </a:p>
        </p:txBody>
      </p:sp>
      <p:sp>
        <p:nvSpPr>
          <p:cNvPr id="6" name="Rectangle 5">
            <a:extLst xmlns:a="http://schemas.openxmlformats.org/drawingml/2006/main">
              <a:ext uri="{FF2B5EF4-FFF2-40B4-BE49-F238E27FC236}">
                <a16:creationId xmlns:a16="http://schemas.microsoft.com/office/drawing/2014/main" id="{C1064A80-AA9B-4577-AB7A-200636C017D1}"/>
              </a:ext>
            </a:extLst>
          </p:cNvPr>
          <p:cNvSpPr>
            <a:spLocks xmlns:a="http://schemas.openxmlformats.org/drawingml/2006/main" noGrp="1"/>
          </p:cNvSpPr>
          <p:nvPr/>
        </p:nvSpPr>
        <p:spPr>
          <a:xfrm xmlns:a="http://schemas.openxmlformats.org/drawingml/2006/main">
            <a:off x="4005072" y="1371600"/>
            <a:ext cx="2176272" cy="438912"/>
          </a:xfrm>
          <a:prstGeom xmlns:a="http://schemas.openxmlformats.org/drawingml/2006/main" prst="rect">
            <a:avLst/>
          </a:prstGeom>
          <a:solidFill xmlns:a="http://schemas.openxmlformats.org/drawingml/2006/main">
            <a:srgbClr val="371455"/>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82296" tIns="82296" rIns="82296" bIns="82296" anchor="ctr"/>
          <a:lstStyle xmlns:a="http://schemas.openxmlformats.org/drawingml/2006/main"/>
          <a:p xmlns:a="http://schemas.openxmlformats.org/drawingml/2006/main">
            <a:pPr algn="ctr">
              <a:spcAft>
                <a:spcPts val="500"/>
              </a:spcAft>
              <a:buNone/>
              <a:defRPr sz="1050" b="1" i="0">
                <a:solidFill>
                  <a:srgbClr val="FFFFFF"/>
                </a:solidFill>
                <a:latin typeface="Aptos"/>
                <a:ea typeface="Aptos"/>
                <a:cs typeface="Aptos"/>
              </a:defRPr>
            </a:pPr>
            <a:r>
              <a:t>Strength</a:t>
            </a:r>
          </a:p>
        </p:txBody>
      </p:sp>
      <p:sp>
        <p:nvSpPr>
          <p:cNvPr id="7" name="Rectangle 6">
            <a:extLst xmlns:a="http://schemas.openxmlformats.org/drawingml/2006/main">
              <a:ext uri="{FF2B5EF4-FFF2-40B4-BE49-F238E27FC236}">
                <a16:creationId xmlns:a16="http://schemas.microsoft.com/office/drawing/2014/main" id="{E1182A5B-6B44-4C52-8426-0FC3A4552BA7}"/>
              </a:ext>
            </a:extLst>
          </p:cNvPr>
          <p:cNvSpPr>
            <a:spLocks xmlns:a="http://schemas.openxmlformats.org/drawingml/2006/main" noGrp="1"/>
          </p:cNvSpPr>
          <p:nvPr/>
        </p:nvSpPr>
        <p:spPr>
          <a:xfrm xmlns:a="http://schemas.openxmlformats.org/drawingml/2006/main">
            <a:off x="6181344" y="1371600"/>
            <a:ext cx="2331720" cy="438912"/>
          </a:xfrm>
          <a:prstGeom xmlns:a="http://schemas.openxmlformats.org/drawingml/2006/main" prst="rect">
            <a:avLst/>
          </a:prstGeom>
          <a:solidFill xmlns:a="http://schemas.openxmlformats.org/drawingml/2006/main">
            <a:srgbClr val="371455"/>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82296" tIns="82296" rIns="82296" bIns="82296" anchor="ctr"/>
          <a:lstStyle xmlns:a="http://schemas.openxmlformats.org/drawingml/2006/main"/>
          <a:p xmlns:a="http://schemas.openxmlformats.org/drawingml/2006/main">
            <a:pPr algn="ctr">
              <a:spcAft>
                <a:spcPts val="500"/>
              </a:spcAft>
              <a:buNone/>
              <a:defRPr sz="1050" b="1" i="0">
                <a:solidFill>
                  <a:srgbClr val="FFFFFF"/>
                </a:solidFill>
                <a:latin typeface="Aptos"/>
                <a:ea typeface="Aptos"/>
                <a:cs typeface="Aptos"/>
              </a:defRPr>
            </a:pPr>
            <a:r>
              <a:t>Limitation</a:t>
            </a:r>
          </a:p>
        </p:txBody>
      </p:sp>
      <p:sp>
        <p:nvSpPr>
          <p:cNvPr id="8" name="Rectangle 7">
            <a:extLst xmlns:a="http://schemas.openxmlformats.org/drawingml/2006/main">
              <a:ext uri="{FF2B5EF4-FFF2-40B4-BE49-F238E27FC236}">
                <a16:creationId xmlns:a16="http://schemas.microsoft.com/office/drawing/2014/main" id="{2E320FE4-FDED-4E93-BC57-3ADB3C93CB38}"/>
              </a:ext>
            </a:extLst>
          </p:cNvPr>
          <p:cNvSpPr>
            <a:spLocks xmlns:a="http://schemas.openxmlformats.org/drawingml/2006/main" noGrp="1"/>
          </p:cNvSpPr>
          <p:nvPr/>
        </p:nvSpPr>
        <p:spPr>
          <a:xfrm xmlns:a="http://schemas.openxmlformats.org/drawingml/2006/main">
            <a:off x="502920" y="1810512"/>
            <a:ext cx="1508760" cy="530352"/>
          </a:xfrm>
          <a:prstGeom xmlns:a="http://schemas.openxmlformats.org/drawingml/2006/main" prst="rect">
            <a:avLst/>
          </a:prstGeom>
          <a:solidFill xmlns:a="http://schemas.openxmlformats.org/drawingml/2006/main">
            <a:srgbClr val="FFFFFF"/>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Rules</a:t>
            </a:r>
          </a:p>
        </p:txBody>
      </p:sp>
      <p:sp>
        <p:nvSpPr>
          <p:cNvPr id="9" name="Rectangle 8">
            <a:extLst xmlns:a="http://schemas.openxmlformats.org/drawingml/2006/main">
              <a:ext uri="{FF2B5EF4-FFF2-40B4-BE49-F238E27FC236}">
                <a16:creationId xmlns:a16="http://schemas.microsoft.com/office/drawing/2014/main" id="{97359E93-D62F-4E56-AAE1-343829AB4CAA}"/>
              </a:ext>
            </a:extLst>
          </p:cNvPr>
          <p:cNvSpPr>
            <a:spLocks xmlns:a="http://schemas.openxmlformats.org/drawingml/2006/main" noGrp="1"/>
          </p:cNvSpPr>
          <p:nvPr/>
        </p:nvSpPr>
        <p:spPr>
          <a:xfrm xmlns:a="http://schemas.openxmlformats.org/drawingml/2006/main">
            <a:off x="2011680" y="1810512"/>
            <a:ext cx="1993392" cy="530352"/>
          </a:xfrm>
          <a:prstGeom xmlns:a="http://schemas.openxmlformats.org/drawingml/2006/main" prst="rect">
            <a:avLst/>
          </a:prstGeom>
          <a:solidFill xmlns:a="http://schemas.openxmlformats.org/drawingml/2006/main">
            <a:srgbClr val="FFFFFF"/>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Local: 25.0% Macro-F1</a:t>
            </a:r>
            <a:br/>
            <a:r>
              <a:t>25% coverage</a:t>
            </a:r>
          </a:p>
        </p:txBody>
      </p:sp>
      <p:sp>
        <p:nvSpPr>
          <p:cNvPr id="10" name="Rectangle 9">
            <a:extLst xmlns:a="http://schemas.openxmlformats.org/drawingml/2006/main">
              <a:ext uri="{FF2B5EF4-FFF2-40B4-BE49-F238E27FC236}">
                <a16:creationId xmlns:a16="http://schemas.microsoft.com/office/drawing/2014/main" id="{18582E13-9128-4400-80B2-972A6405EA30}"/>
              </a:ext>
            </a:extLst>
          </p:cNvPr>
          <p:cNvSpPr>
            <a:spLocks xmlns:a="http://schemas.openxmlformats.org/drawingml/2006/main" noGrp="1"/>
          </p:cNvSpPr>
          <p:nvPr/>
        </p:nvSpPr>
        <p:spPr>
          <a:xfrm xmlns:a="http://schemas.openxmlformats.org/drawingml/2006/main">
            <a:off x="4005072" y="1810512"/>
            <a:ext cx="2176272" cy="530352"/>
          </a:xfrm>
          <a:prstGeom xmlns:a="http://schemas.openxmlformats.org/drawingml/2006/main" prst="rect">
            <a:avLst/>
          </a:prstGeom>
          <a:solidFill xmlns:a="http://schemas.openxmlformats.org/drawingml/2006/main">
            <a:srgbClr val="FFFFFF"/>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Cheap, auditable</a:t>
            </a:r>
          </a:p>
        </p:txBody>
      </p:sp>
      <p:sp>
        <p:nvSpPr>
          <p:cNvPr id="11" name="Rectangle 10">
            <a:extLst xmlns:a="http://schemas.openxmlformats.org/drawingml/2006/main">
              <a:ext uri="{FF2B5EF4-FFF2-40B4-BE49-F238E27FC236}">
                <a16:creationId xmlns:a16="http://schemas.microsoft.com/office/drawing/2014/main" id="{900B29CD-7852-4877-80BE-281333701364}"/>
              </a:ext>
            </a:extLst>
          </p:cNvPr>
          <p:cNvSpPr>
            <a:spLocks xmlns:a="http://schemas.openxmlformats.org/drawingml/2006/main" noGrp="1"/>
          </p:cNvSpPr>
          <p:nvPr/>
        </p:nvSpPr>
        <p:spPr>
          <a:xfrm xmlns:a="http://schemas.openxmlformats.org/drawingml/2006/main">
            <a:off x="6181344" y="1810512"/>
            <a:ext cx="2331720" cy="530352"/>
          </a:xfrm>
          <a:prstGeom xmlns:a="http://schemas.openxmlformats.org/drawingml/2006/main" prst="rect">
            <a:avLst/>
          </a:prstGeom>
          <a:solidFill xmlns:a="http://schemas.openxmlformats.org/drawingml/2006/main">
            <a:srgbClr val="FFFFFF"/>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Brittle; abstains often</a:t>
            </a:r>
          </a:p>
        </p:txBody>
      </p:sp>
      <p:sp>
        <p:nvSpPr>
          <p:cNvPr id="12" name="Rectangle 11">
            <a:extLst xmlns:a="http://schemas.openxmlformats.org/drawingml/2006/main">
              <a:ext uri="{FF2B5EF4-FFF2-40B4-BE49-F238E27FC236}">
                <a16:creationId xmlns:a16="http://schemas.microsoft.com/office/drawing/2014/main" id="{80B58CE5-FC41-437F-83B1-A4ED76CC79EF}"/>
              </a:ext>
            </a:extLst>
          </p:cNvPr>
          <p:cNvSpPr>
            <a:spLocks xmlns:a="http://schemas.openxmlformats.org/drawingml/2006/main" noGrp="1"/>
          </p:cNvSpPr>
          <p:nvPr/>
        </p:nvSpPr>
        <p:spPr>
          <a:xfrm xmlns:a="http://schemas.openxmlformats.org/drawingml/2006/main">
            <a:off x="502920" y="2359152"/>
            <a:ext cx="1508760" cy="530352"/>
          </a:xfrm>
          <a:prstGeom xmlns:a="http://schemas.openxmlformats.org/drawingml/2006/main" prst="rect">
            <a:avLst/>
          </a:prstGeom>
          <a:solidFill xmlns:a="http://schemas.openxmlformats.org/drawingml/2006/main">
            <a:srgbClr val="F7F6FA"/>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Word TF-IDF</a:t>
            </a:r>
          </a:p>
        </p:txBody>
      </p:sp>
      <p:sp>
        <p:nvSpPr>
          <p:cNvPr id="13" name="Rectangle 12">
            <a:extLst xmlns:a="http://schemas.openxmlformats.org/drawingml/2006/main">
              <a:ext uri="{FF2B5EF4-FFF2-40B4-BE49-F238E27FC236}">
                <a16:creationId xmlns:a16="http://schemas.microsoft.com/office/drawing/2014/main" id="{A951CFFF-5B39-450F-A668-714BD9C743A5}"/>
              </a:ext>
            </a:extLst>
          </p:cNvPr>
          <p:cNvSpPr>
            <a:spLocks xmlns:a="http://schemas.openxmlformats.org/drawingml/2006/main" noGrp="1"/>
          </p:cNvSpPr>
          <p:nvPr/>
        </p:nvSpPr>
        <p:spPr>
          <a:xfrm xmlns:a="http://schemas.openxmlformats.org/drawingml/2006/main">
            <a:off x="2011680" y="2359152"/>
            <a:ext cx="1993392" cy="530352"/>
          </a:xfrm>
          <a:prstGeom xmlns:a="http://schemas.openxmlformats.org/drawingml/2006/main" prst="rect">
            <a:avLst/>
          </a:prstGeom>
          <a:solidFill xmlns:a="http://schemas.openxmlformats.org/drawingml/2006/main">
            <a:srgbClr val="F7F6FA"/>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Local: 37.5% accuracy</a:t>
            </a:r>
            <a:br/>
            <a:r>
              <a:t>33.33% Macro-F1</a:t>
            </a:r>
          </a:p>
        </p:txBody>
      </p:sp>
      <p:sp>
        <p:nvSpPr>
          <p:cNvPr id="14" name="Rectangle 13">
            <a:extLst xmlns:a="http://schemas.openxmlformats.org/drawingml/2006/main">
              <a:ext uri="{FF2B5EF4-FFF2-40B4-BE49-F238E27FC236}">
                <a16:creationId xmlns:a16="http://schemas.microsoft.com/office/drawing/2014/main" id="{7875F39B-6C72-429F-AE8A-DABF07A76703}"/>
              </a:ext>
            </a:extLst>
          </p:cNvPr>
          <p:cNvSpPr>
            <a:spLocks xmlns:a="http://schemas.openxmlformats.org/drawingml/2006/main" noGrp="1"/>
          </p:cNvSpPr>
          <p:nvPr/>
        </p:nvSpPr>
        <p:spPr>
          <a:xfrm xmlns:a="http://schemas.openxmlformats.org/drawingml/2006/main">
            <a:off x="4005072" y="2359152"/>
            <a:ext cx="2176272" cy="530352"/>
          </a:xfrm>
          <a:prstGeom xmlns:a="http://schemas.openxmlformats.org/drawingml/2006/main" prst="rect">
            <a:avLst/>
          </a:prstGeom>
          <a:solidFill xmlns:a="http://schemas.openxmlformats.org/drawingml/2006/main">
            <a:srgbClr val="F7F6FA"/>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Fast, inspectable</a:t>
            </a:r>
          </a:p>
        </p:txBody>
      </p:sp>
      <p:sp>
        <p:nvSpPr>
          <p:cNvPr id="15" name="Rectangle 14">
            <a:extLst xmlns:a="http://schemas.openxmlformats.org/drawingml/2006/main">
              <a:ext uri="{FF2B5EF4-FFF2-40B4-BE49-F238E27FC236}">
                <a16:creationId xmlns:a16="http://schemas.microsoft.com/office/drawing/2014/main" id="{6DAE4F46-1269-4562-A22E-286ED9BB0E0F}"/>
              </a:ext>
            </a:extLst>
          </p:cNvPr>
          <p:cNvSpPr>
            <a:spLocks xmlns:a="http://schemas.openxmlformats.org/drawingml/2006/main" noGrp="1"/>
          </p:cNvSpPr>
          <p:nvPr/>
        </p:nvSpPr>
        <p:spPr>
          <a:xfrm xmlns:a="http://schemas.openxmlformats.org/drawingml/2006/main">
            <a:off x="6181344" y="2359152"/>
            <a:ext cx="2331720" cy="530352"/>
          </a:xfrm>
          <a:prstGeom xmlns:a="http://schemas.openxmlformats.org/drawingml/2006/main" prst="rect">
            <a:avLst/>
          </a:prstGeom>
          <a:solidFill xmlns:a="http://schemas.openxmlformats.org/drawingml/2006/main">
            <a:srgbClr val="F7F6FA"/>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Weak to spelling variants</a:t>
            </a:r>
          </a:p>
        </p:txBody>
      </p:sp>
      <p:sp>
        <p:nvSpPr>
          <p:cNvPr id="16" name="Rectangle 15">
            <a:extLst xmlns:a="http://schemas.openxmlformats.org/drawingml/2006/main">
              <a:ext uri="{FF2B5EF4-FFF2-40B4-BE49-F238E27FC236}">
                <a16:creationId xmlns:a16="http://schemas.microsoft.com/office/drawing/2014/main" id="{2E054388-84F3-4FE4-925C-81138C6287B5}"/>
              </a:ext>
            </a:extLst>
          </p:cNvPr>
          <p:cNvSpPr>
            <a:spLocks xmlns:a="http://schemas.openxmlformats.org/drawingml/2006/main" noGrp="1"/>
          </p:cNvSpPr>
          <p:nvPr/>
        </p:nvSpPr>
        <p:spPr>
          <a:xfrm xmlns:a="http://schemas.openxmlformats.org/drawingml/2006/main">
            <a:off x="502920" y="2907791"/>
            <a:ext cx="1508760" cy="530352"/>
          </a:xfrm>
          <a:prstGeom xmlns:a="http://schemas.openxmlformats.org/drawingml/2006/main" prst="rect">
            <a:avLst/>
          </a:prstGeom>
          <a:solidFill xmlns:a="http://schemas.openxmlformats.org/drawingml/2006/main">
            <a:srgbClr val="F6EFFA"/>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1" i="0">
                <a:solidFill>
                  <a:srgbClr val="1E293B"/>
                </a:solidFill>
                <a:latin typeface="Aptos"/>
                <a:ea typeface="Aptos"/>
                <a:cs typeface="Aptos"/>
              </a:defRPr>
            </a:pPr>
            <a:r>
              <a:t>Character TF-IDF</a:t>
            </a:r>
          </a:p>
        </p:txBody>
      </p:sp>
      <p:sp>
        <p:nvSpPr>
          <p:cNvPr id="17" name="Rectangle 16">
            <a:extLst xmlns:a="http://schemas.openxmlformats.org/drawingml/2006/main">
              <a:ext uri="{FF2B5EF4-FFF2-40B4-BE49-F238E27FC236}">
                <a16:creationId xmlns:a16="http://schemas.microsoft.com/office/drawing/2014/main" id="{07E17DEC-4D2B-43FB-901D-27FACD645B3D}"/>
              </a:ext>
            </a:extLst>
          </p:cNvPr>
          <p:cNvSpPr>
            <a:spLocks xmlns:a="http://schemas.openxmlformats.org/drawingml/2006/main" noGrp="1"/>
          </p:cNvSpPr>
          <p:nvPr/>
        </p:nvSpPr>
        <p:spPr>
          <a:xfrm xmlns:a="http://schemas.openxmlformats.org/drawingml/2006/main">
            <a:off x="2011680" y="2907791"/>
            <a:ext cx="1993392" cy="530352"/>
          </a:xfrm>
          <a:prstGeom xmlns:a="http://schemas.openxmlformats.org/drawingml/2006/main" prst="rect">
            <a:avLst/>
          </a:prstGeom>
          <a:solidFill xmlns:a="http://schemas.openxmlformats.org/drawingml/2006/main">
            <a:srgbClr val="F6EFFA"/>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Local: 75.0% accuracy</a:t>
            </a:r>
            <a:br/>
            <a:r>
              <a:t>66.67% Macro-F1</a:t>
            </a:r>
          </a:p>
        </p:txBody>
      </p:sp>
      <p:sp>
        <p:nvSpPr>
          <p:cNvPr id="18" name="Rectangle 17">
            <a:extLst xmlns:a="http://schemas.openxmlformats.org/drawingml/2006/main">
              <a:ext uri="{FF2B5EF4-FFF2-40B4-BE49-F238E27FC236}">
                <a16:creationId xmlns:a16="http://schemas.microsoft.com/office/drawing/2014/main" id="{80E57AB7-505B-44B6-81EE-D5C96960A3AB}"/>
              </a:ext>
            </a:extLst>
          </p:cNvPr>
          <p:cNvSpPr>
            <a:spLocks xmlns:a="http://schemas.openxmlformats.org/drawingml/2006/main" noGrp="1"/>
          </p:cNvSpPr>
          <p:nvPr/>
        </p:nvSpPr>
        <p:spPr>
          <a:xfrm xmlns:a="http://schemas.openxmlformats.org/drawingml/2006/main">
            <a:off x="4005072" y="2907791"/>
            <a:ext cx="2176272" cy="530352"/>
          </a:xfrm>
          <a:prstGeom xmlns:a="http://schemas.openxmlformats.org/drawingml/2006/main" prst="rect">
            <a:avLst/>
          </a:prstGeom>
          <a:solidFill xmlns:a="http://schemas.openxmlformats.org/drawingml/2006/main">
            <a:srgbClr val="F6EFFA"/>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Robust substrings</a:t>
            </a:r>
          </a:p>
        </p:txBody>
      </p:sp>
      <p:sp>
        <p:nvSpPr>
          <p:cNvPr id="19" name="Rectangle 18">
            <a:extLst xmlns:a="http://schemas.openxmlformats.org/drawingml/2006/main">
              <a:ext uri="{FF2B5EF4-FFF2-40B4-BE49-F238E27FC236}">
                <a16:creationId xmlns:a16="http://schemas.microsoft.com/office/drawing/2014/main" id="{5B15AE09-058F-4E23-BBAE-7D9829E7FDE6}"/>
              </a:ext>
            </a:extLst>
          </p:cNvPr>
          <p:cNvSpPr>
            <a:spLocks xmlns:a="http://schemas.openxmlformats.org/drawingml/2006/main" noGrp="1"/>
          </p:cNvSpPr>
          <p:nvPr/>
        </p:nvSpPr>
        <p:spPr>
          <a:xfrm xmlns:a="http://schemas.openxmlformats.org/drawingml/2006/main">
            <a:off x="6181344" y="2907791"/>
            <a:ext cx="2331720" cy="530352"/>
          </a:xfrm>
          <a:prstGeom xmlns:a="http://schemas.openxmlformats.org/drawingml/2006/main" prst="rect">
            <a:avLst/>
          </a:prstGeom>
          <a:solidFill xmlns:a="http://schemas.openxmlformats.org/drawingml/2006/main">
            <a:srgbClr val="F6EFFA"/>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Selected tie: 331,415 bytes</a:t>
            </a:r>
          </a:p>
        </p:txBody>
      </p:sp>
      <p:sp>
        <p:nvSpPr>
          <p:cNvPr id="20" name="Rectangle 19">
            <a:extLst xmlns:a="http://schemas.openxmlformats.org/drawingml/2006/main">
              <a:ext uri="{FF2B5EF4-FFF2-40B4-BE49-F238E27FC236}">
                <a16:creationId xmlns:a16="http://schemas.microsoft.com/office/drawing/2014/main" id="{9A47CCE4-DFC0-4B12-BE4F-755722C88B00}"/>
              </a:ext>
            </a:extLst>
          </p:cNvPr>
          <p:cNvSpPr>
            <a:spLocks xmlns:a="http://schemas.openxmlformats.org/drawingml/2006/main" noGrp="1"/>
          </p:cNvSpPr>
          <p:nvPr/>
        </p:nvSpPr>
        <p:spPr>
          <a:xfrm xmlns:a="http://schemas.openxmlformats.org/drawingml/2006/main">
            <a:off x="502920" y="3456432"/>
            <a:ext cx="1508760" cy="530352"/>
          </a:xfrm>
          <a:prstGeom xmlns:a="http://schemas.openxmlformats.org/drawingml/2006/main" prst="rect">
            <a:avLst/>
          </a:prstGeom>
          <a:solidFill xmlns:a="http://schemas.openxmlformats.org/drawingml/2006/main">
            <a:srgbClr val="F7F6FA"/>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Word + character</a:t>
            </a:r>
          </a:p>
        </p:txBody>
      </p:sp>
      <p:sp>
        <p:nvSpPr>
          <p:cNvPr id="21" name="Rectangle 20">
            <a:extLst xmlns:a="http://schemas.openxmlformats.org/drawingml/2006/main">
              <a:ext uri="{FF2B5EF4-FFF2-40B4-BE49-F238E27FC236}">
                <a16:creationId xmlns:a16="http://schemas.microsoft.com/office/drawing/2014/main" id="{1BA36166-07BE-4E80-A238-C582B98A1215}"/>
              </a:ext>
            </a:extLst>
          </p:cNvPr>
          <p:cNvSpPr>
            <a:spLocks xmlns:a="http://schemas.openxmlformats.org/drawingml/2006/main" noGrp="1"/>
          </p:cNvSpPr>
          <p:nvPr/>
        </p:nvSpPr>
        <p:spPr>
          <a:xfrm xmlns:a="http://schemas.openxmlformats.org/drawingml/2006/main">
            <a:off x="2011680" y="3456432"/>
            <a:ext cx="1993392" cy="530352"/>
          </a:xfrm>
          <a:prstGeom xmlns:a="http://schemas.openxmlformats.org/drawingml/2006/main" prst="rect">
            <a:avLst/>
          </a:prstGeom>
          <a:solidFill xmlns:a="http://schemas.openxmlformats.org/drawingml/2006/main">
            <a:srgbClr val="F7F6FA"/>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Local: 75.0% accuracy</a:t>
            </a:r>
            <a:br/>
            <a:r>
              <a:t>66.67% Macro-F1</a:t>
            </a:r>
          </a:p>
        </p:txBody>
      </p:sp>
      <p:sp>
        <p:nvSpPr>
          <p:cNvPr id="22" name="Rectangle 21">
            <a:extLst xmlns:a="http://schemas.openxmlformats.org/drawingml/2006/main">
              <a:ext uri="{FF2B5EF4-FFF2-40B4-BE49-F238E27FC236}">
                <a16:creationId xmlns:a16="http://schemas.microsoft.com/office/drawing/2014/main" id="{0A12F856-3CB0-4015-92A2-D84A4CF0E692}"/>
              </a:ext>
            </a:extLst>
          </p:cNvPr>
          <p:cNvSpPr>
            <a:spLocks xmlns:a="http://schemas.openxmlformats.org/drawingml/2006/main" noGrp="1"/>
          </p:cNvSpPr>
          <p:nvPr/>
        </p:nvSpPr>
        <p:spPr>
          <a:xfrm xmlns:a="http://schemas.openxmlformats.org/drawingml/2006/main">
            <a:off x="4005072" y="3456432"/>
            <a:ext cx="2176272" cy="530352"/>
          </a:xfrm>
          <a:prstGeom xmlns:a="http://schemas.openxmlformats.org/drawingml/2006/main" prst="rect">
            <a:avLst/>
          </a:prstGeom>
          <a:solidFill xmlns:a="http://schemas.openxmlformats.org/drawingml/2006/main">
            <a:srgbClr val="F7F6FA"/>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Same decisions</a:t>
            </a:r>
          </a:p>
        </p:txBody>
      </p:sp>
      <p:sp>
        <p:nvSpPr>
          <p:cNvPr id="23" name="Rectangle 22">
            <a:extLst xmlns:a="http://schemas.openxmlformats.org/drawingml/2006/main">
              <a:ext uri="{FF2B5EF4-FFF2-40B4-BE49-F238E27FC236}">
                <a16:creationId xmlns:a16="http://schemas.microsoft.com/office/drawing/2014/main" id="{28850328-2C69-44E5-9FBE-021CA759A9D7}"/>
              </a:ext>
            </a:extLst>
          </p:cNvPr>
          <p:cNvSpPr>
            <a:spLocks xmlns:a="http://schemas.openxmlformats.org/drawingml/2006/main" noGrp="1"/>
          </p:cNvSpPr>
          <p:nvPr/>
        </p:nvSpPr>
        <p:spPr>
          <a:xfrm xmlns:a="http://schemas.openxmlformats.org/drawingml/2006/main">
            <a:off x="6181344" y="3456432"/>
            <a:ext cx="2331720" cy="530352"/>
          </a:xfrm>
          <a:prstGeom xmlns:a="http://schemas.openxmlformats.org/drawingml/2006/main" prst="rect">
            <a:avLst/>
          </a:prstGeom>
          <a:solidFill xmlns:a="http://schemas.openxmlformats.org/drawingml/2006/main">
            <a:srgbClr val="F7F6FA"/>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Larger: 415,954 bytes</a:t>
            </a:r>
          </a:p>
        </p:txBody>
      </p:sp>
      <p:sp>
        <p:nvSpPr>
          <p:cNvPr id="24" name="Rectangle 23">
            <a:extLst xmlns:a="http://schemas.openxmlformats.org/drawingml/2006/main">
              <a:ext uri="{FF2B5EF4-FFF2-40B4-BE49-F238E27FC236}">
                <a16:creationId xmlns:a16="http://schemas.microsoft.com/office/drawing/2014/main" id="{6CA27D6E-F6DE-4E6E-A379-4538F77790E2}"/>
              </a:ext>
            </a:extLst>
          </p:cNvPr>
          <p:cNvSpPr>
            <a:spLocks xmlns:a="http://schemas.openxmlformats.org/drawingml/2006/main" noGrp="1"/>
          </p:cNvSpPr>
          <p:nvPr/>
        </p:nvSpPr>
        <p:spPr>
          <a:xfrm xmlns:a="http://schemas.openxmlformats.org/drawingml/2006/main">
            <a:off x="502920" y="4005072"/>
            <a:ext cx="1508760" cy="530352"/>
          </a:xfrm>
          <a:prstGeom xmlns:a="http://schemas.openxmlformats.org/drawingml/2006/main" prst="rect">
            <a:avLst/>
          </a:prstGeom>
          <a:solidFill xmlns:a="http://schemas.openxmlformats.org/drawingml/2006/main">
            <a:srgbClr val="FFFFFF"/>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HingRoBERTa [7]</a:t>
            </a:r>
          </a:p>
        </p:txBody>
      </p:sp>
      <p:sp>
        <p:nvSpPr>
          <p:cNvPr id="25" name="Rectangle 24">
            <a:extLst xmlns:a="http://schemas.openxmlformats.org/drawingml/2006/main">
              <a:ext uri="{FF2B5EF4-FFF2-40B4-BE49-F238E27FC236}">
                <a16:creationId xmlns:a16="http://schemas.microsoft.com/office/drawing/2014/main" id="{90FF7369-C8AF-409B-A260-3CB9FCD5D168}"/>
              </a:ext>
            </a:extLst>
          </p:cNvPr>
          <p:cNvSpPr>
            <a:spLocks xmlns:a="http://schemas.openxmlformats.org/drawingml/2006/main" noGrp="1"/>
          </p:cNvSpPr>
          <p:nvPr/>
        </p:nvSpPr>
        <p:spPr>
          <a:xfrm xmlns:a="http://schemas.openxmlformats.org/drawingml/2006/main">
            <a:off x="2011680" y="4005072"/>
            <a:ext cx="1993392" cy="530352"/>
          </a:xfrm>
          <a:prstGeom xmlns:a="http://schemas.openxmlformats.org/drawingml/2006/main" prst="rect">
            <a:avLst/>
          </a:prstGeom>
          <a:solidFill xmlns:a="http://schemas.openxmlformats.org/drawingml/2006/main">
            <a:srgbClr val="FFFFFF"/>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74.41% accuracy</a:t>
            </a:r>
            <a:br/>
            <a:r>
              <a:t>71.49% F1</a:t>
            </a:r>
          </a:p>
        </p:txBody>
      </p:sp>
      <p:sp>
        <p:nvSpPr>
          <p:cNvPr id="26" name="Rectangle 25">
            <a:extLst xmlns:a="http://schemas.openxmlformats.org/drawingml/2006/main">
              <a:ext uri="{FF2B5EF4-FFF2-40B4-BE49-F238E27FC236}">
                <a16:creationId xmlns:a16="http://schemas.microsoft.com/office/drawing/2014/main" id="{EF2C1786-00F2-4319-A289-8FB4D4460DDA}"/>
              </a:ext>
            </a:extLst>
          </p:cNvPr>
          <p:cNvSpPr>
            <a:spLocks xmlns:a="http://schemas.openxmlformats.org/drawingml/2006/main" noGrp="1"/>
          </p:cNvSpPr>
          <p:nvPr/>
        </p:nvSpPr>
        <p:spPr>
          <a:xfrm xmlns:a="http://schemas.openxmlformats.org/drawingml/2006/main">
            <a:off x="4005072" y="4005072"/>
            <a:ext cx="2176272" cy="530352"/>
          </a:xfrm>
          <a:prstGeom xmlns:a="http://schemas.openxmlformats.org/drawingml/2006/main" prst="rect">
            <a:avLst/>
          </a:prstGeom>
          <a:solidFill xmlns:a="http://schemas.openxmlformats.org/drawingml/2006/main">
            <a:srgbClr val="FFFFFF"/>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Contextual Hinglish</a:t>
            </a:r>
          </a:p>
        </p:txBody>
      </p:sp>
      <p:sp>
        <p:nvSpPr>
          <p:cNvPr id="27" name="Rectangle 26">
            <a:extLst xmlns:a="http://schemas.openxmlformats.org/drawingml/2006/main">
              <a:ext uri="{FF2B5EF4-FFF2-40B4-BE49-F238E27FC236}">
                <a16:creationId xmlns:a16="http://schemas.microsoft.com/office/drawing/2014/main" id="{7C71C45A-9DFB-4F54-98E8-333683CC3730}"/>
              </a:ext>
            </a:extLst>
          </p:cNvPr>
          <p:cNvSpPr>
            <a:spLocks xmlns:a="http://schemas.openxmlformats.org/drawingml/2006/main" noGrp="1"/>
          </p:cNvSpPr>
          <p:nvPr/>
        </p:nvSpPr>
        <p:spPr>
          <a:xfrm xmlns:a="http://schemas.openxmlformats.org/drawingml/2006/main">
            <a:off x="6181344" y="4005072"/>
            <a:ext cx="2331720" cy="530352"/>
          </a:xfrm>
          <a:prstGeom xmlns:a="http://schemas.openxmlformats.org/drawingml/2006/main" prst="rect">
            <a:avLst/>
          </a:prstGeom>
          <a:solidFill xmlns:a="http://schemas.openxmlformats.org/drawingml/2006/main">
            <a:srgbClr val="FFFFFF"/>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Different I4C task/data</a:t>
            </a:r>
          </a:p>
        </p:txBody>
      </p:sp>
      <p:sp>
        <p:nvSpPr>
          <p:cNvPr id="28" name="Rectangle 27">
            <a:extLst xmlns:a="http://schemas.openxmlformats.org/drawingml/2006/main">
              <a:ext uri="{FF2B5EF4-FFF2-40B4-BE49-F238E27FC236}">
                <a16:creationId xmlns:a16="http://schemas.microsoft.com/office/drawing/2014/main" id="{36814F53-88DF-4D90-BF81-804B0D54AAE2}"/>
              </a:ext>
            </a:extLst>
          </p:cNvPr>
          <p:cNvSpPr>
            <a:spLocks xmlns:a="http://schemas.openxmlformats.org/drawingml/2006/main" noGrp="1"/>
          </p:cNvSpPr>
          <p:nvPr/>
        </p:nvSpPr>
        <p:spPr>
          <a:xfrm xmlns:a="http://schemas.openxmlformats.org/drawingml/2006/main">
            <a:off x="502920" y="4553712"/>
            <a:ext cx="1508760" cy="530352"/>
          </a:xfrm>
          <a:prstGeom xmlns:a="http://schemas.openxmlformats.org/drawingml/2006/main" prst="rect">
            <a:avLst/>
          </a:prstGeom>
          <a:solidFill xmlns:a="http://schemas.openxmlformats.org/drawingml/2006/main">
            <a:srgbClr val="F7F6FA"/>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Neural URL model [9]</a:t>
            </a:r>
          </a:p>
        </p:txBody>
      </p:sp>
      <p:sp>
        <p:nvSpPr>
          <p:cNvPr id="29" name="Rectangle 28">
            <a:extLst xmlns:a="http://schemas.openxmlformats.org/drawingml/2006/main">
              <a:ext uri="{FF2B5EF4-FFF2-40B4-BE49-F238E27FC236}">
                <a16:creationId xmlns:a16="http://schemas.microsoft.com/office/drawing/2014/main" id="{686B1751-2E47-4035-ABF4-B72B9810961E}"/>
              </a:ext>
            </a:extLst>
          </p:cNvPr>
          <p:cNvSpPr>
            <a:spLocks xmlns:a="http://schemas.openxmlformats.org/drawingml/2006/main" noGrp="1"/>
          </p:cNvSpPr>
          <p:nvPr/>
        </p:nvSpPr>
        <p:spPr>
          <a:xfrm xmlns:a="http://schemas.openxmlformats.org/drawingml/2006/main">
            <a:off x="2011680" y="4553712"/>
            <a:ext cx="1993392" cy="530352"/>
          </a:xfrm>
          <a:prstGeom xmlns:a="http://schemas.openxmlformats.org/drawingml/2006/main" prst="rect">
            <a:avLst/>
          </a:prstGeom>
          <a:solidFill xmlns:a="http://schemas.openxmlformats.org/drawingml/2006/main">
            <a:srgbClr val="F7F6FA"/>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About 97% validation accuracy</a:t>
            </a:r>
          </a:p>
        </p:txBody>
      </p:sp>
      <p:sp>
        <p:nvSpPr>
          <p:cNvPr id="30" name="Rectangle 29">
            <a:extLst xmlns:a="http://schemas.openxmlformats.org/drawingml/2006/main">
              <a:ext uri="{FF2B5EF4-FFF2-40B4-BE49-F238E27FC236}">
                <a16:creationId xmlns:a16="http://schemas.microsoft.com/office/drawing/2014/main" id="{77739681-94BB-4A13-B2C5-605FBB9D2D46}"/>
              </a:ext>
            </a:extLst>
          </p:cNvPr>
          <p:cNvSpPr>
            <a:spLocks xmlns:a="http://schemas.openxmlformats.org/drawingml/2006/main" noGrp="1"/>
          </p:cNvSpPr>
          <p:nvPr/>
        </p:nvSpPr>
        <p:spPr>
          <a:xfrm xmlns:a="http://schemas.openxmlformats.org/drawingml/2006/main">
            <a:off x="4005072" y="4553712"/>
            <a:ext cx="2176272" cy="530352"/>
          </a:xfrm>
          <a:prstGeom xmlns:a="http://schemas.openxmlformats.org/drawingml/2006/main" prst="rect">
            <a:avLst/>
          </a:prstGeom>
          <a:solidFill xmlns:a="http://schemas.openxmlformats.org/drawingml/2006/main">
            <a:srgbClr val="F7F6FA"/>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Specialized URL scale</a:t>
            </a:r>
          </a:p>
        </p:txBody>
      </p:sp>
      <p:sp>
        <p:nvSpPr>
          <p:cNvPr id="31" name="Rectangle 30">
            <a:extLst xmlns:a="http://schemas.openxmlformats.org/drawingml/2006/main">
              <a:ext uri="{FF2B5EF4-FFF2-40B4-BE49-F238E27FC236}">
                <a16:creationId xmlns:a16="http://schemas.microsoft.com/office/drawing/2014/main" id="{024A195A-F6C9-4D29-B767-F0CF9EB30EBB}"/>
              </a:ext>
            </a:extLst>
          </p:cNvPr>
          <p:cNvSpPr>
            <a:spLocks xmlns:a="http://schemas.openxmlformats.org/drawingml/2006/main" noGrp="1"/>
          </p:cNvSpPr>
          <p:nvPr/>
        </p:nvSpPr>
        <p:spPr>
          <a:xfrm xmlns:a="http://schemas.openxmlformats.org/drawingml/2006/main">
            <a:off x="6181344" y="4553712"/>
            <a:ext cx="2331720" cy="530352"/>
          </a:xfrm>
          <a:prstGeom xmlns:a="http://schemas.openxmlformats.org/drawingml/2006/main" prst="rect">
            <a:avLst/>
          </a:prstGeom>
          <a:solidFill xmlns:a="http://schemas.openxmlformats.org/drawingml/2006/main">
            <a:srgbClr val="F7F6FA"/>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Binary URL task only</a:t>
            </a:r>
          </a:p>
        </p:txBody>
      </p:sp>
      <p:sp>
        <p:nvSpPr>
          <p:cNvPr id="32" name="Rectangle 31">
            <a:extLst xmlns:a="http://schemas.openxmlformats.org/drawingml/2006/main">
              <a:ext uri="{FF2B5EF4-FFF2-40B4-BE49-F238E27FC236}">
                <a16:creationId xmlns:a16="http://schemas.microsoft.com/office/drawing/2014/main" id="{604B077D-26F5-44EE-881A-0B2D29F6CCFC}"/>
              </a:ext>
            </a:extLst>
          </p:cNvPr>
          <p:cNvSpPr>
            <a:spLocks xmlns:a="http://schemas.openxmlformats.org/drawingml/2006/main" noGrp="1"/>
          </p:cNvSpPr>
          <p:nvPr/>
        </p:nvSpPr>
        <p:spPr>
          <a:xfrm xmlns:a="http://schemas.openxmlformats.org/drawingml/2006/main">
            <a:off x="502920" y="5102352"/>
            <a:ext cx="1508760" cy="530352"/>
          </a:xfrm>
          <a:prstGeom xmlns:a="http://schemas.openxmlformats.org/drawingml/2006/main" prst="rect">
            <a:avLst/>
          </a:prstGeom>
          <a:solidFill xmlns:a="http://schemas.openxmlformats.org/drawingml/2006/main">
            <a:srgbClr val="FFFFFF"/>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Financial GNNs [10]</a:t>
            </a:r>
          </a:p>
        </p:txBody>
      </p:sp>
      <p:sp>
        <p:nvSpPr>
          <p:cNvPr id="33" name="Rectangle 32">
            <a:extLst xmlns:a="http://schemas.openxmlformats.org/drawingml/2006/main">
              <a:ext uri="{FF2B5EF4-FFF2-40B4-BE49-F238E27FC236}">
                <a16:creationId xmlns:a16="http://schemas.microsoft.com/office/drawing/2014/main" id="{6A85BDB6-801D-481E-A150-2EDE7B9C195C}"/>
              </a:ext>
            </a:extLst>
          </p:cNvPr>
          <p:cNvSpPr>
            <a:spLocks xmlns:a="http://schemas.openxmlformats.org/drawingml/2006/main" noGrp="1"/>
          </p:cNvSpPr>
          <p:nvPr/>
        </p:nvSpPr>
        <p:spPr>
          <a:xfrm xmlns:a="http://schemas.openxmlformats.org/drawingml/2006/main">
            <a:off x="2011680" y="5102352"/>
            <a:ext cx="1993392" cy="530352"/>
          </a:xfrm>
          <a:prstGeom xmlns:a="http://schemas.openxmlformats.org/drawingml/2006/main" prst="rect">
            <a:avLst/>
          </a:prstGeom>
          <a:solidFill xmlns:a="http://schemas.openxmlformats.org/drawingml/2006/main">
            <a:srgbClr val="FFFFFF"/>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No universal score</a:t>
            </a:r>
          </a:p>
        </p:txBody>
      </p:sp>
      <p:sp>
        <p:nvSpPr>
          <p:cNvPr id="34" name="Rectangle 33">
            <a:extLst xmlns:a="http://schemas.openxmlformats.org/drawingml/2006/main">
              <a:ext uri="{FF2B5EF4-FFF2-40B4-BE49-F238E27FC236}">
                <a16:creationId xmlns:a16="http://schemas.microsoft.com/office/drawing/2014/main" id="{EF0883C4-09AF-4206-AF3D-CC4F7D5EB729}"/>
              </a:ext>
            </a:extLst>
          </p:cNvPr>
          <p:cNvSpPr>
            <a:spLocks xmlns:a="http://schemas.openxmlformats.org/drawingml/2006/main" noGrp="1"/>
          </p:cNvSpPr>
          <p:nvPr/>
        </p:nvSpPr>
        <p:spPr>
          <a:xfrm xmlns:a="http://schemas.openxmlformats.org/drawingml/2006/main">
            <a:off x="4005072" y="5102352"/>
            <a:ext cx="2176272" cy="530352"/>
          </a:xfrm>
          <a:prstGeom xmlns:a="http://schemas.openxmlformats.org/drawingml/2006/main" prst="rect">
            <a:avLst/>
          </a:prstGeom>
          <a:solidFill xmlns:a="http://schemas.openxmlformats.org/drawingml/2006/main">
            <a:srgbClr val="FFFFFF"/>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Relational patterns</a:t>
            </a:r>
          </a:p>
        </p:txBody>
      </p:sp>
      <p:sp>
        <p:nvSpPr>
          <p:cNvPr id="35" name="Rectangle 34">
            <a:extLst xmlns:a="http://schemas.openxmlformats.org/drawingml/2006/main">
              <a:ext uri="{FF2B5EF4-FFF2-40B4-BE49-F238E27FC236}">
                <a16:creationId xmlns:a16="http://schemas.microsoft.com/office/drawing/2014/main" id="{6E60A762-2585-458A-B6CF-876B8023D94D}"/>
              </a:ext>
            </a:extLst>
          </p:cNvPr>
          <p:cNvSpPr>
            <a:spLocks xmlns:a="http://schemas.openxmlformats.org/drawingml/2006/main" noGrp="1"/>
          </p:cNvSpPr>
          <p:nvPr/>
        </p:nvSpPr>
        <p:spPr>
          <a:xfrm xmlns:a="http://schemas.openxmlformats.org/drawingml/2006/main">
            <a:off x="6181344" y="5102352"/>
            <a:ext cx="2331720" cy="530352"/>
          </a:xfrm>
          <a:prstGeom xmlns:a="http://schemas.openxmlformats.org/drawingml/2006/main" prst="rect">
            <a:avLst/>
          </a:prstGeom>
          <a:solidFill xmlns:a="http://schemas.openxmlformats.org/drawingml/2006/main">
            <a:srgbClr val="FFFFFF"/>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50292" tIns="50292" rIns="50292" bIns="50292" anchor="ctr"/>
          <a:lstStyle xmlns:a="http://schemas.openxmlformats.org/drawingml/2006/main"/>
          <a:p xmlns:a="http://schemas.openxmlformats.org/drawingml/2006/main">
            <a:pPr algn="ctr">
              <a:spcAft>
                <a:spcPts val="500"/>
              </a:spcAft>
              <a:buNone/>
              <a:defRPr sz="900" b="0" i="0">
                <a:solidFill>
                  <a:srgbClr val="1E293B"/>
                </a:solidFill>
                <a:latin typeface="Aptos"/>
                <a:ea typeface="Aptos"/>
                <a:cs typeface="Aptos"/>
              </a:defRPr>
            </a:pPr>
            <a:r>
              <a:t>Needs labelled temporal graph</a:t>
            </a:r>
          </a:p>
        </p:txBody>
      </p:sp>
      <p:sp>
        <p:nvSpPr>
          <p:cNvPr id="36" name="Rounded Rectangle 35">
            <a:extLst xmlns:a="http://schemas.openxmlformats.org/drawingml/2006/main">
              <a:ext uri="{FF2B5EF4-FFF2-40B4-BE49-F238E27FC236}">
                <a16:creationId xmlns:a16="http://schemas.microsoft.com/office/drawing/2014/main" id="{E24F61ED-E0B1-4F32-B076-4B875F2B1A06}"/>
              </a:ext>
            </a:extLst>
          </p:cNvPr>
          <p:cNvSpPr>
            <a:spLocks xmlns:a="http://schemas.openxmlformats.org/drawingml/2006/main" noGrp="1"/>
          </p:cNvSpPr>
          <p:nvPr/>
        </p:nvSpPr>
        <p:spPr>
          <a:xfrm xmlns:a="http://schemas.openxmlformats.org/drawingml/2006/main">
            <a:off x="1920240" y="5833872"/>
            <a:ext cx="5303520" cy="310896"/>
          </a:xfrm>
          <a:prstGeom xmlns:a="http://schemas.openxmlformats.org/drawingml/2006/main" prst="roundRect">
            <a:avLst/>
          </a:prstGeom>
          <a:solidFill xmlns:a="http://schemas.openxmlformats.org/drawingml/2006/main">
            <a:srgbClr val="A9233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37" name="TextBox 36">
            <a:extLst xmlns:a="http://schemas.openxmlformats.org/drawingml/2006/main">
              <a:ext uri="{FF2B5EF4-FFF2-40B4-BE49-F238E27FC236}">
                <a16:creationId xmlns:a16="http://schemas.microsoft.com/office/drawing/2014/main" id="{33D91ADE-945B-4A3B-8302-6AF87A949C9D}"/>
              </a:ext>
            </a:extLst>
          </p:cNvPr>
          <p:cNvSpPr>
            <a:spLocks xmlns:a="http://schemas.openxmlformats.org/drawingml/2006/main" noGrp="1"/>
          </p:cNvSpPr>
          <p:nvPr/>
        </p:nvSpPr>
        <p:spPr>
          <a:xfrm xmlns:a="http://schemas.openxmlformats.org/drawingml/2006/main">
            <a:off x="1938528" y="5847588"/>
            <a:ext cx="5266944" cy="246888"/>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lgn="ctr">
              <a:buNone/>
            </a:pPr>
            <a:r>
              <a:rPr sz="1019" b="1" i="0">
                <a:solidFill>
                  <a:srgbClr val="FFFFFF"/>
                </a:solidFill>
                <a:latin typeface="Aptos"/>
                <a:ea typeface="Aptos"/>
                <a:cs typeface="Aptos"/>
              </a:rPr>
              <a:t>External scores are not directly comparable; this is not a shared leaderboard</a:t>
            </a:r>
          </a:p>
        </p:txBody>
      </p:sp>
      <p:sp>
        <p:nvSpPr>
          <p:cNvPr id="38" name="TextBox 37">
            <a:extLst xmlns:a="http://schemas.openxmlformats.org/drawingml/2006/main">
              <a:ext uri="{FF2B5EF4-FFF2-40B4-BE49-F238E27FC236}">
                <a16:creationId xmlns:a16="http://schemas.microsoft.com/office/drawing/2014/main" id="{98A225F7-4AC7-43B1-BCE1-6CCA7CC4DDE2}"/>
              </a:ext>
            </a:extLst>
          </p:cNvPr>
          <p:cNvSpPr>
            <a:spLocks xmlns:a="http://schemas.openxmlformats.org/drawingml/2006/main" noGrp="1"/>
          </p:cNvSpPr>
          <p:nvPr/>
        </p:nvSpPr>
        <p:spPr>
          <a:xfrm xmlns:a="http://schemas.openxmlformats.org/drawingml/2006/main">
            <a:off x="502920" y="6528816"/>
            <a:ext cx="7818120" cy="201168"/>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830" b="0" i="0">
                <a:solidFill>
                  <a:srgbClr val="475569"/>
                </a:solidFill>
                <a:latin typeface="Aptos"/>
                <a:ea typeface="Aptos"/>
                <a:cs typeface="Aptos"/>
              </a:rPr>
              <a:t>Sources: [7] Rani et al. 2024; [9] Ghalechyan et al. 2024; [10] Cheng et al. 2024</a:t>
            </a:r>
          </a:p>
        </p:txBody>
      </p:sp>
      <p:sp>
        <p:nvSpPr>
          <p:cNvPr id="39" name="TextBox 38">
            <a:extLst xmlns:a="http://schemas.openxmlformats.org/drawingml/2006/main">
              <a:ext uri="{FF2B5EF4-FFF2-40B4-BE49-F238E27FC236}">
                <a16:creationId xmlns:a16="http://schemas.microsoft.com/office/drawing/2014/main" id="{FD34B59C-1186-4031-8B7F-FC2AB7D08A7E}"/>
              </a:ext>
            </a:extLst>
          </p:cNvPr>
          <p:cNvSpPr>
            <a:spLocks xmlns:a="http://schemas.openxmlformats.org/drawingml/2006/main" noGrp="1"/>
          </p:cNvSpPr>
          <p:nvPr/>
        </p:nvSpPr>
        <p:spPr>
          <a:xfrm xmlns:a="http://schemas.openxmlformats.org/drawingml/2006/main">
            <a:off x="8394192" y="6528816"/>
            <a:ext cx="274320" cy="182880"/>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r">
              <a:buNone/>
            </a:pPr>
            <a:r>
              <a:rPr sz="800" b="1" i="0">
                <a:solidFill>
                  <a:srgbClr val="5B1D8C"/>
                </a:solidFill>
                <a:latin typeface="Aptos"/>
                <a:ea typeface="Aptos"/>
                <a:cs typeface="Aptos"/>
              </a:rPr>
              <a:t>4</a:t>
            </a:r>
          </a:p>
        </p:txBody>
      </p:sp>
    </p:spTree>
    <p:extLst>
      <p:ext uri="{BB962C8B-B14F-4D97-AF65-F5344CB8AC3E}">
        <p14:creationId xmlns:p14="http://schemas.microsoft.com/office/powerpoint/2010/main" val="15126006"/>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F64C67E1-A2BE-417A-A6C6-77802A0045D3}"/>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rPr b="1">
                <a:solidFill>
                  <a:srgbClr val="1E293B"/>
                </a:solidFill>
                <a:latin typeface="Aptos Display"/>
                <a:ea typeface="Aptos Display"/>
                <a:cs typeface="Aptos Display"/>
              </a:rPr>
              <a:t>Proposed System Architecture</a:t>
            </a:r>
          </a:p>
        </p:txBody>
      </p:sp>
      <p:sp>
        <p:nvSpPr>
          <p:cNvPr id="3" name="TextBox 2">
            <a:extLst xmlns:a="http://schemas.openxmlformats.org/drawingml/2006/main">
              <a:ext uri="{FF2B5EF4-FFF2-40B4-BE49-F238E27FC236}">
                <a16:creationId xmlns:a16="http://schemas.microsoft.com/office/drawing/2014/main" id="{B7421C35-D916-45A8-8334-9DA95C1EDA03}"/>
              </a:ext>
            </a:extLst>
          </p:cNvPr>
          <p:cNvSpPr>
            <a:spLocks xmlns:a="http://schemas.openxmlformats.org/drawingml/2006/main" noGrp="1"/>
          </p:cNvSpPr>
          <p:nvPr/>
        </p:nvSpPr>
        <p:spPr>
          <a:xfrm xmlns:a="http://schemas.openxmlformats.org/drawingml/2006/main">
            <a:off x="502920" y="960120"/>
            <a:ext cx="8001000" cy="320040"/>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100" b="0" i="0">
                <a:solidFill>
                  <a:srgbClr val="475569"/>
                </a:solidFill>
                <a:latin typeface="Aptos"/>
                <a:ea typeface="Aptos"/>
                <a:cs typeface="Aptos"/>
              </a:rPr>
              <a:t>One shared analysis path; storage and graph reads remain optional and privacy-bounded</a:t>
            </a:r>
          </a:p>
        </p:txBody>
      </p:sp>
      <p:sp>
        <p:nvSpPr>
          <p:cNvPr id="4" name="Rounded Rectangle 3">
            <a:extLst xmlns:a="http://schemas.openxmlformats.org/drawingml/2006/main">
              <a:ext uri="{FF2B5EF4-FFF2-40B4-BE49-F238E27FC236}">
                <a16:creationId xmlns:a16="http://schemas.microsoft.com/office/drawing/2014/main" id="{832C3201-8245-447A-9F27-BA5C4B5B595F}"/>
              </a:ext>
            </a:extLst>
          </p:cNvPr>
          <p:cNvSpPr>
            <a:spLocks xmlns:a="http://schemas.openxmlformats.org/drawingml/2006/main" noGrp="1"/>
          </p:cNvSpPr>
          <p:nvPr/>
        </p:nvSpPr>
        <p:spPr>
          <a:xfrm xmlns:a="http://schemas.openxmlformats.org/drawingml/2006/main">
            <a:off x="502920" y="1325880"/>
            <a:ext cx="6565392" cy="4800600"/>
          </a:xfrm>
          <a:prstGeom xmlns:a="http://schemas.openxmlformats.org/drawingml/2006/main" prst="roundRect">
            <a:avLst/>
          </a:prstGeom>
          <a:solidFill xmlns:a="http://schemas.openxmlformats.org/drawingml/2006/main">
            <a:srgbClr val="FFFFFF"/>
          </a:solidFill>
          <a:ln xmlns:a="http://schemas.openxmlformats.org/drawingml/2006/main" w="10160">
            <a:solidFill>
              <a:srgbClr val="D7D7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26" name="Picture 4"/>
          <p:cNvPicPr>
            <a:picLocks xmlns:a="http://schemas.openxmlformats.org/drawingml/2006/main" noChangeAspect="1"/>
          </p:cNvPicPr>
          <p:nvPr/>
        </p:nvPicPr>
        <p:blipFill>
          <a:blip xmlns:r="http://schemas.openxmlformats.org/officeDocument/2006/relationships" xmlns:a="http://schemas.openxmlformats.org/drawingml/2006/main" r:embed="R7693ee331c2c4055"/>
          <a:srcRect xmlns:a="http://schemas.openxmlformats.org/drawingml/2006/main" l="0" t="9700" r="0" b="4586"/>
          <a:stretch xmlns:a="http://schemas.openxmlformats.org/drawingml/2006/main">
            <a:fillRect l="0" t="0" r="0" b="0"/>
          </a:stretch>
        </p:blipFill>
        <p:spPr>
          <a:xfrm xmlns:a="http://schemas.openxmlformats.org/drawingml/2006/main">
            <a:off x="539496" y="1639388"/>
            <a:ext cx="6492240" cy="4173582"/>
          </a:xfrm>
          <a:prstGeom xmlns:a="http://schemas.openxmlformats.org/drawingml/2006/main" prst="rect">
            <a:avLst/>
          </a:prstGeom>
        </p:spPr>
      </p:pic>
      <p:sp>
        <p:nvSpPr>
          <p:cNvPr id="6" name="Rounded Rectangle 5">
            <a:extLst xmlns:a="http://schemas.openxmlformats.org/drawingml/2006/main">
              <a:ext uri="{FF2B5EF4-FFF2-40B4-BE49-F238E27FC236}">
                <a16:creationId xmlns:a16="http://schemas.microsoft.com/office/drawing/2014/main" id="{E54D4092-AFFD-4042-9711-971502054998}"/>
              </a:ext>
            </a:extLst>
          </p:cNvPr>
          <p:cNvSpPr>
            <a:spLocks xmlns:a="http://schemas.openxmlformats.org/drawingml/2006/main" noGrp="1"/>
          </p:cNvSpPr>
          <p:nvPr/>
        </p:nvSpPr>
        <p:spPr>
          <a:xfrm xmlns:a="http://schemas.openxmlformats.org/drawingml/2006/main">
            <a:off x="7242048" y="1353312"/>
            <a:ext cx="1353312" cy="1207008"/>
          </a:xfrm>
          <a:prstGeom xmlns:a="http://schemas.openxmlformats.org/drawingml/2006/main" prst="roundRect">
            <a:avLst/>
          </a:prstGeom>
          <a:solidFill xmlns:a="http://schemas.openxmlformats.org/drawingml/2006/main">
            <a:srgbClr val="F6EFFA"/>
          </a:solidFill>
          <a:ln xmlns:a="http://schemas.openxmlformats.org/drawingml/2006/main" w="8890">
            <a:solidFill>
              <a:srgbClr val="E1E1E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Rectangle 6">
            <a:extLst xmlns:a="http://schemas.openxmlformats.org/drawingml/2006/main">
              <a:ext uri="{FF2B5EF4-FFF2-40B4-BE49-F238E27FC236}">
                <a16:creationId xmlns:a16="http://schemas.microsoft.com/office/drawing/2014/main" id="{2C003310-3247-436F-A490-50DAB2F17AC5}"/>
              </a:ext>
            </a:extLst>
          </p:cNvPr>
          <p:cNvSpPr>
            <a:spLocks xmlns:a="http://schemas.openxmlformats.org/drawingml/2006/main" noGrp="1"/>
          </p:cNvSpPr>
          <p:nvPr/>
        </p:nvSpPr>
        <p:spPr>
          <a:xfrm xmlns:a="http://schemas.openxmlformats.org/drawingml/2006/main">
            <a:off x="7242048" y="1353312"/>
            <a:ext cx="73152" cy="1207008"/>
          </a:xfrm>
          <a:prstGeom xmlns:a="http://schemas.openxmlformats.org/drawingml/2006/main" prst="rect">
            <a:avLst/>
          </a:prstGeom>
          <a:solidFill xmlns:a="http://schemas.openxmlformats.org/drawingml/2006/main">
            <a:srgbClr val="5B1D8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8" name="TextBox 7">
            <a:extLst xmlns:a="http://schemas.openxmlformats.org/drawingml/2006/main">
              <a:ext uri="{FF2B5EF4-FFF2-40B4-BE49-F238E27FC236}">
                <a16:creationId xmlns:a16="http://schemas.microsoft.com/office/drawing/2014/main" id="{AA0275C3-9C34-4D71-9BC0-F70BD5B110D4}"/>
              </a:ext>
            </a:extLst>
          </p:cNvPr>
          <p:cNvSpPr>
            <a:spLocks xmlns:a="http://schemas.openxmlformats.org/drawingml/2006/main" noGrp="1"/>
          </p:cNvSpPr>
          <p:nvPr/>
        </p:nvSpPr>
        <p:spPr>
          <a:xfrm xmlns:a="http://schemas.openxmlformats.org/drawingml/2006/main">
            <a:off x="7406640" y="1463040"/>
            <a:ext cx="1078992" cy="256032"/>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200" b="1" i="0">
                <a:solidFill>
                  <a:srgbClr val="5B1D8C"/>
                </a:solidFill>
                <a:latin typeface="Aptos"/>
                <a:ea typeface="Aptos"/>
                <a:cs typeface="Aptos"/>
              </a:rPr>
              <a:t>Input</a:t>
            </a:r>
          </a:p>
        </p:txBody>
      </p:sp>
      <p:sp>
        <p:nvSpPr>
          <p:cNvPr id="9" name="TextBox 8">
            <a:extLst xmlns:a="http://schemas.openxmlformats.org/drawingml/2006/main">
              <a:ext uri="{FF2B5EF4-FFF2-40B4-BE49-F238E27FC236}">
                <a16:creationId xmlns:a16="http://schemas.microsoft.com/office/drawing/2014/main" id="{F8B5A15A-576D-4D79-BC64-48454D7FAAE5}"/>
              </a:ext>
            </a:extLst>
          </p:cNvPr>
          <p:cNvSpPr>
            <a:spLocks xmlns:a="http://schemas.openxmlformats.org/drawingml/2006/main" noGrp="1"/>
          </p:cNvSpPr>
          <p:nvPr/>
        </p:nvSpPr>
        <p:spPr>
          <a:xfrm xmlns:a="http://schemas.openxmlformats.org/drawingml/2006/main">
            <a:off x="7406640" y="1792224"/>
            <a:ext cx="1078992" cy="694944"/>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960" b="0" i="0">
                <a:solidFill>
                  <a:srgbClr val="1E293B"/>
                </a:solidFill>
                <a:latin typeface="Aptos"/>
                <a:ea typeface="Aptos"/>
                <a:cs typeface="Aptos"/>
              </a:rPr>
              <a:t>Text or bounded PNG/JPEG</a:t>
            </a:r>
          </a:p>
        </p:txBody>
      </p:sp>
      <p:sp>
        <p:nvSpPr>
          <p:cNvPr id="10" name="Rounded Rectangle 9">
            <a:extLst xmlns:a="http://schemas.openxmlformats.org/drawingml/2006/main">
              <a:ext uri="{FF2B5EF4-FFF2-40B4-BE49-F238E27FC236}">
                <a16:creationId xmlns:a16="http://schemas.microsoft.com/office/drawing/2014/main" id="{77431CED-62C1-4C21-8994-8FF1CFCD4EE0}"/>
              </a:ext>
            </a:extLst>
          </p:cNvPr>
          <p:cNvSpPr>
            <a:spLocks xmlns:a="http://schemas.openxmlformats.org/drawingml/2006/main" noGrp="1"/>
          </p:cNvSpPr>
          <p:nvPr/>
        </p:nvSpPr>
        <p:spPr>
          <a:xfrm xmlns:a="http://schemas.openxmlformats.org/drawingml/2006/main">
            <a:off x="7242048" y="2715768"/>
            <a:ext cx="1353312" cy="1207008"/>
          </a:xfrm>
          <a:prstGeom xmlns:a="http://schemas.openxmlformats.org/drawingml/2006/main" prst="roundRect">
            <a:avLst/>
          </a:prstGeom>
          <a:solidFill xmlns:a="http://schemas.openxmlformats.org/drawingml/2006/main">
            <a:srgbClr val="E7F7F7"/>
          </a:solidFill>
          <a:ln xmlns:a="http://schemas.openxmlformats.org/drawingml/2006/main" w="8890">
            <a:solidFill>
              <a:srgbClr val="E1E1E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1" name="Rectangle 10">
            <a:extLst xmlns:a="http://schemas.openxmlformats.org/drawingml/2006/main">
              <a:ext uri="{FF2B5EF4-FFF2-40B4-BE49-F238E27FC236}">
                <a16:creationId xmlns:a16="http://schemas.microsoft.com/office/drawing/2014/main" id="{2CD84527-D24F-4B25-B538-711588A577A6}"/>
              </a:ext>
            </a:extLst>
          </p:cNvPr>
          <p:cNvSpPr>
            <a:spLocks xmlns:a="http://schemas.openxmlformats.org/drawingml/2006/main" noGrp="1"/>
          </p:cNvSpPr>
          <p:nvPr/>
        </p:nvSpPr>
        <p:spPr>
          <a:xfrm xmlns:a="http://schemas.openxmlformats.org/drawingml/2006/main">
            <a:off x="7242048" y="2715768"/>
            <a:ext cx="73152" cy="1207008"/>
          </a:xfrm>
          <a:prstGeom xmlns:a="http://schemas.openxmlformats.org/drawingml/2006/main" prst="rect">
            <a:avLst/>
          </a:prstGeom>
          <a:solidFill xmlns:a="http://schemas.openxmlformats.org/drawingml/2006/main">
            <a:srgbClr val="0097A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2" name="TextBox 11">
            <a:extLst xmlns:a="http://schemas.openxmlformats.org/drawingml/2006/main">
              <a:ext uri="{FF2B5EF4-FFF2-40B4-BE49-F238E27FC236}">
                <a16:creationId xmlns:a16="http://schemas.microsoft.com/office/drawing/2014/main" id="{0F64032A-8962-4C26-89B4-213BF590FC1A}"/>
              </a:ext>
            </a:extLst>
          </p:cNvPr>
          <p:cNvSpPr>
            <a:spLocks xmlns:a="http://schemas.openxmlformats.org/drawingml/2006/main" noGrp="1"/>
          </p:cNvSpPr>
          <p:nvPr/>
        </p:nvSpPr>
        <p:spPr>
          <a:xfrm xmlns:a="http://schemas.openxmlformats.org/drawingml/2006/main">
            <a:off x="7406640" y="2825496"/>
            <a:ext cx="1078992" cy="256032"/>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200" b="1" i="0">
                <a:solidFill>
                  <a:srgbClr val="0097A7"/>
                </a:solidFill>
                <a:latin typeface="Aptos"/>
                <a:ea typeface="Aptos"/>
                <a:cs typeface="Aptos"/>
              </a:rPr>
              <a:t>Decision</a:t>
            </a:r>
          </a:p>
        </p:txBody>
      </p:sp>
      <p:sp>
        <p:nvSpPr>
          <p:cNvPr id="13" name="TextBox 12">
            <a:extLst xmlns:a="http://schemas.openxmlformats.org/drawingml/2006/main">
              <a:ext uri="{FF2B5EF4-FFF2-40B4-BE49-F238E27FC236}">
                <a16:creationId xmlns:a16="http://schemas.microsoft.com/office/drawing/2014/main" id="{7DD67ACC-45A9-4AA5-A71E-A243E82580EC}"/>
              </a:ext>
            </a:extLst>
          </p:cNvPr>
          <p:cNvSpPr>
            <a:spLocks xmlns:a="http://schemas.openxmlformats.org/drawingml/2006/main" noGrp="1"/>
          </p:cNvSpPr>
          <p:nvPr/>
        </p:nvSpPr>
        <p:spPr>
          <a:xfrm xmlns:a="http://schemas.openxmlformats.org/drawingml/2006/main">
            <a:off x="7406640" y="3154680"/>
            <a:ext cx="1078992" cy="694944"/>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960" b="0" i="0">
                <a:solidFill>
                  <a:srgbClr val="1E293B"/>
                </a:solidFill>
                <a:latin typeface="Aptos"/>
                <a:ea typeface="Aptos"/>
                <a:cs typeface="Aptos"/>
              </a:rPr>
              <a:t>Classifier + evidence + risk + draft</a:t>
            </a:r>
          </a:p>
        </p:txBody>
      </p:sp>
      <p:sp>
        <p:nvSpPr>
          <p:cNvPr id="14" name="Rounded Rectangle 13">
            <a:extLst xmlns:a="http://schemas.openxmlformats.org/drawingml/2006/main">
              <a:ext uri="{FF2B5EF4-FFF2-40B4-BE49-F238E27FC236}">
                <a16:creationId xmlns:a16="http://schemas.microsoft.com/office/drawing/2014/main" id="{B2B8FB84-D99B-421B-9770-579EA96871C6}"/>
              </a:ext>
            </a:extLst>
          </p:cNvPr>
          <p:cNvSpPr>
            <a:spLocks xmlns:a="http://schemas.openxmlformats.org/drawingml/2006/main" noGrp="1"/>
          </p:cNvSpPr>
          <p:nvPr/>
        </p:nvSpPr>
        <p:spPr>
          <a:xfrm xmlns:a="http://schemas.openxmlformats.org/drawingml/2006/main">
            <a:off x="7242048" y="4078224"/>
            <a:ext cx="1353312" cy="1207008"/>
          </a:xfrm>
          <a:prstGeom xmlns:a="http://schemas.openxmlformats.org/drawingml/2006/main" prst="roundRect">
            <a:avLst/>
          </a:prstGeom>
          <a:solidFill xmlns:a="http://schemas.openxmlformats.org/drawingml/2006/main">
            <a:srgbClr val="FDF1F1"/>
          </a:solidFill>
          <a:ln xmlns:a="http://schemas.openxmlformats.org/drawingml/2006/main" w="8890">
            <a:solidFill>
              <a:srgbClr val="E1E1E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Rectangle 14">
            <a:extLst xmlns:a="http://schemas.openxmlformats.org/drawingml/2006/main">
              <a:ext uri="{FF2B5EF4-FFF2-40B4-BE49-F238E27FC236}">
                <a16:creationId xmlns:a16="http://schemas.microsoft.com/office/drawing/2014/main" id="{C8EFBEBD-713B-4D0D-8FB1-8BE7AE0312F4}"/>
              </a:ext>
            </a:extLst>
          </p:cNvPr>
          <p:cNvSpPr>
            <a:spLocks xmlns:a="http://schemas.openxmlformats.org/drawingml/2006/main" noGrp="1"/>
          </p:cNvSpPr>
          <p:nvPr/>
        </p:nvSpPr>
        <p:spPr>
          <a:xfrm xmlns:a="http://schemas.openxmlformats.org/drawingml/2006/main">
            <a:off x="7242048" y="4078224"/>
            <a:ext cx="73152" cy="1207008"/>
          </a:xfrm>
          <a:prstGeom xmlns:a="http://schemas.openxmlformats.org/drawingml/2006/main" prst="rect">
            <a:avLst/>
          </a:prstGeom>
          <a:solidFill xmlns:a="http://schemas.openxmlformats.org/drawingml/2006/main">
            <a:srgbClr val="A9233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C26A7D15-1467-4400-9AA6-3CDBF585780D}"/>
              </a:ext>
            </a:extLst>
          </p:cNvPr>
          <p:cNvSpPr>
            <a:spLocks xmlns:a="http://schemas.openxmlformats.org/drawingml/2006/main" noGrp="1"/>
          </p:cNvSpPr>
          <p:nvPr/>
        </p:nvSpPr>
        <p:spPr>
          <a:xfrm xmlns:a="http://schemas.openxmlformats.org/drawingml/2006/main">
            <a:off x="7406640" y="4187952"/>
            <a:ext cx="1078992" cy="256032"/>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200" b="1" i="0">
                <a:solidFill>
                  <a:srgbClr val="A92330"/>
                </a:solidFill>
                <a:latin typeface="Aptos"/>
                <a:ea typeface="Aptos"/>
                <a:cs typeface="Aptos"/>
              </a:rPr>
              <a:t>Consent</a:t>
            </a:r>
          </a:p>
        </p:txBody>
      </p:sp>
      <p:sp>
        <p:nvSpPr>
          <p:cNvPr id="17" name="TextBox 16">
            <a:extLst xmlns:a="http://schemas.openxmlformats.org/drawingml/2006/main">
              <a:ext uri="{FF2B5EF4-FFF2-40B4-BE49-F238E27FC236}">
                <a16:creationId xmlns:a16="http://schemas.microsoft.com/office/drawing/2014/main" id="{09ED8166-1C0C-43EC-BA3F-12F8FF2DBCC3}"/>
              </a:ext>
            </a:extLst>
          </p:cNvPr>
          <p:cNvSpPr>
            <a:spLocks xmlns:a="http://schemas.openxmlformats.org/drawingml/2006/main" noGrp="1"/>
          </p:cNvSpPr>
          <p:nvPr/>
        </p:nvSpPr>
        <p:spPr>
          <a:xfrm xmlns:a="http://schemas.openxmlformats.org/drawingml/2006/main">
            <a:off x="7406640" y="4517136"/>
            <a:ext cx="1078992" cy="694944"/>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960" b="0" i="0">
                <a:solidFill>
                  <a:srgbClr val="1E293B"/>
                </a:solidFill>
                <a:latin typeface="Aptos"/>
                <a:ea typeface="Aptos"/>
                <a:cs typeface="Aptos"/>
              </a:rPr>
              <a:t>Expiring local cases; masked links</a:t>
            </a:r>
          </a:p>
        </p:txBody>
      </p:sp>
      <p:sp>
        <p:nvSpPr>
          <p:cNvPr id="18" name="Rounded Rectangle 17">
            <a:extLst xmlns:a="http://schemas.openxmlformats.org/drawingml/2006/main">
              <a:ext uri="{FF2B5EF4-FFF2-40B4-BE49-F238E27FC236}">
                <a16:creationId xmlns:a16="http://schemas.microsoft.com/office/drawing/2014/main" id="{9F5D6EF7-1A6D-4FC2-8924-F6E05A5589FB}"/>
              </a:ext>
            </a:extLst>
          </p:cNvPr>
          <p:cNvSpPr>
            <a:spLocks xmlns:a="http://schemas.openxmlformats.org/drawingml/2006/main" noGrp="1"/>
          </p:cNvSpPr>
          <p:nvPr/>
        </p:nvSpPr>
        <p:spPr>
          <a:xfrm xmlns:a="http://schemas.openxmlformats.org/drawingml/2006/main">
            <a:off x="7242048" y="5532120"/>
            <a:ext cx="1353312" cy="310896"/>
          </a:xfrm>
          <a:prstGeom xmlns:a="http://schemas.openxmlformats.org/drawingml/2006/main" prst="roundRect">
            <a:avLst/>
          </a:prstGeom>
          <a:solidFill xmlns:a="http://schemas.openxmlformats.org/drawingml/2006/main">
            <a:srgbClr val="371455"/>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DF8BE469-B066-456A-A131-2D77BF3776F9}"/>
              </a:ext>
            </a:extLst>
          </p:cNvPr>
          <p:cNvSpPr>
            <a:spLocks xmlns:a="http://schemas.openxmlformats.org/drawingml/2006/main" noGrp="1"/>
          </p:cNvSpPr>
          <p:nvPr/>
        </p:nvSpPr>
        <p:spPr>
          <a:xfrm xmlns:a="http://schemas.openxmlformats.org/drawingml/2006/main">
            <a:off x="7260336" y="5545836"/>
            <a:ext cx="1316736" cy="246888"/>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lgn="ctr">
              <a:buNone/>
            </a:pPr>
            <a:r>
              <a:rPr sz="850" b="1" i="0">
                <a:solidFill>
                  <a:srgbClr val="FFFFFF"/>
                </a:solidFill>
                <a:latin typeface="Aptos"/>
                <a:ea typeface="Aptos"/>
                <a:cs typeface="Aptos"/>
              </a:rPr>
              <a:t>NO AUTO-FILING</a:t>
            </a:r>
          </a:p>
        </p:txBody>
      </p:sp>
      <p:sp>
        <p:nvSpPr>
          <p:cNvPr id="20" name="TextBox 19">
            <a:extLst xmlns:a="http://schemas.openxmlformats.org/drawingml/2006/main">
              <a:ext uri="{FF2B5EF4-FFF2-40B4-BE49-F238E27FC236}">
                <a16:creationId xmlns:a16="http://schemas.microsoft.com/office/drawing/2014/main" id="{68B11725-0E9A-401E-8FAF-4699D529E071}"/>
              </a:ext>
            </a:extLst>
          </p:cNvPr>
          <p:cNvSpPr>
            <a:spLocks xmlns:a="http://schemas.openxmlformats.org/drawingml/2006/main" noGrp="1"/>
          </p:cNvSpPr>
          <p:nvPr/>
        </p:nvSpPr>
        <p:spPr>
          <a:xfrm xmlns:a="http://schemas.openxmlformats.org/drawingml/2006/main">
            <a:off x="502920" y="6528816"/>
            <a:ext cx="7818120" cy="201168"/>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830" b="0" i="0">
                <a:solidFill>
                  <a:srgbClr val="475569"/>
                </a:solidFill>
                <a:latin typeface="Aptos"/>
                <a:ea typeface="Aptos"/>
                <a:cs typeface="Aptos"/>
              </a:rPr>
              <a:t>Image bytes are discarded | Model artifacts are hash-verified before loading</a:t>
            </a:r>
          </a:p>
        </p:txBody>
      </p:sp>
      <p:sp>
        <p:nvSpPr>
          <p:cNvPr id="21" name="TextBox 20">
            <a:extLst xmlns:a="http://schemas.openxmlformats.org/drawingml/2006/main">
              <a:ext uri="{FF2B5EF4-FFF2-40B4-BE49-F238E27FC236}">
                <a16:creationId xmlns:a16="http://schemas.microsoft.com/office/drawing/2014/main" id="{473E26F5-D871-4FED-B990-DAA00770051C}"/>
              </a:ext>
            </a:extLst>
          </p:cNvPr>
          <p:cNvSpPr>
            <a:spLocks xmlns:a="http://schemas.openxmlformats.org/drawingml/2006/main" noGrp="1"/>
          </p:cNvSpPr>
          <p:nvPr/>
        </p:nvSpPr>
        <p:spPr>
          <a:xfrm xmlns:a="http://schemas.openxmlformats.org/drawingml/2006/main">
            <a:off x="8394192" y="6528816"/>
            <a:ext cx="274320" cy="182880"/>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r">
              <a:buNone/>
            </a:pPr>
            <a:r>
              <a:rPr sz="800" b="1" i="0">
                <a:solidFill>
                  <a:srgbClr val="5B1D8C"/>
                </a:solidFill>
                <a:latin typeface="Aptos"/>
                <a:ea typeface="Aptos"/>
                <a:cs typeface="Aptos"/>
              </a:rPr>
              <a:t>5</a:t>
            </a:r>
          </a:p>
        </p:txBody>
      </p:sp>
    </p:spTree>
    <p:extLst>
      <p:ext uri="{BB962C8B-B14F-4D97-AF65-F5344CB8AC3E}">
        <p14:creationId xmlns:p14="http://schemas.microsoft.com/office/powerpoint/2010/main" val="631752357"/>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877FFD5-B2D5-443C-AE23-5269342F9AE4}"/>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rPr b="1">
                <a:solidFill>
                  <a:srgbClr val="1E293B"/>
                </a:solidFill>
                <a:latin typeface="Aptos Display"/>
                <a:ea typeface="Aptos Display"/>
                <a:cs typeface="Aptos Display"/>
              </a:rPr>
              <a:t>Tools &amp; Technologies</a:t>
            </a:r>
          </a:p>
        </p:txBody>
      </p:sp>
      <p:sp>
        <p:nvSpPr>
          <p:cNvPr id="3" name="TextBox 2">
            <a:extLst xmlns:a="http://schemas.openxmlformats.org/drawingml/2006/main">
              <a:ext uri="{FF2B5EF4-FFF2-40B4-BE49-F238E27FC236}">
                <a16:creationId xmlns:a16="http://schemas.microsoft.com/office/drawing/2014/main" id="{DEB5E883-9C82-44B4-8E2B-31900018E999}"/>
              </a:ext>
            </a:extLst>
          </p:cNvPr>
          <p:cNvSpPr>
            <a:spLocks xmlns:a="http://schemas.openxmlformats.org/drawingml/2006/main" noGrp="1"/>
          </p:cNvSpPr>
          <p:nvPr/>
        </p:nvSpPr>
        <p:spPr>
          <a:xfrm xmlns:a="http://schemas.openxmlformats.org/drawingml/2006/main">
            <a:off x="502920" y="960120"/>
            <a:ext cx="8001000" cy="320040"/>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100" b="0" i="0">
                <a:solidFill>
                  <a:srgbClr val="475569"/>
                </a:solidFill>
                <a:latin typeface="Aptos"/>
                <a:ea typeface="Aptos"/>
                <a:cs typeface="Aptos"/>
              </a:rPr>
              <a:t>A local CPU stack with reproducible artifacts and no paid service dependency</a:t>
            </a:r>
          </a:p>
        </p:txBody>
      </p:sp>
      <p:sp>
        <p:nvSpPr>
          <p:cNvPr id="4" name="Rounded Rectangle 3">
            <a:extLst xmlns:a="http://schemas.openxmlformats.org/drawingml/2006/main">
              <a:ext uri="{FF2B5EF4-FFF2-40B4-BE49-F238E27FC236}">
                <a16:creationId xmlns:a16="http://schemas.microsoft.com/office/drawing/2014/main" id="{66ACC68C-76EC-4637-866E-218064FBB446}"/>
              </a:ext>
            </a:extLst>
          </p:cNvPr>
          <p:cNvSpPr>
            <a:spLocks xmlns:a="http://schemas.openxmlformats.org/drawingml/2006/main" noGrp="1"/>
          </p:cNvSpPr>
          <p:nvPr/>
        </p:nvSpPr>
        <p:spPr>
          <a:xfrm xmlns:a="http://schemas.openxmlformats.org/drawingml/2006/main">
            <a:off x="502920" y="1389888"/>
            <a:ext cx="2487168" cy="1691640"/>
          </a:xfrm>
          <a:prstGeom xmlns:a="http://schemas.openxmlformats.org/drawingml/2006/main" prst="roundRect">
            <a:avLst/>
          </a:prstGeom>
          <a:solidFill xmlns:a="http://schemas.openxmlformats.org/drawingml/2006/main">
            <a:srgbClr val="F6EFFA"/>
          </a:solidFill>
          <a:ln xmlns:a="http://schemas.openxmlformats.org/drawingml/2006/main" w="8890">
            <a:solidFill>
              <a:srgbClr val="E1E1E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Rectangle 4">
            <a:extLst xmlns:a="http://schemas.openxmlformats.org/drawingml/2006/main">
              <a:ext uri="{FF2B5EF4-FFF2-40B4-BE49-F238E27FC236}">
                <a16:creationId xmlns:a16="http://schemas.microsoft.com/office/drawing/2014/main" id="{0A10E044-1667-4EE5-8635-654E97515F2C}"/>
              </a:ext>
            </a:extLst>
          </p:cNvPr>
          <p:cNvSpPr>
            <a:spLocks xmlns:a="http://schemas.openxmlformats.org/drawingml/2006/main" noGrp="1"/>
          </p:cNvSpPr>
          <p:nvPr/>
        </p:nvSpPr>
        <p:spPr>
          <a:xfrm xmlns:a="http://schemas.openxmlformats.org/drawingml/2006/main">
            <a:off x="502920" y="1389888"/>
            <a:ext cx="73152" cy="1691640"/>
          </a:xfrm>
          <a:prstGeom xmlns:a="http://schemas.openxmlformats.org/drawingml/2006/main" prst="rect">
            <a:avLst/>
          </a:prstGeom>
          <a:solidFill xmlns:a="http://schemas.openxmlformats.org/drawingml/2006/main">
            <a:srgbClr val="5B1D8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6" name="TextBox 5">
            <a:extLst xmlns:a="http://schemas.openxmlformats.org/drawingml/2006/main">
              <a:ext uri="{FF2B5EF4-FFF2-40B4-BE49-F238E27FC236}">
                <a16:creationId xmlns:a16="http://schemas.microsoft.com/office/drawing/2014/main" id="{A08714FA-DE75-45EB-A556-697282A74513}"/>
              </a:ext>
            </a:extLst>
          </p:cNvPr>
          <p:cNvSpPr>
            <a:spLocks xmlns:a="http://schemas.openxmlformats.org/drawingml/2006/main" noGrp="1"/>
          </p:cNvSpPr>
          <p:nvPr/>
        </p:nvSpPr>
        <p:spPr>
          <a:xfrm xmlns:a="http://schemas.openxmlformats.org/drawingml/2006/main">
            <a:off x="667512" y="1499616"/>
            <a:ext cx="2212848" cy="256032"/>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400" b="1" i="0">
                <a:solidFill>
                  <a:srgbClr val="5B1D8C"/>
                </a:solidFill>
                <a:latin typeface="Aptos"/>
                <a:ea typeface="Aptos"/>
                <a:cs typeface="Aptos"/>
              </a:rPr>
              <a:t>Language + ML</a:t>
            </a:r>
          </a:p>
        </p:txBody>
      </p:sp>
      <p:sp>
        <p:nvSpPr>
          <p:cNvPr id="7" name="TextBox 6">
            <a:extLst xmlns:a="http://schemas.openxmlformats.org/drawingml/2006/main">
              <a:ext uri="{FF2B5EF4-FFF2-40B4-BE49-F238E27FC236}">
                <a16:creationId xmlns:a16="http://schemas.microsoft.com/office/drawing/2014/main" id="{8B5B4205-A489-4075-A3F9-F7497A412CE9}"/>
              </a:ext>
            </a:extLst>
          </p:cNvPr>
          <p:cNvSpPr>
            <a:spLocks xmlns:a="http://schemas.openxmlformats.org/drawingml/2006/main" noGrp="1"/>
          </p:cNvSpPr>
          <p:nvPr/>
        </p:nvSpPr>
        <p:spPr>
          <a:xfrm xmlns:a="http://schemas.openxmlformats.org/drawingml/2006/main">
            <a:off x="667512" y="1828800"/>
            <a:ext cx="2212848" cy="1179576"/>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200" b="0" i="0">
                <a:solidFill>
                  <a:srgbClr val="1E293B"/>
                </a:solidFill>
                <a:latin typeface="Aptos"/>
                <a:ea typeface="Aptos"/>
                <a:cs typeface="Aptos"/>
              </a:rPr>
              <a:t>Python 3.10+
scikit-learn
TF-IDF + Logistic Regression</a:t>
            </a:r>
          </a:p>
        </p:txBody>
      </p:sp>
      <p:sp>
        <p:nvSpPr>
          <p:cNvPr id="8" name="Rounded Rectangle 7">
            <a:extLst xmlns:a="http://schemas.openxmlformats.org/drawingml/2006/main">
              <a:ext uri="{FF2B5EF4-FFF2-40B4-BE49-F238E27FC236}">
                <a16:creationId xmlns:a16="http://schemas.microsoft.com/office/drawing/2014/main" id="{80D4D205-12D7-44C3-8F6E-F96C4843A15A}"/>
              </a:ext>
            </a:extLst>
          </p:cNvPr>
          <p:cNvSpPr>
            <a:spLocks xmlns:a="http://schemas.openxmlformats.org/drawingml/2006/main" noGrp="1"/>
          </p:cNvSpPr>
          <p:nvPr/>
        </p:nvSpPr>
        <p:spPr>
          <a:xfrm xmlns:a="http://schemas.openxmlformats.org/drawingml/2006/main">
            <a:off x="3246120" y="1389888"/>
            <a:ext cx="2487168" cy="1691640"/>
          </a:xfrm>
          <a:prstGeom xmlns:a="http://schemas.openxmlformats.org/drawingml/2006/main" prst="roundRect">
            <a:avLst/>
          </a:prstGeom>
          <a:solidFill xmlns:a="http://schemas.openxmlformats.org/drawingml/2006/main">
            <a:srgbClr val="E7F7F7"/>
          </a:solidFill>
          <a:ln xmlns:a="http://schemas.openxmlformats.org/drawingml/2006/main" w="8890">
            <a:solidFill>
              <a:srgbClr val="E1E1E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Rectangle 8">
            <a:extLst xmlns:a="http://schemas.openxmlformats.org/drawingml/2006/main">
              <a:ext uri="{FF2B5EF4-FFF2-40B4-BE49-F238E27FC236}">
                <a16:creationId xmlns:a16="http://schemas.microsoft.com/office/drawing/2014/main" id="{26409878-AA44-486E-A897-3A0500F943DA}"/>
              </a:ext>
            </a:extLst>
          </p:cNvPr>
          <p:cNvSpPr>
            <a:spLocks xmlns:a="http://schemas.openxmlformats.org/drawingml/2006/main" noGrp="1"/>
          </p:cNvSpPr>
          <p:nvPr/>
        </p:nvSpPr>
        <p:spPr>
          <a:xfrm xmlns:a="http://schemas.openxmlformats.org/drawingml/2006/main">
            <a:off x="3246120" y="1389888"/>
            <a:ext cx="73152" cy="1691640"/>
          </a:xfrm>
          <a:prstGeom xmlns:a="http://schemas.openxmlformats.org/drawingml/2006/main" prst="rect">
            <a:avLst/>
          </a:prstGeom>
          <a:solidFill xmlns:a="http://schemas.openxmlformats.org/drawingml/2006/main">
            <a:srgbClr val="0097A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E58B5FE2-AB2A-4AF3-8867-D1BCBDD04041}"/>
              </a:ext>
            </a:extLst>
          </p:cNvPr>
          <p:cNvSpPr>
            <a:spLocks xmlns:a="http://schemas.openxmlformats.org/drawingml/2006/main" noGrp="1"/>
          </p:cNvSpPr>
          <p:nvPr/>
        </p:nvSpPr>
        <p:spPr>
          <a:xfrm xmlns:a="http://schemas.openxmlformats.org/drawingml/2006/main">
            <a:off x="3410712" y="1499616"/>
            <a:ext cx="2212848" cy="256032"/>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400" b="1" i="0">
                <a:solidFill>
                  <a:srgbClr val="0097A7"/>
                </a:solidFill>
                <a:latin typeface="Aptos"/>
                <a:ea typeface="Aptos"/>
                <a:cs typeface="Aptos"/>
              </a:rPr>
              <a:t>Interfaces</a:t>
            </a:r>
          </a:p>
        </p:txBody>
      </p:sp>
      <p:sp>
        <p:nvSpPr>
          <p:cNvPr id="11" name="TextBox 10">
            <a:extLst xmlns:a="http://schemas.openxmlformats.org/drawingml/2006/main">
              <a:ext uri="{FF2B5EF4-FFF2-40B4-BE49-F238E27FC236}">
                <a16:creationId xmlns:a16="http://schemas.microsoft.com/office/drawing/2014/main" id="{D672F7E7-92B3-4342-ADED-B923495AA27A}"/>
              </a:ext>
            </a:extLst>
          </p:cNvPr>
          <p:cNvSpPr>
            <a:spLocks xmlns:a="http://schemas.openxmlformats.org/drawingml/2006/main" noGrp="1"/>
          </p:cNvSpPr>
          <p:nvPr/>
        </p:nvSpPr>
        <p:spPr>
          <a:xfrm xmlns:a="http://schemas.openxmlformats.org/drawingml/2006/main">
            <a:off x="3410712" y="1828800"/>
            <a:ext cx="2212848" cy="1179576"/>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200" b="0" i="0">
                <a:solidFill>
                  <a:srgbClr val="1E293B"/>
                </a:solidFill>
                <a:latin typeface="Aptos"/>
                <a:ea typeface="Aptos"/>
                <a:cs typeface="Aptos"/>
              </a:rPr>
              <a:t>FastAPI
Next.js
Pydantic validation</a:t>
            </a:r>
          </a:p>
        </p:txBody>
      </p:sp>
      <p:sp>
        <p:nvSpPr>
          <p:cNvPr id="12" name="Rounded Rectangle 11">
            <a:extLst xmlns:a="http://schemas.openxmlformats.org/drawingml/2006/main">
              <a:ext uri="{FF2B5EF4-FFF2-40B4-BE49-F238E27FC236}">
                <a16:creationId xmlns:a16="http://schemas.microsoft.com/office/drawing/2014/main" id="{AA62D0FB-8C9E-43F9-81D2-DE668FD1B84C}"/>
              </a:ext>
            </a:extLst>
          </p:cNvPr>
          <p:cNvSpPr>
            <a:spLocks xmlns:a="http://schemas.openxmlformats.org/drawingml/2006/main" noGrp="1"/>
          </p:cNvSpPr>
          <p:nvPr/>
        </p:nvSpPr>
        <p:spPr>
          <a:xfrm xmlns:a="http://schemas.openxmlformats.org/drawingml/2006/main">
            <a:off x="5989320" y="1389888"/>
            <a:ext cx="2487168" cy="1691640"/>
          </a:xfrm>
          <a:prstGeom xmlns:a="http://schemas.openxmlformats.org/drawingml/2006/main" prst="roundRect">
            <a:avLst/>
          </a:prstGeom>
          <a:solidFill xmlns:a="http://schemas.openxmlformats.org/drawingml/2006/main">
            <a:srgbClr val="FFF8E1"/>
          </a:solidFill>
          <a:ln xmlns:a="http://schemas.openxmlformats.org/drawingml/2006/main" w="8890">
            <a:solidFill>
              <a:srgbClr val="E1E1E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Rectangle 12">
            <a:extLst xmlns:a="http://schemas.openxmlformats.org/drawingml/2006/main">
              <a:ext uri="{FF2B5EF4-FFF2-40B4-BE49-F238E27FC236}">
                <a16:creationId xmlns:a16="http://schemas.microsoft.com/office/drawing/2014/main" id="{B66C112B-06A1-451C-BBC6-F46E7688859C}"/>
              </a:ext>
            </a:extLst>
          </p:cNvPr>
          <p:cNvSpPr>
            <a:spLocks xmlns:a="http://schemas.openxmlformats.org/drawingml/2006/main" noGrp="1"/>
          </p:cNvSpPr>
          <p:nvPr/>
        </p:nvSpPr>
        <p:spPr>
          <a:xfrm xmlns:a="http://schemas.openxmlformats.org/drawingml/2006/main">
            <a:off x="5989320" y="1389888"/>
            <a:ext cx="73152" cy="1691640"/>
          </a:xfrm>
          <a:prstGeom xmlns:a="http://schemas.openxmlformats.org/drawingml/2006/main" prst="rect">
            <a:avLst/>
          </a:prstGeom>
          <a:solidFill xmlns:a="http://schemas.openxmlformats.org/drawingml/2006/main">
            <a:srgbClr val="E2B11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F2978C54-C9BB-4F12-A813-4BD29FC7163A}"/>
              </a:ext>
            </a:extLst>
          </p:cNvPr>
          <p:cNvSpPr>
            <a:spLocks xmlns:a="http://schemas.openxmlformats.org/drawingml/2006/main" noGrp="1"/>
          </p:cNvSpPr>
          <p:nvPr/>
        </p:nvSpPr>
        <p:spPr>
          <a:xfrm xmlns:a="http://schemas.openxmlformats.org/drawingml/2006/main">
            <a:off x="6153912" y="1499616"/>
            <a:ext cx="2212848" cy="256032"/>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400" b="1" i="0">
                <a:solidFill>
                  <a:srgbClr val="E2B11F"/>
                </a:solidFill>
                <a:latin typeface="Aptos"/>
                <a:ea typeface="Aptos"/>
                <a:cs typeface="Aptos"/>
              </a:rPr>
              <a:t>Evidence</a:t>
            </a:r>
          </a:p>
        </p:txBody>
      </p:sp>
      <p:sp>
        <p:nvSpPr>
          <p:cNvPr id="15" name="TextBox 14">
            <a:extLst xmlns:a="http://schemas.openxmlformats.org/drawingml/2006/main">
              <a:ext uri="{FF2B5EF4-FFF2-40B4-BE49-F238E27FC236}">
                <a16:creationId xmlns:a16="http://schemas.microsoft.com/office/drawing/2014/main" id="{CD6E4C2D-3A61-402A-BD7E-DBCB9DDBEFD0}"/>
              </a:ext>
            </a:extLst>
          </p:cNvPr>
          <p:cNvSpPr>
            <a:spLocks xmlns:a="http://schemas.openxmlformats.org/drawingml/2006/main" noGrp="1"/>
          </p:cNvSpPr>
          <p:nvPr/>
        </p:nvSpPr>
        <p:spPr>
          <a:xfrm xmlns:a="http://schemas.openxmlformats.org/drawingml/2006/main">
            <a:off x="6153912" y="1828800"/>
            <a:ext cx="2212848" cy="1179576"/>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200" b="0" i="0">
                <a:solidFill>
                  <a:srgbClr val="1E293B"/>
                </a:solidFill>
                <a:latin typeface="Aptos"/>
                <a:ea typeface="Aptos"/>
                <a:cs typeface="Aptos"/>
              </a:rPr>
              <a:t>Tesseract eng+hin
Pillow image policy
Entity + URL rules</a:t>
            </a:r>
          </a:p>
        </p:txBody>
      </p:sp>
      <p:sp>
        <p:nvSpPr>
          <p:cNvPr id="16" name="Rounded Rectangle 15">
            <a:extLst xmlns:a="http://schemas.openxmlformats.org/drawingml/2006/main">
              <a:ext uri="{FF2B5EF4-FFF2-40B4-BE49-F238E27FC236}">
                <a16:creationId xmlns:a16="http://schemas.microsoft.com/office/drawing/2014/main" id="{E14061B1-6AA5-4CBC-A23D-951DC86B685D}"/>
              </a:ext>
            </a:extLst>
          </p:cNvPr>
          <p:cNvSpPr>
            <a:spLocks xmlns:a="http://schemas.openxmlformats.org/drawingml/2006/main" noGrp="1"/>
          </p:cNvSpPr>
          <p:nvPr/>
        </p:nvSpPr>
        <p:spPr>
          <a:xfrm xmlns:a="http://schemas.openxmlformats.org/drawingml/2006/main">
            <a:off x="502920" y="3447288"/>
            <a:ext cx="3886200" cy="1691640"/>
          </a:xfrm>
          <a:prstGeom xmlns:a="http://schemas.openxmlformats.org/drawingml/2006/main" prst="roundRect">
            <a:avLst/>
          </a:prstGeom>
          <a:solidFill xmlns:a="http://schemas.openxmlformats.org/drawingml/2006/main">
            <a:srgbClr val="EDF9F3"/>
          </a:solidFill>
          <a:ln xmlns:a="http://schemas.openxmlformats.org/drawingml/2006/main" w="8890">
            <a:solidFill>
              <a:srgbClr val="E1E1E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7" name="Rectangle 16">
            <a:extLst xmlns:a="http://schemas.openxmlformats.org/drawingml/2006/main">
              <a:ext uri="{FF2B5EF4-FFF2-40B4-BE49-F238E27FC236}">
                <a16:creationId xmlns:a16="http://schemas.microsoft.com/office/drawing/2014/main" id="{8439358A-3FEC-43A9-967D-B8B9A809B16E}"/>
              </a:ext>
            </a:extLst>
          </p:cNvPr>
          <p:cNvSpPr>
            <a:spLocks xmlns:a="http://schemas.openxmlformats.org/drawingml/2006/main" noGrp="1"/>
          </p:cNvSpPr>
          <p:nvPr/>
        </p:nvSpPr>
        <p:spPr>
          <a:xfrm xmlns:a="http://schemas.openxmlformats.org/drawingml/2006/main">
            <a:off x="502920" y="3447288"/>
            <a:ext cx="73152" cy="1691640"/>
          </a:xfrm>
          <a:prstGeom xmlns:a="http://schemas.openxmlformats.org/drawingml/2006/main" prst="rect">
            <a:avLst/>
          </a:prstGeom>
          <a:solidFill xmlns:a="http://schemas.openxmlformats.org/drawingml/2006/main">
            <a:srgbClr val="237C5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8" name="TextBox 17">
            <a:extLst xmlns:a="http://schemas.openxmlformats.org/drawingml/2006/main">
              <a:ext uri="{FF2B5EF4-FFF2-40B4-BE49-F238E27FC236}">
                <a16:creationId xmlns:a16="http://schemas.microsoft.com/office/drawing/2014/main" id="{AE1B49A7-E325-40F7-AF12-C1AD6C97C9D2}"/>
              </a:ext>
            </a:extLst>
          </p:cNvPr>
          <p:cNvSpPr>
            <a:spLocks xmlns:a="http://schemas.openxmlformats.org/drawingml/2006/main" noGrp="1"/>
          </p:cNvSpPr>
          <p:nvPr/>
        </p:nvSpPr>
        <p:spPr>
          <a:xfrm xmlns:a="http://schemas.openxmlformats.org/drawingml/2006/main">
            <a:off x="667512" y="3557016"/>
            <a:ext cx="3611880" cy="256032"/>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400" b="1" i="0">
                <a:solidFill>
                  <a:srgbClr val="237C58"/>
                </a:solidFill>
                <a:latin typeface="Aptos"/>
                <a:ea typeface="Aptos"/>
                <a:cs typeface="Aptos"/>
              </a:rPr>
              <a:t>Storage + privacy</a:t>
            </a:r>
          </a:p>
        </p:txBody>
      </p:sp>
      <p:sp>
        <p:nvSpPr>
          <p:cNvPr id="19" name="TextBox 18">
            <a:extLst xmlns:a="http://schemas.openxmlformats.org/drawingml/2006/main">
              <a:ext uri="{FF2B5EF4-FFF2-40B4-BE49-F238E27FC236}">
                <a16:creationId xmlns:a16="http://schemas.microsoft.com/office/drawing/2014/main" id="{A150892E-C95D-4599-9C77-588942D1F055}"/>
              </a:ext>
            </a:extLst>
          </p:cNvPr>
          <p:cNvSpPr>
            <a:spLocks xmlns:a="http://schemas.openxmlformats.org/drawingml/2006/main" noGrp="1"/>
          </p:cNvSpPr>
          <p:nvPr/>
        </p:nvSpPr>
        <p:spPr>
          <a:xfrm xmlns:a="http://schemas.openxmlformats.org/drawingml/2006/main">
            <a:off x="667512" y="3886200"/>
            <a:ext cx="3611880" cy="1179576"/>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200" b="0" i="0">
                <a:solidFill>
                  <a:srgbClr val="1E293B"/>
                </a:solidFill>
                <a:latin typeface="Aptos"/>
                <a:ea typeface="Aptos"/>
                <a:cs typeface="Aptos"/>
              </a:rPr>
              <a:t>SQLite
Retention deadlines
HMAC IDs + masks</a:t>
            </a:r>
          </a:p>
        </p:txBody>
      </p:sp>
      <p:sp>
        <p:nvSpPr>
          <p:cNvPr id="20" name="Rounded Rectangle 19">
            <a:extLst xmlns:a="http://schemas.openxmlformats.org/drawingml/2006/main">
              <a:ext uri="{FF2B5EF4-FFF2-40B4-BE49-F238E27FC236}">
                <a16:creationId xmlns:a16="http://schemas.microsoft.com/office/drawing/2014/main" id="{D7E1300F-0DE2-48C4-A54B-14A773726E7A}"/>
              </a:ext>
            </a:extLst>
          </p:cNvPr>
          <p:cNvSpPr>
            <a:spLocks xmlns:a="http://schemas.openxmlformats.org/drawingml/2006/main" noGrp="1"/>
          </p:cNvSpPr>
          <p:nvPr/>
        </p:nvSpPr>
        <p:spPr>
          <a:xfrm xmlns:a="http://schemas.openxmlformats.org/drawingml/2006/main">
            <a:off x="4663440" y="3447288"/>
            <a:ext cx="3886200" cy="1691640"/>
          </a:xfrm>
          <a:prstGeom xmlns:a="http://schemas.openxmlformats.org/drawingml/2006/main" prst="roundRect">
            <a:avLst/>
          </a:prstGeom>
          <a:solidFill xmlns:a="http://schemas.openxmlformats.org/drawingml/2006/main">
            <a:srgbClr val="FDF1F1"/>
          </a:solidFill>
          <a:ln xmlns:a="http://schemas.openxmlformats.org/drawingml/2006/main" w="8890">
            <a:solidFill>
              <a:srgbClr val="E1E1E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Rectangle 20">
            <a:extLst xmlns:a="http://schemas.openxmlformats.org/drawingml/2006/main">
              <a:ext uri="{FF2B5EF4-FFF2-40B4-BE49-F238E27FC236}">
                <a16:creationId xmlns:a16="http://schemas.microsoft.com/office/drawing/2014/main" id="{5B82C622-C11A-4291-AC82-1CF81FAADAE5}"/>
              </a:ext>
            </a:extLst>
          </p:cNvPr>
          <p:cNvSpPr>
            <a:spLocks xmlns:a="http://schemas.openxmlformats.org/drawingml/2006/main" noGrp="1"/>
          </p:cNvSpPr>
          <p:nvPr/>
        </p:nvSpPr>
        <p:spPr>
          <a:xfrm xmlns:a="http://schemas.openxmlformats.org/drawingml/2006/main">
            <a:off x="4663440" y="3447288"/>
            <a:ext cx="73152" cy="1691640"/>
          </a:xfrm>
          <a:prstGeom xmlns:a="http://schemas.openxmlformats.org/drawingml/2006/main" prst="rect">
            <a:avLst/>
          </a:prstGeom>
          <a:solidFill xmlns:a="http://schemas.openxmlformats.org/drawingml/2006/main">
            <a:srgbClr val="A92330"/>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0EF6E870-2410-44D5-A903-AB5F63784798}"/>
              </a:ext>
            </a:extLst>
          </p:cNvPr>
          <p:cNvSpPr>
            <a:spLocks xmlns:a="http://schemas.openxmlformats.org/drawingml/2006/main" noGrp="1"/>
          </p:cNvSpPr>
          <p:nvPr/>
        </p:nvSpPr>
        <p:spPr>
          <a:xfrm xmlns:a="http://schemas.openxmlformats.org/drawingml/2006/main">
            <a:off x="4828031" y="3557016"/>
            <a:ext cx="3611880" cy="256032"/>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400" b="1" i="0">
                <a:solidFill>
                  <a:srgbClr val="A92330"/>
                </a:solidFill>
                <a:latin typeface="Aptos"/>
                <a:ea typeface="Aptos"/>
                <a:cs typeface="Aptos"/>
              </a:rPr>
              <a:t>Release</a:t>
            </a:r>
          </a:p>
        </p:txBody>
      </p:sp>
      <p:sp>
        <p:nvSpPr>
          <p:cNvPr id="23" name="TextBox 22">
            <a:extLst xmlns:a="http://schemas.openxmlformats.org/drawingml/2006/main">
              <a:ext uri="{FF2B5EF4-FFF2-40B4-BE49-F238E27FC236}">
                <a16:creationId xmlns:a16="http://schemas.microsoft.com/office/drawing/2014/main" id="{7D768272-AEC7-425F-8231-17BEA3AE42CC}"/>
              </a:ext>
            </a:extLst>
          </p:cNvPr>
          <p:cNvSpPr>
            <a:spLocks xmlns:a="http://schemas.openxmlformats.org/drawingml/2006/main" noGrp="1"/>
          </p:cNvSpPr>
          <p:nvPr/>
        </p:nvSpPr>
        <p:spPr>
          <a:xfrm xmlns:a="http://schemas.openxmlformats.org/drawingml/2006/main">
            <a:off x="4828031" y="3886200"/>
            <a:ext cx="3611880" cy="1179576"/>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200" b="0" i="0">
                <a:solidFill>
                  <a:srgbClr val="1E293B"/>
                </a:solidFill>
                <a:latin typeface="Aptos"/>
                <a:ea typeface="Aptos"/>
                <a:cs typeface="Aptos"/>
              </a:rPr>
              <a:t>Pytest
GitHub Actions
Docker Compose</a:t>
            </a:r>
          </a:p>
        </p:txBody>
      </p:sp>
      <p:sp>
        <p:nvSpPr>
          <p:cNvPr id="24" name="Rounded Rectangle 23">
            <a:extLst xmlns:a="http://schemas.openxmlformats.org/drawingml/2006/main">
              <a:ext uri="{FF2B5EF4-FFF2-40B4-BE49-F238E27FC236}">
                <a16:creationId xmlns:a16="http://schemas.microsoft.com/office/drawing/2014/main" id="{141B3904-A2B5-46D3-852B-3B61116EA8EE}"/>
              </a:ext>
            </a:extLst>
          </p:cNvPr>
          <p:cNvSpPr>
            <a:spLocks xmlns:a="http://schemas.openxmlformats.org/drawingml/2006/main" noGrp="1"/>
          </p:cNvSpPr>
          <p:nvPr/>
        </p:nvSpPr>
        <p:spPr>
          <a:xfrm xmlns:a="http://schemas.openxmlformats.org/drawingml/2006/main">
            <a:off x="2240280" y="5532120"/>
            <a:ext cx="2057400" cy="749808"/>
          </a:xfrm>
          <a:prstGeom xmlns:a="http://schemas.openxmlformats.org/drawingml/2006/main" prst="roundRect">
            <a:avLst/>
          </a:prstGeom>
          <a:solidFill xmlns:a="http://schemas.openxmlformats.org/drawingml/2006/main">
            <a:srgbClr val="F6EFFA"/>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15264413-B5A8-4CAB-AF14-9BCD49B7C5A8}"/>
              </a:ext>
            </a:extLst>
          </p:cNvPr>
          <p:cNvSpPr>
            <a:spLocks xmlns:a="http://schemas.openxmlformats.org/drawingml/2006/main" noGrp="1"/>
          </p:cNvSpPr>
          <p:nvPr/>
        </p:nvSpPr>
        <p:spPr>
          <a:xfrm xmlns:a="http://schemas.openxmlformats.org/drawingml/2006/main">
            <a:off x="2313432" y="5605272"/>
            <a:ext cx="1911095" cy="451104"/>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ctr">
              <a:buNone/>
            </a:pPr>
            <a:r>
              <a:rPr sz="2000" b="1" i="0">
                <a:solidFill>
                  <a:srgbClr val="5B1D8C"/>
                </a:solidFill>
                <a:latin typeface="Aptos"/>
                <a:ea typeface="Aptos"/>
                <a:cs typeface="Aptos"/>
              </a:rPr>
              <a:t>369</a:t>
            </a:r>
          </a:p>
        </p:txBody>
      </p:sp>
      <p:sp>
        <p:nvSpPr>
          <p:cNvPr id="26" name="TextBox 25">
            <a:extLst xmlns:a="http://schemas.openxmlformats.org/drawingml/2006/main">
              <a:ext uri="{FF2B5EF4-FFF2-40B4-BE49-F238E27FC236}">
                <a16:creationId xmlns:a16="http://schemas.microsoft.com/office/drawing/2014/main" id="{62C73338-81A3-49DD-8145-1E68528C31D9}"/>
              </a:ext>
            </a:extLst>
          </p:cNvPr>
          <p:cNvSpPr>
            <a:spLocks xmlns:a="http://schemas.openxmlformats.org/drawingml/2006/main" noGrp="1"/>
          </p:cNvSpPr>
          <p:nvPr/>
        </p:nvSpPr>
        <p:spPr>
          <a:xfrm xmlns:a="http://schemas.openxmlformats.org/drawingml/2006/main">
            <a:off x="2313432" y="5961888"/>
            <a:ext cx="1911095" cy="201168"/>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ctr">
              <a:buNone/>
            </a:pPr>
            <a:r>
              <a:rPr sz="919" b="0" i="0">
                <a:solidFill>
                  <a:srgbClr val="475569"/>
                </a:solidFill>
                <a:latin typeface="Aptos"/>
                <a:ea typeface="Aptos"/>
                <a:cs typeface="Aptos"/>
              </a:rPr>
              <a:t>automated tests</a:t>
            </a:r>
          </a:p>
        </p:txBody>
      </p:sp>
      <p:sp>
        <p:nvSpPr>
          <p:cNvPr id="27" name="Rounded Rectangle 26">
            <a:extLst xmlns:a="http://schemas.openxmlformats.org/drawingml/2006/main">
              <a:ext uri="{FF2B5EF4-FFF2-40B4-BE49-F238E27FC236}">
                <a16:creationId xmlns:a16="http://schemas.microsoft.com/office/drawing/2014/main" id="{BC4E962A-2A58-413B-8334-757B0E0D0D03}"/>
              </a:ext>
            </a:extLst>
          </p:cNvPr>
          <p:cNvSpPr>
            <a:spLocks xmlns:a="http://schemas.openxmlformats.org/drawingml/2006/main" noGrp="1"/>
          </p:cNvSpPr>
          <p:nvPr/>
        </p:nvSpPr>
        <p:spPr>
          <a:xfrm xmlns:a="http://schemas.openxmlformats.org/drawingml/2006/main">
            <a:off x="4800600" y="5532120"/>
            <a:ext cx="2057400" cy="749808"/>
          </a:xfrm>
          <a:prstGeom xmlns:a="http://schemas.openxmlformats.org/drawingml/2006/main" prst="roundRect">
            <a:avLst/>
          </a:prstGeom>
          <a:solidFill xmlns:a="http://schemas.openxmlformats.org/drawingml/2006/main">
            <a:srgbClr val="E7F7F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TextBox 27">
            <a:extLst xmlns:a="http://schemas.openxmlformats.org/drawingml/2006/main">
              <a:ext uri="{FF2B5EF4-FFF2-40B4-BE49-F238E27FC236}">
                <a16:creationId xmlns:a16="http://schemas.microsoft.com/office/drawing/2014/main" id="{3CD8A4FB-A934-4544-84F6-2952E77AAE86}"/>
              </a:ext>
            </a:extLst>
          </p:cNvPr>
          <p:cNvSpPr>
            <a:spLocks xmlns:a="http://schemas.openxmlformats.org/drawingml/2006/main" noGrp="1"/>
          </p:cNvSpPr>
          <p:nvPr/>
        </p:nvSpPr>
        <p:spPr>
          <a:xfrm xmlns:a="http://schemas.openxmlformats.org/drawingml/2006/main">
            <a:off x="4873752" y="5605272"/>
            <a:ext cx="1911095" cy="329184"/>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ctr">
              <a:buNone/>
            </a:pPr>
            <a:r>
              <a:rPr sz="2000" b="1" i="0">
                <a:solidFill>
                  <a:srgbClr val="0097A7"/>
                </a:solidFill>
                <a:latin typeface="Aptos"/>
                <a:ea typeface="Aptos"/>
                <a:cs typeface="Aptos"/>
              </a:rPr>
              <a:t>3</a:t>
            </a:r>
          </a:p>
        </p:txBody>
      </p:sp>
      <p:sp>
        <p:nvSpPr>
          <p:cNvPr id="29" name="TextBox 28">
            <a:extLst xmlns:a="http://schemas.openxmlformats.org/drawingml/2006/main">
              <a:ext uri="{FF2B5EF4-FFF2-40B4-BE49-F238E27FC236}">
                <a16:creationId xmlns:a16="http://schemas.microsoft.com/office/drawing/2014/main" id="{E1F338CC-9B3C-4BE0-9FCC-01BF351FE046}"/>
              </a:ext>
            </a:extLst>
          </p:cNvPr>
          <p:cNvSpPr>
            <a:spLocks xmlns:a="http://schemas.openxmlformats.org/drawingml/2006/main" noGrp="1"/>
          </p:cNvSpPr>
          <p:nvPr/>
        </p:nvSpPr>
        <p:spPr>
          <a:xfrm xmlns:a="http://schemas.openxmlformats.org/drawingml/2006/main">
            <a:off x="4873752" y="5961888"/>
            <a:ext cx="1911095" cy="201168"/>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ctr">
              <a:buNone/>
            </a:pPr>
            <a:r>
              <a:rPr sz="919" b="0" i="0">
                <a:solidFill>
                  <a:srgbClr val="475569"/>
                </a:solidFill>
                <a:latin typeface="Aptos"/>
                <a:ea typeface="Aptos"/>
                <a:cs typeface="Aptos"/>
              </a:rPr>
              <a:t>Python versions in CI</a:t>
            </a:r>
          </a:p>
        </p:txBody>
      </p:sp>
      <p:sp>
        <p:nvSpPr>
          <p:cNvPr id="30" name="TextBox 29">
            <a:extLst xmlns:a="http://schemas.openxmlformats.org/drawingml/2006/main">
              <a:ext uri="{FF2B5EF4-FFF2-40B4-BE49-F238E27FC236}">
                <a16:creationId xmlns:a16="http://schemas.microsoft.com/office/drawing/2014/main" id="{97D70ABF-EFC2-4B41-B273-7F62A5A69EB0}"/>
              </a:ext>
            </a:extLst>
          </p:cNvPr>
          <p:cNvSpPr>
            <a:spLocks xmlns:a="http://schemas.openxmlformats.org/drawingml/2006/main" noGrp="1"/>
          </p:cNvSpPr>
          <p:nvPr/>
        </p:nvSpPr>
        <p:spPr>
          <a:xfrm xmlns:a="http://schemas.openxmlformats.org/drawingml/2006/main">
            <a:off x="502920" y="6528816"/>
            <a:ext cx="7818120" cy="201168"/>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830" b="0" i="0">
                <a:solidFill>
                  <a:srgbClr val="475569"/>
                </a:solidFill>
                <a:latin typeface="Aptos"/>
                <a:ea typeface="Aptos"/>
                <a:cs typeface="Aptos"/>
              </a:rPr>
              <a:t>Container: loopback ports, non-root user, read-only filesystem, dropped capabilities</a:t>
            </a:r>
          </a:p>
        </p:txBody>
      </p:sp>
      <p:sp>
        <p:nvSpPr>
          <p:cNvPr id="31" name="TextBox 30">
            <a:extLst xmlns:a="http://schemas.openxmlformats.org/drawingml/2006/main">
              <a:ext uri="{FF2B5EF4-FFF2-40B4-BE49-F238E27FC236}">
                <a16:creationId xmlns:a16="http://schemas.microsoft.com/office/drawing/2014/main" id="{A8DF7049-6FA5-4D82-8CD9-DA85F451CEF3}"/>
              </a:ext>
            </a:extLst>
          </p:cNvPr>
          <p:cNvSpPr>
            <a:spLocks xmlns:a="http://schemas.openxmlformats.org/drawingml/2006/main" noGrp="1"/>
          </p:cNvSpPr>
          <p:nvPr/>
        </p:nvSpPr>
        <p:spPr>
          <a:xfrm xmlns:a="http://schemas.openxmlformats.org/drawingml/2006/main">
            <a:off x="8394192" y="6528816"/>
            <a:ext cx="274320" cy="182880"/>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r">
              <a:buNone/>
            </a:pPr>
            <a:r>
              <a:rPr sz="800" b="1" i="0">
                <a:solidFill>
                  <a:srgbClr val="5B1D8C"/>
                </a:solidFill>
                <a:latin typeface="Aptos"/>
                <a:ea typeface="Aptos"/>
                <a:cs typeface="Aptos"/>
              </a:rPr>
              <a:t>6</a:t>
            </a:r>
          </a:p>
        </p:txBody>
      </p:sp>
    </p:spTree>
    <p:extLst>
      <p:ext uri="{BB962C8B-B14F-4D97-AF65-F5344CB8AC3E}">
        <p14:creationId xmlns:p14="http://schemas.microsoft.com/office/powerpoint/2010/main" val="782692631"/>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A36ACCA-4F3B-4B4C-B191-4840C870E602}"/>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rPr b="1">
                <a:solidFill>
                  <a:srgbClr val="1E293B"/>
                </a:solidFill>
                <a:latin typeface="Aptos Display"/>
                <a:ea typeface="Aptos Display"/>
                <a:cs typeface="Aptos Display"/>
              </a:rPr>
              <a:t>Implementation / Demo</a:t>
            </a:r>
          </a:p>
        </p:txBody>
      </p:sp>
      <p:sp>
        <p:nvSpPr>
          <p:cNvPr id="3" name="TextBox 2">
            <a:extLst xmlns:a="http://schemas.openxmlformats.org/drawingml/2006/main">
              <a:ext uri="{FF2B5EF4-FFF2-40B4-BE49-F238E27FC236}">
                <a16:creationId xmlns:a16="http://schemas.microsoft.com/office/drawing/2014/main" id="{9F5F6BAF-27A3-4A92-874D-B65CFFF119F1}"/>
              </a:ext>
            </a:extLst>
          </p:cNvPr>
          <p:cNvSpPr>
            <a:spLocks xmlns:a="http://schemas.openxmlformats.org/drawingml/2006/main" noGrp="1"/>
          </p:cNvSpPr>
          <p:nvPr/>
        </p:nvSpPr>
        <p:spPr>
          <a:xfrm xmlns:a="http://schemas.openxmlformats.org/drawingml/2006/main">
            <a:off x="502920" y="960120"/>
            <a:ext cx="8001000" cy="320040"/>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100" b="0" i="0">
                <a:solidFill>
                  <a:srgbClr val="475569"/>
                </a:solidFill>
                <a:latin typeface="Aptos"/>
                <a:ea typeface="Aptos"/>
                <a:cs typeface="Aptos"/>
              </a:rPr>
              <a:t>Three synthetic flows prove text, OCR and privacy-safe repeated-entity analysis</a:t>
            </a:r>
          </a:p>
        </p:txBody>
      </p:sp>
      <p:sp>
        <p:nvSpPr>
          <p:cNvPr id="4" name="Rounded Rectangle 3">
            <a:extLst xmlns:a="http://schemas.openxmlformats.org/drawingml/2006/main">
              <a:ext uri="{FF2B5EF4-FFF2-40B4-BE49-F238E27FC236}">
                <a16:creationId xmlns:a16="http://schemas.microsoft.com/office/drawing/2014/main" id="{E37FE6A6-9E88-420C-9315-ACA08626110F}"/>
              </a:ext>
            </a:extLst>
          </p:cNvPr>
          <p:cNvSpPr>
            <a:spLocks xmlns:a="http://schemas.openxmlformats.org/drawingml/2006/main" noGrp="1"/>
          </p:cNvSpPr>
          <p:nvPr/>
        </p:nvSpPr>
        <p:spPr>
          <a:xfrm xmlns:a="http://schemas.openxmlformats.org/drawingml/2006/main">
            <a:off x="502920" y="1517904"/>
            <a:ext cx="1508760" cy="310896"/>
          </a:xfrm>
          <a:prstGeom xmlns:a="http://schemas.openxmlformats.org/drawingml/2006/main" prst="roundRect">
            <a:avLst/>
          </a:prstGeom>
          <a:solidFill xmlns:a="http://schemas.openxmlformats.org/drawingml/2006/main">
            <a:srgbClr val="5B1D8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5" name="TextBox 4">
            <a:extLst xmlns:a="http://schemas.openxmlformats.org/drawingml/2006/main">
              <a:ext uri="{FF2B5EF4-FFF2-40B4-BE49-F238E27FC236}">
                <a16:creationId xmlns:a16="http://schemas.microsoft.com/office/drawing/2014/main" id="{62E43E5E-AF31-422C-A4F3-F433B3734280}"/>
              </a:ext>
            </a:extLst>
          </p:cNvPr>
          <p:cNvSpPr>
            <a:spLocks xmlns:a="http://schemas.openxmlformats.org/drawingml/2006/main" noGrp="1"/>
          </p:cNvSpPr>
          <p:nvPr/>
        </p:nvSpPr>
        <p:spPr>
          <a:xfrm xmlns:a="http://schemas.openxmlformats.org/drawingml/2006/main">
            <a:off x="521208" y="1531619"/>
            <a:ext cx="1472184" cy="246888"/>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lgn="ctr">
              <a:buNone/>
            </a:pPr>
            <a:r>
              <a:rPr sz="930" b="1" i="0">
                <a:solidFill>
                  <a:srgbClr val="FFFFFF"/>
                </a:solidFill>
                <a:latin typeface="Aptos"/>
                <a:ea typeface="Aptos"/>
                <a:cs typeface="Aptos"/>
              </a:rPr>
              <a:t>1  TEXT ANALYSIS</a:t>
            </a:r>
          </a:p>
        </p:txBody>
      </p:sp>
      <p:sp>
        <p:nvSpPr>
          <p:cNvPr id="6" name="TextBox 5">
            <a:extLst xmlns:a="http://schemas.openxmlformats.org/drawingml/2006/main">
              <a:ext uri="{FF2B5EF4-FFF2-40B4-BE49-F238E27FC236}">
                <a16:creationId xmlns:a16="http://schemas.microsoft.com/office/drawing/2014/main" id="{A1FADE91-CD1F-4EA5-BC24-09668F647B75}"/>
              </a:ext>
            </a:extLst>
          </p:cNvPr>
          <p:cNvSpPr>
            <a:spLocks xmlns:a="http://schemas.openxmlformats.org/drawingml/2006/main" noGrp="1"/>
          </p:cNvSpPr>
          <p:nvPr/>
        </p:nvSpPr>
        <p:spPr>
          <a:xfrm xmlns:a="http://schemas.openxmlformats.org/drawingml/2006/main">
            <a:off x="530352" y="1947672"/>
            <a:ext cx="1444752" cy="512064"/>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ctr">
              <a:buNone/>
            </a:pPr>
            <a:r>
              <a:rPr sz="919" b="0" i="0">
                <a:solidFill>
                  <a:srgbClr val="475569"/>
                </a:solidFill>
                <a:latin typeface="Aptos"/>
                <a:ea typeface="Aptos"/>
                <a:cs typeface="Aptos"/>
              </a:rPr>
              <a:t>Prediction, evidence and complaint draft</a:t>
            </a:r>
          </a:p>
        </p:txBody>
      </p:sp>
      <p:sp>
        <p:nvSpPr>
          <p:cNvPr id="7" name="Rounded Rectangle 6">
            <a:extLst xmlns:a="http://schemas.openxmlformats.org/drawingml/2006/main">
              <a:ext uri="{FF2B5EF4-FFF2-40B4-BE49-F238E27FC236}">
                <a16:creationId xmlns:a16="http://schemas.microsoft.com/office/drawing/2014/main" id="{C98428F8-BB92-4D34-9126-B1AC9CF11AEE}"/>
              </a:ext>
            </a:extLst>
          </p:cNvPr>
          <p:cNvSpPr>
            <a:spLocks xmlns:a="http://schemas.openxmlformats.org/drawingml/2006/main" noGrp="1"/>
          </p:cNvSpPr>
          <p:nvPr/>
        </p:nvSpPr>
        <p:spPr>
          <a:xfrm xmlns:a="http://schemas.openxmlformats.org/drawingml/2006/main">
            <a:off x="2176272" y="1353312"/>
            <a:ext cx="6419088" cy="1325880"/>
          </a:xfrm>
          <a:prstGeom xmlns:a="http://schemas.openxmlformats.org/drawingml/2006/main" prst="roundRect">
            <a:avLst/>
          </a:prstGeom>
          <a:solidFill xmlns:a="http://schemas.openxmlformats.org/drawingml/2006/main">
            <a:srgbClr val="FFFFFF"/>
          </a:solidFill>
          <a:ln xmlns:a="http://schemas.openxmlformats.org/drawingml/2006/main" w="10160">
            <a:solidFill>
              <a:srgbClr val="D7D7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30" name="Picture 7"/>
          <p:cNvPicPr>
            <a:picLocks xmlns:a="http://schemas.openxmlformats.org/drawingml/2006/main" noChangeAspect="1"/>
          </p:cNvPicPr>
          <p:nvPr/>
        </p:nvPicPr>
        <p:blipFill>
          <a:blip xmlns:r="http://schemas.openxmlformats.org/officeDocument/2006/relationships" xmlns:a="http://schemas.openxmlformats.org/drawingml/2006/main" r:embed="Ra3bdee670ec646dd"/>
          <a:stretch xmlns:a="http://schemas.openxmlformats.org/drawingml/2006/main">
            <a:fillRect l="0" t="0" r="0" b="0"/>
          </a:stretch>
        </p:blipFill>
        <p:spPr>
          <a:xfrm xmlns:a="http://schemas.openxmlformats.org/drawingml/2006/main">
            <a:off x="2212848" y="1394521"/>
            <a:ext cx="6345936" cy="1243460"/>
          </a:xfrm>
          <a:prstGeom xmlns:a="http://schemas.openxmlformats.org/drawingml/2006/main" prst="rect">
            <a:avLst/>
          </a:prstGeom>
        </p:spPr>
      </p:pic>
      <p:sp>
        <p:nvSpPr>
          <p:cNvPr id="9" name="Rounded Rectangle 8">
            <a:extLst xmlns:a="http://schemas.openxmlformats.org/drawingml/2006/main">
              <a:ext uri="{FF2B5EF4-FFF2-40B4-BE49-F238E27FC236}">
                <a16:creationId xmlns:a16="http://schemas.microsoft.com/office/drawing/2014/main" id="{177FE553-4D4C-429E-AAEF-9A00BDC4FE19}"/>
              </a:ext>
            </a:extLst>
          </p:cNvPr>
          <p:cNvSpPr>
            <a:spLocks xmlns:a="http://schemas.openxmlformats.org/drawingml/2006/main" noGrp="1"/>
          </p:cNvSpPr>
          <p:nvPr/>
        </p:nvSpPr>
        <p:spPr>
          <a:xfrm xmlns:a="http://schemas.openxmlformats.org/drawingml/2006/main">
            <a:off x="502920" y="3072384"/>
            <a:ext cx="1508760" cy="310896"/>
          </a:xfrm>
          <a:prstGeom xmlns:a="http://schemas.openxmlformats.org/drawingml/2006/main" prst="roundRect">
            <a:avLst/>
          </a:prstGeom>
          <a:solidFill xmlns:a="http://schemas.openxmlformats.org/drawingml/2006/main">
            <a:srgbClr val="0097A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6308430F-28FD-4079-A99F-104A2948C825}"/>
              </a:ext>
            </a:extLst>
          </p:cNvPr>
          <p:cNvSpPr>
            <a:spLocks xmlns:a="http://schemas.openxmlformats.org/drawingml/2006/main" noGrp="1"/>
          </p:cNvSpPr>
          <p:nvPr/>
        </p:nvSpPr>
        <p:spPr>
          <a:xfrm xmlns:a="http://schemas.openxmlformats.org/drawingml/2006/main">
            <a:off x="521208" y="3086100"/>
            <a:ext cx="1472184" cy="246888"/>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lgn="ctr">
              <a:buNone/>
            </a:pPr>
            <a:r>
              <a:rPr sz="930" b="1" i="0">
                <a:solidFill>
                  <a:srgbClr val="FFFFFF"/>
                </a:solidFill>
                <a:latin typeface="Aptos"/>
                <a:ea typeface="Aptos"/>
                <a:cs typeface="Aptos"/>
              </a:rPr>
              <a:t>2  SCREENSHOT OCR</a:t>
            </a:r>
          </a:p>
        </p:txBody>
      </p:sp>
      <p:sp>
        <p:nvSpPr>
          <p:cNvPr id="11" name="TextBox 10">
            <a:extLst xmlns:a="http://schemas.openxmlformats.org/drawingml/2006/main">
              <a:ext uri="{FF2B5EF4-FFF2-40B4-BE49-F238E27FC236}">
                <a16:creationId xmlns:a16="http://schemas.microsoft.com/office/drawing/2014/main" id="{B104117E-F8BF-45E0-95AD-86D1E8DAC6B5}"/>
              </a:ext>
            </a:extLst>
          </p:cNvPr>
          <p:cNvSpPr>
            <a:spLocks xmlns:a="http://schemas.openxmlformats.org/drawingml/2006/main" noGrp="1"/>
          </p:cNvSpPr>
          <p:nvPr/>
        </p:nvSpPr>
        <p:spPr>
          <a:xfrm xmlns:a="http://schemas.openxmlformats.org/drawingml/2006/main">
            <a:off x="530352" y="3502152"/>
            <a:ext cx="1444752" cy="512064"/>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ctr">
              <a:buNone/>
            </a:pPr>
            <a:r>
              <a:rPr sz="919" b="0" i="0">
                <a:solidFill>
                  <a:srgbClr val="475569"/>
                </a:solidFill>
                <a:latin typeface="Aptos"/>
                <a:ea typeface="Aptos"/>
                <a:cs typeface="Aptos"/>
              </a:rPr>
              <a:t>Local eng+hin text extraction; image not retained</a:t>
            </a:r>
          </a:p>
        </p:txBody>
      </p:sp>
      <p:sp>
        <p:nvSpPr>
          <p:cNvPr id="12" name="Rounded Rectangle 11">
            <a:extLst xmlns:a="http://schemas.openxmlformats.org/drawingml/2006/main">
              <a:ext uri="{FF2B5EF4-FFF2-40B4-BE49-F238E27FC236}">
                <a16:creationId xmlns:a16="http://schemas.microsoft.com/office/drawing/2014/main" id="{555EB974-E32D-44A1-B90C-8A142A3A5A1F}"/>
              </a:ext>
            </a:extLst>
          </p:cNvPr>
          <p:cNvSpPr>
            <a:spLocks xmlns:a="http://schemas.openxmlformats.org/drawingml/2006/main" noGrp="1"/>
          </p:cNvSpPr>
          <p:nvPr/>
        </p:nvSpPr>
        <p:spPr>
          <a:xfrm xmlns:a="http://schemas.openxmlformats.org/drawingml/2006/main">
            <a:off x="2176272" y="2907792"/>
            <a:ext cx="6419088" cy="1325880"/>
          </a:xfrm>
          <a:prstGeom xmlns:a="http://schemas.openxmlformats.org/drawingml/2006/main" prst="roundRect">
            <a:avLst/>
          </a:prstGeom>
          <a:solidFill xmlns:a="http://schemas.openxmlformats.org/drawingml/2006/main">
            <a:srgbClr val="FFFFFF"/>
          </a:solidFill>
          <a:ln xmlns:a="http://schemas.openxmlformats.org/drawingml/2006/main" w="10160">
            <a:solidFill>
              <a:srgbClr val="D7D7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35" name="Picture 12"/>
          <p:cNvPicPr>
            <a:picLocks xmlns:a="http://schemas.openxmlformats.org/drawingml/2006/main" noChangeAspect="1"/>
          </p:cNvPicPr>
          <p:nvPr/>
        </p:nvPicPr>
        <p:blipFill>
          <a:blip xmlns:r="http://schemas.openxmlformats.org/officeDocument/2006/relationships" xmlns:a="http://schemas.openxmlformats.org/drawingml/2006/main" r:embed="R3b7de2b02bc64d0d"/>
          <a:stretch xmlns:a="http://schemas.openxmlformats.org/drawingml/2006/main">
            <a:fillRect l="0" t="0" r="0" b="0"/>
          </a:stretch>
        </p:blipFill>
        <p:spPr>
          <a:xfrm xmlns:a="http://schemas.openxmlformats.org/drawingml/2006/main">
            <a:off x="3700327" y="2944368"/>
            <a:ext cx="3370977" cy="1252728"/>
          </a:xfrm>
          <a:prstGeom xmlns:a="http://schemas.openxmlformats.org/drawingml/2006/main" prst="rect">
            <a:avLst/>
          </a:prstGeom>
        </p:spPr>
      </p:pic>
      <p:sp>
        <p:nvSpPr>
          <p:cNvPr id="14" name="Rounded Rectangle 13">
            <a:extLst xmlns:a="http://schemas.openxmlformats.org/drawingml/2006/main">
              <a:ext uri="{FF2B5EF4-FFF2-40B4-BE49-F238E27FC236}">
                <a16:creationId xmlns:a16="http://schemas.microsoft.com/office/drawing/2014/main" id="{F29083BA-5396-44FF-A37E-2EEB655665FF}"/>
              </a:ext>
            </a:extLst>
          </p:cNvPr>
          <p:cNvSpPr>
            <a:spLocks xmlns:a="http://schemas.openxmlformats.org/drawingml/2006/main" noGrp="1"/>
          </p:cNvSpPr>
          <p:nvPr/>
        </p:nvSpPr>
        <p:spPr>
          <a:xfrm xmlns:a="http://schemas.openxmlformats.org/drawingml/2006/main">
            <a:off x="502920" y="4626864"/>
            <a:ext cx="1508760" cy="310896"/>
          </a:xfrm>
          <a:prstGeom xmlns:a="http://schemas.openxmlformats.org/drawingml/2006/main" prst="roundRect">
            <a:avLst/>
          </a:prstGeom>
          <a:solidFill xmlns:a="http://schemas.openxmlformats.org/drawingml/2006/main">
            <a:srgbClr val="E2B11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TextBox 14">
            <a:extLst xmlns:a="http://schemas.openxmlformats.org/drawingml/2006/main">
              <a:ext uri="{FF2B5EF4-FFF2-40B4-BE49-F238E27FC236}">
                <a16:creationId xmlns:a16="http://schemas.microsoft.com/office/drawing/2014/main" id="{F8AA4237-C61B-486B-B2F0-BF49DE321D2F}"/>
              </a:ext>
            </a:extLst>
          </p:cNvPr>
          <p:cNvSpPr>
            <a:spLocks xmlns:a="http://schemas.openxmlformats.org/drawingml/2006/main" noGrp="1"/>
          </p:cNvSpPr>
          <p:nvPr/>
        </p:nvSpPr>
        <p:spPr>
          <a:xfrm xmlns:a="http://schemas.openxmlformats.org/drawingml/2006/main">
            <a:off x="521208" y="4640579"/>
            <a:ext cx="1472184" cy="246888"/>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lgn="ctr">
              <a:buNone/>
            </a:pPr>
            <a:r>
              <a:rPr sz="930" b="1" i="0">
                <a:solidFill>
                  <a:srgbClr val="FFFFFF"/>
                </a:solidFill>
                <a:latin typeface="Aptos"/>
                <a:ea typeface="Aptos"/>
                <a:cs typeface="Aptos"/>
              </a:rPr>
              <a:t>3  ENTITY GRAPH</a:t>
            </a:r>
          </a:p>
        </p:txBody>
      </p:sp>
      <p:sp>
        <p:nvSpPr>
          <p:cNvPr id="16" name="TextBox 15">
            <a:extLst xmlns:a="http://schemas.openxmlformats.org/drawingml/2006/main">
              <a:ext uri="{FF2B5EF4-FFF2-40B4-BE49-F238E27FC236}">
                <a16:creationId xmlns:a16="http://schemas.microsoft.com/office/drawing/2014/main" id="{6BFE589A-CE4E-4B68-810B-85F9CE710B1E}"/>
              </a:ext>
            </a:extLst>
          </p:cNvPr>
          <p:cNvSpPr>
            <a:spLocks xmlns:a="http://schemas.openxmlformats.org/drawingml/2006/main" noGrp="1"/>
          </p:cNvSpPr>
          <p:nvPr/>
        </p:nvSpPr>
        <p:spPr>
          <a:xfrm xmlns:a="http://schemas.openxmlformats.org/drawingml/2006/main">
            <a:off x="530352" y="5056632"/>
            <a:ext cx="1444752" cy="512064"/>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ctr">
              <a:buNone/>
            </a:pPr>
            <a:r>
              <a:rPr sz="919" b="0" i="0">
                <a:solidFill>
                  <a:srgbClr val="475569"/>
                </a:solidFill>
                <a:latin typeface="Aptos"/>
                <a:ea typeface="Aptos"/>
                <a:cs typeface="Aptos"/>
              </a:rPr>
              <a:t>Two consented incidents linked by one masked host</a:t>
            </a:r>
          </a:p>
        </p:txBody>
      </p:sp>
      <p:sp>
        <p:nvSpPr>
          <p:cNvPr id="17" name="Rounded Rectangle 16">
            <a:extLst xmlns:a="http://schemas.openxmlformats.org/drawingml/2006/main">
              <a:ext uri="{FF2B5EF4-FFF2-40B4-BE49-F238E27FC236}">
                <a16:creationId xmlns:a16="http://schemas.microsoft.com/office/drawing/2014/main" id="{6BB12B1E-E3ED-4C7C-AA17-589F2D16FD76}"/>
              </a:ext>
            </a:extLst>
          </p:cNvPr>
          <p:cNvSpPr>
            <a:spLocks xmlns:a="http://schemas.openxmlformats.org/drawingml/2006/main" noGrp="1"/>
          </p:cNvSpPr>
          <p:nvPr/>
        </p:nvSpPr>
        <p:spPr>
          <a:xfrm xmlns:a="http://schemas.openxmlformats.org/drawingml/2006/main">
            <a:off x="2176272" y="4462272"/>
            <a:ext cx="6419088" cy="1325880"/>
          </a:xfrm>
          <a:prstGeom xmlns:a="http://schemas.openxmlformats.org/drawingml/2006/main" prst="roundRect">
            <a:avLst/>
          </a:prstGeom>
          <a:solidFill xmlns:a="http://schemas.openxmlformats.org/drawingml/2006/main">
            <a:srgbClr val="FFFFFF"/>
          </a:solidFill>
          <a:ln xmlns:a="http://schemas.openxmlformats.org/drawingml/2006/main" w="10160">
            <a:solidFill>
              <a:srgbClr val="D7D7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40" name="Picture 17"/>
          <p:cNvPicPr>
            <a:picLocks xmlns:a="http://schemas.openxmlformats.org/drawingml/2006/main" noChangeAspect="1"/>
          </p:cNvPicPr>
          <p:nvPr/>
        </p:nvPicPr>
        <p:blipFill>
          <a:blip xmlns:r="http://schemas.openxmlformats.org/officeDocument/2006/relationships" xmlns:a="http://schemas.openxmlformats.org/drawingml/2006/main" r:embed="R71451d59594141a2"/>
          <a:stretch xmlns:a="http://schemas.openxmlformats.org/drawingml/2006/main">
            <a:fillRect l="0" t="0" r="0" b="0"/>
          </a:stretch>
        </p:blipFill>
        <p:spPr>
          <a:xfrm xmlns:a="http://schemas.openxmlformats.org/drawingml/2006/main">
            <a:off x="3669114" y="4498848"/>
            <a:ext cx="3433402" cy="1252728"/>
          </a:xfrm>
          <a:prstGeom xmlns:a="http://schemas.openxmlformats.org/drawingml/2006/main" prst="rect">
            <a:avLst/>
          </a:prstGeom>
        </p:spPr>
      </p:pic>
      <p:sp>
        <p:nvSpPr>
          <p:cNvPr id="19" name="TextBox 18">
            <a:extLst xmlns:a="http://schemas.openxmlformats.org/drawingml/2006/main">
              <a:ext uri="{FF2B5EF4-FFF2-40B4-BE49-F238E27FC236}">
                <a16:creationId xmlns:a16="http://schemas.microsoft.com/office/drawing/2014/main" id="{0D6CFA3F-A1B1-4603-8ECD-886BE4CDC306}"/>
              </a:ext>
            </a:extLst>
          </p:cNvPr>
          <p:cNvSpPr>
            <a:spLocks xmlns:a="http://schemas.openxmlformats.org/drawingml/2006/main" noGrp="1"/>
          </p:cNvSpPr>
          <p:nvPr/>
        </p:nvSpPr>
        <p:spPr>
          <a:xfrm xmlns:a="http://schemas.openxmlformats.org/drawingml/2006/main">
            <a:off x="502920" y="6528816"/>
            <a:ext cx="7818120" cy="201168"/>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830" b="0" i="0">
                <a:solidFill>
                  <a:srgbClr val="475569"/>
                </a:solidFill>
                <a:latin typeface="Aptos"/>
                <a:ea typeface="Aptos"/>
                <a:cs typeface="Aptos"/>
              </a:rPr>
              <a:t>Storage starts off | Synthetic fixtures only | Website and API use the same service</a:t>
            </a:r>
          </a:p>
        </p:txBody>
      </p:sp>
      <p:sp>
        <p:nvSpPr>
          <p:cNvPr id="20" name="TextBox 19">
            <a:extLst xmlns:a="http://schemas.openxmlformats.org/drawingml/2006/main">
              <a:ext uri="{FF2B5EF4-FFF2-40B4-BE49-F238E27FC236}">
                <a16:creationId xmlns:a16="http://schemas.microsoft.com/office/drawing/2014/main" id="{C701F5CA-93BC-4D1C-B6D7-A3C4CDFCE532}"/>
              </a:ext>
            </a:extLst>
          </p:cNvPr>
          <p:cNvSpPr>
            <a:spLocks xmlns:a="http://schemas.openxmlformats.org/drawingml/2006/main" noGrp="1"/>
          </p:cNvSpPr>
          <p:nvPr/>
        </p:nvSpPr>
        <p:spPr>
          <a:xfrm xmlns:a="http://schemas.openxmlformats.org/drawingml/2006/main">
            <a:off x="8394192" y="6528816"/>
            <a:ext cx="274320" cy="182880"/>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r">
              <a:buNone/>
            </a:pPr>
            <a:r>
              <a:rPr sz="800" b="1" i="0">
                <a:solidFill>
                  <a:srgbClr val="5B1D8C"/>
                </a:solidFill>
                <a:latin typeface="Aptos"/>
                <a:ea typeface="Aptos"/>
                <a:cs typeface="Aptos"/>
              </a:rPr>
              <a:t>7</a:t>
            </a:r>
          </a:p>
        </p:txBody>
      </p:sp>
    </p:spTree>
    <p:extLst>
      <p:ext uri="{BB962C8B-B14F-4D97-AF65-F5344CB8AC3E}">
        <p14:creationId xmlns:p14="http://schemas.microsoft.com/office/powerpoint/2010/main" val="667387225"/>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0A12BE6C-D1BC-4D97-AD68-F5ECE7855CB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rPr b="1">
                <a:solidFill>
                  <a:srgbClr val="1E293B"/>
                </a:solidFill>
                <a:latin typeface="Aptos Display"/>
                <a:ea typeface="Aptos Display"/>
                <a:cs typeface="Aptos Display"/>
              </a:rPr>
              <a:t>Results &amp; Analysis</a:t>
            </a:r>
          </a:p>
        </p:txBody>
      </p:sp>
      <p:sp>
        <p:nvSpPr>
          <p:cNvPr id="3" name="TextBox 2">
            <a:extLst xmlns:a="http://schemas.openxmlformats.org/drawingml/2006/main">
              <a:ext uri="{FF2B5EF4-FFF2-40B4-BE49-F238E27FC236}">
                <a16:creationId xmlns:a16="http://schemas.microsoft.com/office/drawing/2014/main" id="{08B21CA9-823B-46BE-AA39-89FDAF59CDDE}"/>
              </a:ext>
            </a:extLst>
          </p:cNvPr>
          <p:cNvSpPr>
            <a:spLocks xmlns:a="http://schemas.openxmlformats.org/drawingml/2006/main" noGrp="1"/>
          </p:cNvSpPr>
          <p:nvPr/>
        </p:nvSpPr>
        <p:spPr>
          <a:xfrm xmlns:a="http://schemas.openxmlformats.org/drawingml/2006/main">
            <a:off x="502920" y="960120"/>
            <a:ext cx="8001000" cy="320040"/>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100" b="0" i="0">
                <a:solidFill>
                  <a:srgbClr val="475569"/>
                </a:solidFill>
                <a:latin typeface="Aptos"/>
                <a:ea typeface="Aptos"/>
                <a:cs typeface="Aptos"/>
              </a:rPr>
              <a:t>Four separate evidence tracks: internal eight-class, external binary, runtime ham stress and subsystem quality</a:t>
            </a:r>
          </a:p>
        </p:txBody>
      </p:sp>
      <p:sp>
        <p:nvSpPr>
          <p:cNvPr id="4" name="Rounded Rectangle 3">
            <a:extLst xmlns:a="http://schemas.openxmlformats.org/drawingml/2006/main">
              <a:ext uri="{FF2B5EF4-FFF2-40B4-BE49-F238E27FC236}">
                <a16:creationId xmlns:a16="http://schemas.microsoft.com/office/drawing/2014/main" id="{32C3C4A0-2E58-4FEE-BDC8-75946D9086E5}"/>
              </a:ext>
            </a:extLst>
          </p:cNvPr>
          <p:cNvSpPr>
            <a:spLocks xmlns:a="http://schemas.openxmlformats.org/drawingml/2006/main" noGrp="1"/>
          </p:cNvSpPr>
          <p:nvPr/>
        </p:nvSpPr>
        <p:spPr>
          <a:xfrm xmlns:a="http://schemas.openxmlformats.org/drawingml/2006/main">
            <a:off x="502920" y="1325880"/>
            <a:ext cx="4983480" cy="4407408"/>
          </a:xfrm>
          <a:prstGeom xmlns:a="http://schemas.openxmlformats.org/drawingml/2006/main" prst="roundRect">
            <a:avLst/>
          </a:prstGeom>
          <a:solidFill xmlns:a="http://schemas.openxmlformats.org/drawingml/2006/main">
            <a:srgbClr val="FFFFFF"/>
          </a:solidFill>
          <a:ln xmlns:a="http://schemas.openxmlformats.org/drawingml/2006/main" w="10160">
            <a:solidFill>
              <a:srgbClr val="D7D7E1"/>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pic>
        <p:nvPicPr>
          <p:cNvPr id="24" name="Picture 4"/>
          <p:cNvPicPr>
            <a:picLocks xmlns:a="http://schemas.openxmlformats.org/drawingml/2006/main" noChangeAspect="1"/>
          </p:cNvPicPr>
          <p:nvPr/>
        </p:nvPicPr>
        <p:blipFill>
          <a:blip xmlns:r="http://schemas.openxmlformats.org/officeDocument/2006/relationships" xmlns:a="http://schemas.openxmlformats.org/drawingml/2006/main" r:embed="R31c588fc8c4b471c"/>
          <a:stretch xmlns:a="http://schemas.openxmlformats.org/drawingml/2006/main">
            <a:fillRect l="0" t="0" r="0" b="0"/>
          </a:stretch>
        </p:blipFill>
        <p:spPr>
          <a:xfrm xmlns:a="http://schemas.openxmlformats.org/drawingml/2006/main">
            <a:off x="539496" y="1688210"/>
            <a:ext cx="4910328" cy="3682746"/>
          </a:xfrm>
          <a:prstGeom xmlns:a="http://schemas.openxmlformats.org/drawingml/2006/main" prst="rect">
            <a:avLst/>
          </a:prstGeom>
        </p:spPr>
      </p:pic>
      <p:sp>
        <p:nvSpPr>
          <p:cNvPr id="6" name="Rounded Rectangle 5">
            <a:extLst xmlns:a="http://schemas.openxmlformats.org/drawingml/2006/main">
              <a:ext uri="{FF2B5EF4-FFF2-40B4-BE49-F238E27FC236}">
                <a16:creationId xmlns:a16="http://schemas.microsoft.com/office/drawing/2014/main" id="{829A4983-438F-4A12-B388-51DE7F430EAE}"/>
              </a:ext>
            </a:extLst>
          </p:cNvPr>
          <p:cNvSpPr>
            <a:spLocks xmlns:a="http://schemas.openxmlformats.org/drawingml/2006/main" noGrp="1"/>
          </p:cNvSpPr>
          <p:nvPr/>
        </p:nvSpPr>
        <p:spPr>
          <a:xfrm xmlns:a="http://schemas.openxmlformats.org/drawingml/2006/main">
            <a:off x="5715000" y="1325880"/>
            <a:ext cx="2880360" cy="310896"/>
          </a:xfrm>
          <a:prstGeom xmlns:a="http://schemas.openxmlformats.org/drawingml/2006/main" prst="roundRect">
            <a:avLst/>
          </a:prstGeom>
          <a:solidFill xmlns:a="http://schemas.openxmlformats.org/drawingml/2006/main">
            <a:srgbClr val="371455"/>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9499E0FE-9DF1-4C5A-80DF-ABF482104979}"/>
              </a:ext>
            </a:extLst>
          </p:cNvPr>
          <p:cNvSpPr>
            <a:spLocks xmlns:a="http://schemas.openxmlformats.org/drawingml/2006/main" noGrp="1"/>
          </p:cNvSpPr>
          <p:nvPr/>
        </p:nvSpPr>
        <p:spPr>
          <a:xfrm xmlns:a="http://schemas.openxmlformats.org/drawingml/2006/main">
            <a:off x="5733288" y="1339595"/>
            <a:ext cx="2843784" cy="246888"/>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lgn="ctr">
              <a:buNone/>
            </a:pPr>
            <a:r>
              <a:rPr sz="1019" b="1" i="0">
                <a:solidFill>
                  <a:srgbClr val="FFFFFF"/>
                </a:solidFill>
                <a:latin typeface="Aptos"/>
                <a:ea typeface="Aptos"/>
                <a:cs typeface="Aptos"/>
              </a:rPr>
              <a:t>UCI SMS · 5,574 rows · 858 held-out</a:t>
            </a:r>
          </a:p>
        </p:txBody>
      </p:sp>
      <p:sp>
        <p:nvSpPr>
          <p:cNvPr id="8" name="Rounded Rectangle 7">
            <a:extLst xmlns:a="http://schemas.openxmlformats.org/drawingml/2006/main">
              <a:ext uri="{FF2B5EF4-FFF2-40B4-BE49-F238E27FC236}">
                <a16:creationId xmlns:a16="http://schemas.microsoft.com/office/drawing/2014/main" id="{D6B2E119-9371-46F0-BB69-A488C26F1689}"/>
              </a:ext>
            </a:extLst>
          </p:cNvPr>
          <p:cNvSpPr>
            <a:spLocks xmlns:a="http://schemas.openxmlformats.org/drawingml/2006/main" noGrp="1"/>
          </p:cNvSpPr>
          <p:nvPr/>
        </p:nvSpPr>
        <p:spPr>
          <a:xfrm xmlns:a="http://schemas.openxmlformats.org/drawingml/2006/main">
            <a:off x="5715000" y="1810512"/>
            <a:ext cx="2880360" cy="1353312"/>
          </a:xfrm>
          <a:prstGeom xmlns:a="http://schemas.openxmlformats.org/drawingml/2006/main" prst="roundRect">
            <a:avLst/>
          </a:prstGeom>
          <a:solidFill xmlns:a="http://schemas.openxmlformats.org/drawingml/2006/main">
            <a:srgbClr val="F6EFFA"/>
          </a:solidFill>
          <a:ln xmlns:a="http://schemas.openxmlformats.org/drawingml/2006/main" w="8890">
            <a:solidFill>
              <a:srgbClr val="E1E1E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Rectangle 8">
            <a:extLst xmlns:a="http://schemas.openxmlformats.org/drawingml/2006/main">
              <a:ext uri="{FF2B5EF4-FFF2-40B4-BE49-F238E27FC236}">
                <a16:creationId xmlns:a16="http://schemas.microsoft.com/office/drawing/2014/main" id="{5AE3B5EF-6BB1-421E-BDA1-D9AF6F016BE9}"/>
              </a:ext>
            </a:extLst>
          </p:cNvPr>
          <p:cNvSpPr>
            <a:spLocks xmlns:a="http://schemas.openxmlformats.org/drawingml/2006/main" noGrp="1"/>
          </p:cNvSpPr>
          <p:nvPr/>
        </p:nvSpPr>
        <p:spPr>
          <a:xfrm xmlns:a="http://schemas.openxmlformats.org/drawingml/2006/main">
            <a:off x="5715000" y="1810512"/>
            <a:ext cx="73152" cy="1353312"/>
          </a:xfrm>
          <a:prstGeom xmlns:a="http://schemas.openxmlformats.org/drawingml/2006/main" prst="rect">
            <a:avLst/>
          </a:prstGeom>
          <a:solidFill xmlns:a="http://schemas.openxmlformats.org/drawingml/2006/main">
            <a:srgbClr val="5B1D8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62838DF3-8446-4C89-A0CE-F75CC59039C7}"/>
              </a:ext>
            </a:extLst>
          </p:cNvPr>
          <p:cNvSpPr>
            <a:spLocks xmlns:a="http://schemas.openxmlformats.org/drawingml/2006/main" noGrp="1"/>
          </p:cNvSpPr>
          <p:nvPr/>
        </p:nvSpPr>
        <p:spPr>
          <a:xfrm xmlns:a="http://schemas.openxmlformats.org/drawingml/2006/main">
            <a:off x="5879592" y="1920240"/>
            <a:ext cx="2606040" cy="352044"/>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350" b="1" i="0">
                <a:solidFill>
                  <a:srgbClr val="5B1D8C"/>
                </a:solidFill>
                <a:latin typeface="Aptos"/>
                <a:ea typeface="Aptos"/>
                <a:cs typeface="Aptos"/>
              </a:rPr>
              <a:t>External binary validation</a:t>
            </a:r>
          </a:p>
        </p:txBody>
      </p:sp>
      <p:sp>
        <p:nvSpPr>
          <p:cNvPr id="11" name="TextBox 10">
            <a:extLst xmlns:a="http://schemas.openxmlformats.org/drawingml/2006/main">
              <a:ext uri="{FF2B5EF4-FFF2-40B4-BE49-F238E27FC236}">
                <a16:creationId xmlns:a16="http://schemas.microsoft.com/office/drawing/2014/main" id="{A10CCE5C-08F8-4EFA-AFD5-85F7B3F009E1}"/>
              </a:ext>
            </a:extLst>
          </p:cNvPr>
          <p:cNvSpPr>
            <a:spLocks xmlns:a="http://schemas.openxmlformats.org/drawingml/2006/main" noGrp="1"/>
          </p:cNvSpPr>
          <p:nvPr/>
        </p:nvSpPr>
        <p:spPr>
          <a:xfrm xmlns:a="http://schemas.openxmlformats.org/drawingml/2006/main">
            <a:off x="5879592" y="2249424"/>
            <a:ext cx="2606040" cy="841247"/>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120" b="0" i="0">
                <a:solidFill>
                  <a:srgbClr val="1E293B"/>
                </a:solidFill>
                <a:latin typeface="Aptos"/>
                <a:ea typeface="Aptos"/>
                <a:cs typeface="Aptos"/>
              </a:rPr>
              <a:t>Calibrated character TF-IDF</a:t>
            </a:r>
          </a:p>
          <a:p xmlns:a="http://schemas.openxmlformats.org/drawingml/2006/main">
            <a:pPr algn="l">
              <a:buNone/>
            </a:pPr>
            <a:r>
              <a:rPr sz="1120" b="0" i="0">
                <a:solidFill>
                  <a:srgbClr val="1E293B"/>
                </a:solidFill>
                <a:latin typeface="Aptos"/>
                <a:ea typeface="Aptos"/>
                <a:cs typeface="Aptos"/>
              </a:rPr>
              <a:t>98.60% accuracy · 0.9682 Macro-F1</a:t>
            </a:r>
          </a:p>
          <a:p xmlns:a="http://schemas.openxmlformats.org/drawingml/2006/main">
            <a:pPr algn="l">
              <a:buNone/>
            </a:pPr>
            <a:r>
              <a:rPr sz="1120" b="0" i="0">
                <a:solidFill>
                  <a:srgbClr val="1E293B"/>
                </a:solidFill>
                <a:latin typeface="Aptos"/>
                <a:ea typeface="Aptos"/>
                <a:cs typeface="Aptos"/>
              </a:rPr>
              <a:t>92.73% spam recall · ECE 0.0071</a:t>
            </a:r>
          </a:p>
        </p:txBody>
      </p:sp>
      <p:sp>
        <p:nvSpPr>
          <p:cNvPr id="12" name="Rounded Rectangle 11">
            <a:extLst xmlns:a="http://schemas.openxmlformats.org/drawingml/2006/main">
              <a:ext uri="{FF2B5EF4-FFF2-40B4-BE49-F238E27FC236}">
                <a16:creationId xmlns:a16="http://schemas.microsoft.com/office/drawing/2014/main" id="{66BF7D20-B98A-43B9-851F-B6274D5BBDE8}"/>
              </a:ext>
            </a:extLst>
          </p:cNvPr>
          <p:cNvSpPr>
            <a:spLocks xmlns:a="http://schemas.openxmlformats.org/drawingml/2006/main" noGrp="1"/>
          </p:cNvSpPr>
          <p:nvPr/>
        </p:nvSpPr>
        <p:spPr>
          <a:xfrm xmlns:a="http://schemas.openxmlformats.org/drawingml/2006/main">
            <a:off x="5715000" y="3310128"/>
            <a:ext cx="2880360" cy="1353312"/>
          </a:xfrm>
          <a:prstGeom xmlns:a="http://schemas.openxmlformats.org/drawingml/2006/main" prst="roundRect">
            <a:avLst/>
          </a:prstGeom>
          <a:solidFill xmlns:a="http://schemas.openxmlformats.org/drawingml/2006/main">
            <a:srgbClr val="E7F7F7"/>
          </a:solidFill>
          <a:ln xmlns:a="http://schemas.openxmlformats.org/drawingml/2006/main" w="8890">
            <a:solidFill>
              <a:srgbClr val="E1E1E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Rectangle 12">
            <a:extLst xmlns:a="http://schemas.openxmlformats.org/drawingml/2006/main">
              <a:ext uri="{FF2B5EF4-FFF2-40B4-BE49-F238E27FC236}">
                <a16:creationId xmlns:a16="http://schemas.microsoft.com/office/drawing/2014/main" id="{F452942A-38F2-41D5-968C-F9911047F719}"/>
              </a:ext>
            </a:extLst>
          </p:cNvPr>
          <p:cNvSpPr>
            <a:spLocks xmlns:a="http://schemas.openxmlformats.org/drawingml/2006/main" noGrp="1"/>
          </p:cNvSpPr>
          <p:nvPr/>
        </p:nvSpPr>
        <p:spPr>
          <a:xfrm xmlns:a="http://schemas.openxmlformats.org/drawingml/2006/main">
            <a:off x="5715000" y="3310128"/>
            <a:ext cx="73152" cy="1353312"/>
          </a:xfrm>
          <a:prstGeom xmlns:a="http://schemas.openxmlformats.org/drawingml/2006/main" prst="rect">
            <a:avLst/>
          </a:prstGeom>
          <a:solidFill xmlns:a="http://schemas.openxmlformats.org/drawingml/2006/main">
            <a:srgbClr val="0097A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4" name="TextBox 13">
            <a:extLst xmlns:a="http://schemas.openxmlformats.org/drawingml/2006/main">
              <a:ext uri="{FF2B5EF4-FFF2-40B4-BE49-F238E27FC236}">
                <a16:creationId xmlns:a16="http://schemas.microsoft.com/office/drawing/2014/main" id="{4F0B5A9C-6955-464A-AD9F-B47AD7DB0C79}"/>
              </a:ext>
            </a:extLst>
          </p:cNvPr>
          <p:cNvSpPr>
            <a:spLocks xmlns:a="http://schemas.openxmlformats.org/drawingml/2006/main" noGrp="1"/>
          </p:cNvSpPr>
          <p:nvPr/>
        </p:nvSpPr>
        <p:spPr>
          <a:xfrm xmlns:a="http://schemas.openxmlformats.org/drawingml/2006/main">
            <a:off x="5879592" y="3419856"/>
            <a:ext cx="2606040" cy="352044"/>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350" b="1" i="0">
                <a:solidFill>
                  <a:srgbClr val="0097A7"/>
                </a:solidFill>
                <a:latin typeface="Aptos"/>
                <a:ea typeface="Aptos"/>
                <a:cs typeface="Aptos"/>
              </a:rPr>
              <a:t>Internal + deployed runtime</a:t>
            </a:r>
          </a:p>
        </p:txBody>
      </p:sp>
      <p:sp>
        <p:nvSpPr>
          <p:cNvPr id="15" name="TextBox 14">
            <a:extLst xmlns:a="http://schemas.openxmlformats.org/drawingml/2006/main">
              <a:ext uri="{FF2B5EF4-FFF2-40B4-BE49-F238E27FC236}">
                <a16:creationId xmlns:a16="http://schemas.microsoft.com/office/drawing/2014/main" id="{66D31929-C93F-4F55-B012-E2C98ED5D075}"/>
              </a:ext>
            </a:extLst>
          </p:cNvPr>
          <p:cNvSpPr>
            <a:spLocks xmlns:a="http://schemas.openxmlformats.org/drawingml/2006/main" noGrp="1"/>
          </p:cNvSpPr>
          <p:nvPr/>
        </p:nvSpPr>
        <p:spPr>
          <a:xfrm xmlns:a="http://schemas.openxmlformats.org/drawingml/2006/main">
            <a:off x="5879592" y="3749039"/>
            <a:ext cx="2606040" cy="841247"/>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120" b="0" i="0">
                <a:solidFill>
                  <a:srgbClr val="1E293B"/>
                </a:solidFill>
                <a:latin typeface="Aptos"/>
                <a:ea typeface="Aptos"/>
                <a:cs typeface="Aptos"/>
              </a:rPr>
              <a:t>Research: 75.0% accuracy · 66.67% Macro-F1</a:t>
            </a:r>
          </a:p>
          <a:p xmlns:a="http://schemas.openxmlformats.org/drawingml/2006/main">
            <a:pPr algn="l">
              <a:buNone/>
            </a:pPr>
            <a:r>
              <a:rPr sz="1120" b="0" i="0">
                <a:solidFill>
                  <a:srgbClr val="1E293B"/>
                </a:solidFill>
                <a:latin typeface="Aptos"/>
                <a:ea typeface="Aptos"/>
                <a:cs typeface="Aptos"/>
              </a:rPr>
              <a:t>50.0% runtime accuracy · 87.5% coverage</a:t>
            </a:r>
          </a:p>
          <a:p xmlns:a="http://schemas.openxmlformats.org/drawingml/2006/main">
            <a:pPr algn="l">
              <a:buNone/>
            </a:pPr>
            <a:r>
              <a:rPr sz="1120" b="0" i="0">
                <a:solidFill>
                  <a:srgbClr val="1E293B"/>
                </a:solidFill>
                <a:latin typeface="Aptos"/>
                <a:ea typeface="Aptos"/>
                <a:cs typeface="Aptos"/>
              </a:rPr>
              <a:t>Ham stress: 70.99% abstention · 0% escalation</a:t>
            </a:r>
          </a:p>
        </p:txBody>
      </p:sp>
      <p:sp>
        <p:nvSpPr>
          <p:cNvPr id="16" name="Rounded Rectangle 15">
            <a:extLst xmlns:a="http://schemas.openxmlformats.org/drawingml/2006/main">
              <a:ext uri="{FF2B5EF4-FFF2-40B4-BE49-F238E27FC236}">
                <a16:creationId xmlns:a16="http://schemas.microsoft.com/office/drawing/2014/main" id="{4C16F87D-53D9-4C51-8763-F64F0D467D95}"/>
              </a:ext>
            </a:extLst>
          </p:cNvPr>
          <p:cNvSpPr>
            <a:spLocks xmlns:a="http://schemas.openxmlformats.org/drawingml/2006/main" noGrp="1"/>
          </p:cNvSpPr>
          <p:nvPr/>
        </p:nvSpPr>
        <p:spPr>
          <a:xfrm xmlns:a="http://schemas.openxmlformats.org/drawingml/2006/main">
            <a:off x="5715000" y="4809744"/>
            <a:ext cx="2880360" cy="950976"/>
          </a:xfrm>
          <a:prstGeom xmlns:a="http://schemas.openxmlformats.org/drawingml/2006/main" prst="roundRect">
            <a:avLst/>
          </a:prstGeom>
          <a:solidFill xmlns:a="http://schemas.openxmlformats.org/drawingml/2006/main">
            <a:srgbClr val="FDF1F1"/>
          </a:solidFill>
          <a:ln xmlns:a="http://schemas.openxmlformats.org/drawingml/2006/main" w="12700">
            <a:solidFill>
              <a:srgbClr val="ECC6CA"/>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137160" tIns="137160" rIns="137160" bIns="137160" anchor="ctr"/>
          <a:lstStyle xmlns:a="http://schemas.openxmlformats.org/drawingml/2006/main"/>
          <a:p xmlns:a="http://schemas.openxmlformats.org/drawingml/2006/main">
            <a:pPr algn="l">
              <a:spcAft>
                <a:spcPts val="500"/>
              </a:spcAft>
              <a:buNone/>
              <a:defRPr sz="1000" b="1" i="0">
                <a:solidFill>
                  <a:srgbClr val="A92330"/>
                </a:solidFill>
                <a:latin typeface="Aptos"/>
                <a:ea typeface="Aptos"/>
                <a:cs typeface="Aptos"/>
              </a:defRPr>
            </a:pPr>
            <a:r>
              <a:t>UNCERTAINTY</a:t>
            </a:r>
          </a:p>
          <a:p xmlns:a="http://schemas.openxmlformats.org/drawingml/2006/main">
            <a:pPr algn="l">
              <a:spcAft>
                <a:spcPts val="500"/>
              </a:spcAft>
              <a:buNone/>
              <a:defRPr sz="1050" b="1" i="0">
                <a:solidFill>
                  <a:srgbClr val="1E293B"/>
                </a:solidFill>
                <a:latin typeface="Aptos"/>
                <a:ea typeface="Aptos"/>
                <a:cs typeface="Aptos"/>
              </a:defRPr>
            </a:pPr>
            <a:r>
              <a:t>Character - word Macro-F1 +0.0023; 95% bootstrap CI -0.0105 to +0.0147. Not statistically decisive.</a:t>
            </a:r>
          </a:p>
        </p:txBody>
      </p:sp>
      <p:sp>
        <p:nvSpPr>
          <p:cNvPr id="17" name="TextBox 16">
            <a:extLst xmlns:a="http://schemas.openxmlformats.org/drawingml/2006/main">
              <a:ext uri="{FF2B5EF4-FFF2-40B4-BE49-F238E27FC236}">
                <a16:creationId xmlns:a16="http://schemas.microsoft.com/office/drawing/2014/main" id="{2D329950-19C9-4608-85E4-7ECE51BA9D0A}"/>
              </a:ext>
            </a:extLst>
          </p:cNvPr>
          <p:cNvSpPr>
            <a:spLocks xmlns:a="http://schemas.openxmlformats.org/drawingml/2006/main" noGrp="1"/>
          </p:cNvSpPr>
          <p:nvPr/>
        </p:nvSpPr>
        <p:spPr>
          <a:xfrm xmlns:a="http://schemas.openxmlformats.org/drawingml/2006/main">
            <a:off x="640080" y="5797296"/>
            <a:ext cx="4709160" cy="320040"/>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ctr">
              <a:buNone/>
            </a:pPr>
            <a:r>
              <a:rPr sz="825" b="1" i="0">
                <a:solidFill>
                  <a:srgbClr val="371455"/>
                </a:solidFill>
                <a:latin typeface="Aptos"/>
                <a:ea typeface="Aptos"/>
                <a:cs typeface="Aptos"/>
              </a:rPr>
              <a:t>Subsystems · Entity F1 94.12% · OCR agreement 91.67% (n=24; 0 failures) · URL/graph F1 100%</a:t>
            </a:r>
          </a:p>
        </p:txBody>
      </p:sp>
      <p:sp>
        <p:nvSpPr>
          <p:cNvPr id="18" name="TextBox 17">
            <a:extLst xmlns:a="http://schemas.openxmlformats.org/drawingml/2006/main">
              <a:ext uri="{FF2B5EF4-FFF2-40B4-BE49-F238E27FC236}">
                <a16:creationId xmlns:a16="http://schemas.microsoft.com/office/drawing/2014/main" id="{F6352ABC-5849-4CAB-9DAA-09AFCE3445D1}"/>
              </a:ext>
            </a:extLst>
          </p:cNvPr>
          <p:cNvSpPr>
            <a:spLocks xmlns:a="http://schemas.openxmlformats.org/drawingml/2006/main" noGrp="1"/>
          </p:cNvSpPr>
          <p:nvPr/>
        </p:nvSpPr>
        <p:spPr>
          <a:xfrm xmlns:a="http://schemas.openxmlformats.org/drawingml/2006/main">
            <a:off x="502920" y="6528816"/>
            <a:ext cx="7818120" cy="272796"/>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830" b="0" i="0">
                <a:solidFill>
                  <a:srgbClr val="475569"/>
                </a:solidFill>
                <a:latin typeface="Aptos"/>
                <a:ea typeface="Aptos"/>
                <a:cs typeface="Aptos"/>
              </a:rPr>
              <a:t>Sources: outputs/evaluation/*; outputs/research/*; models/metrics.json · binary ≠ eight-class ≠ production accuracy</a:t>
            </a:r>
          </a:p>
        </p:txBody>
      </p:sp>
      <p:sp>
        <p:nvSpPr>
          <p:cNvPr id="19" name="TextBox 18">
            <a:extLst xmlns:a="http://schemas.openxmlformats.org/drawingml/2006/main">
              <a:ext uri="{FF2B5EF4-FFF2-40B4-BE49-F238E27FC236}">
                <a16:creationId xmlns:a16="http://schemas.microsoft.com/office/drawing/2014/main" id="{B7ED83C2-3722-454E-A672-640320E490D8}"/>
              </a:ext>
            </a:extLst>
          </p:cNvPr>
          <p:cNvSpPr>
            <a:spLocks xmlns:a="http://schemas.openxmlformats.org/drawingml/2006/main" noGrp="1"/>
          </p:cNvSpPr>
          <p:nvPr/>
        </p:nvSpPr>
        <p:spPr>
          <a:xfrm xmlns:a="http://schemas.openxmlformats.org/drawingml/2006/main">
            <a:off x="8394192" y="6528816"/>
            <a:ext cx="274320" cy="182880"/>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r">
              <a:buNone/>
            </a:pPr>
            <a:r>
              <a:rPr sz="800" b="1" i="0">
                <a:solidFill>
                  <a:srgbClr val="5B1D8C"/>
                </a:solidFill>
                <a:latin typeface="Aptos"/>
                <a:ea typeface="Aptos"/>
                <a:cs typeface="Aptos"/>
              </a:rPr>
              <a:t>8</a:t>
            </a:r>
          </a:p>
        </p:txBody>
      </p:sp>
    </p:spTree>
    <p:extLst>
      <p:ext uri="{BB962C8B-B14F-4D97-AF65-F5344CB8AC3E}">
        <p14:creationId xmlns:p14="http://schemas.microsoft.com/office/powerpoint/2010/main" val="16286227"/>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941C01FF-725A-4681-80C9-75540040403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rPr b="1">
                <a:solidFill>
                  <a:srgbClr val="1E293B"/>
                </a:solidFill>
                <a:latin typeface="Aptos Display"/>
                <a:ea typeface="Aptos Display"/>
                <a:cs typeface="Aptos Display"/>
              </a:rPr>
              <a:t>Challenges &amp; Limitations</a:t>
            </a:r>
          </a:p>
        </p:txBody>
      </p:sp>
      <p:sp>
        <p:nvSpPr>
          <p:cNvPr id="3" name="TextBox 2">
            <a:extLst xmlns:a="http://schemas.openxmlformats.org/drawingml/2006/main">
              <a:ext uri="{FF2B5EF4-FFF2-40B4-BE49-F238E27FC236}">
                <a16:creationId xmlns:a16="http://schemas.microsoft.com/office/drawing/2014/main" id="{09C55519-E508-421B-8C5F-844ACFCB38C2}"/>
              </a:ext>
            </a:extLst>
          </p:cNvPr>
          <p:cNvSpPr>
            <a:spLocks xmlns:a="http://schemas.openxmlformats.org/drawingml/2006/main" noGrp="1"/>
          </p:cNvSpPr>
          <p:nvPr/>
        </p:nvSpPr>
        <p:spPr>
          <a:xfrm xmlns:a="http://schemas.openxmlformats.org/drawingml/2006/main">
            <a:off x="502920" y="960120"/>
            <a:ext cx="8001000" cy="320040"/>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100" b="0" i="0">
                <a:solidFill>
                  <a:srgbClr val="475569"/>
                </a:solidFill>
                <a:latin typeface="Aptos"/>
                <a:ea typeface="Aptos"/>
                <a:cs typeface="Aptos"/>
              </a:rPr>
              <a:t>External and subsystem evidence are now measured; field validity and human evaluation remain the central limitations</a:t>
            </a:r>
          </a:p>
        </p:txBody>
      </p:sp>
      <p:sp>
        <p:nvSpPr>
          <p:cNvPr id="4" name="Rounded Rectangle 3">
            <a:extLst xmlns:a="http://schemas.openxmlformats.org/drawingml/2006/main">
              <a:ext uri="{FF2B5EF4-FFF2-40B4-BE49-F238E27FC236}">
                <a16:creationId xmlns:a16="http://schemas.microsoft.com/office/drawing/2014/main" id="{B2FD3D18-C9E6-4676-8AAD-8D34D8C26B14}"/>
              </a:ext>
            </a:extLst>
          </p:cNvPr>
          <p:cNvSpPr>
            <a:spLocks xmlns:a="http://schemas.openxmlformats.org/drawingml/2006/main" noGrp="1"/>
          </p:cNvSpPr>
          <p:nvPr/>
        </p:nvSpPr>
        <p:spPr>
          <a:xfrm xmlns:a="http://schemas.openxmlformats.org/drawingml/2006/main">
            <a:off x="502920" y="1389888"/>
            <a:ext cx="3886200" cy="1737360"/>
          </a:xfrm>
          <a:prstGeom xmlns:a="http://schemas.openxmlformats.org/drawingml/2006/main" prst="roundRect">
            <a:avLst/>
          </a:prstGeom>
          <a:solidFill xmlns:a="http://schemas.openxmlformats.org/drawingml/2006/main">
            <a:srgbClr val="F6EFFA"/>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137160" tIns="137160" rIns="137160" bIns="137160" anchor="ctr"/>
          <a:lstStyle xmlns:a="http://schemas.openxmlformats.org/drawingml/2006/main"/>
          <a:p xmlns:a="http://schemas.openxmlformats.org/drawingml/2006/main">
            <a:pPr algn="l">
              <a:spcAft>
                <a:spcPts val="500"/>
              </a:spcAft>
              <a:buNone/>
              <a:defRPr sz="1100" b="1" i="0">
                <a:solidFill>
                  <a:srgbClr val="5B1D8C"/>
                </a:solidFill>
                <a:latin typeface="Aptos"/>
                <a:ea typeface="Aptos"/>
                <a:cs typeface="Aptos"/>
              </a:defRPr>
            </a:pPr>
            <a:r>
              <a:t>INTERNAL DATASET</a:t>
            </a:r>
          </a:p>
          <a:p xmlns:a="http://schemas.openxmlformats.org/drawingml/2006/main">
            <a:pPr algn="l">
              <a:spcAft>
                <a:spcPts val="500"/>
              </a:spcAft>
              <a:buNone/>
              <a:defRPr sz="1120" b="1" i="0">
                <a:solidFill>
                  <a:srgbClr val="1E293B"/>
                </a:solidFill>
                <a:latin typeface="Aptos"/>
                <a:ea typeface="Aptos"/>
                <a:cs typeface="Aptos"/>
              </a:defRPr>
            </a:pPr>
            <a:r>
              <a:t>64 synthetic fraud-only messages; one test row per class; no legitimate class</a:t>
            </a:r>
          </a:p>
          <a:p xmlns:a="http://schemas.openxmlformats.org/drawingml/2006/main">
            <a:pPr algn="l">
              <a:spcAft>
                <a:spcPts val="500"/>
              </a:spcAft>
              <a:buNone/>
              <a:defRPr sz="1040" b="0" i="0">
                <a:solidFill>
                  <a:srgbClr val="475569"/>
                </a:solidFill>
                <a:latin typeface="Aptos"/>
                <a:ea typeface="Aptos"/>
                <a:cs typeface="Aptos"/>
              </a:defRPr>
            </a:pPr>
            <a:r>
              <a:t>Response: Collect 200+ reviewed rows per label plus benign controls</a:t>
            </a:r>
          </a:p>
        </p:txBody>
      </p:sp>
      <p:sp>
        <p:nvSpPr>
          <p:cNvPr id="5" name="Rounded Rectangle 4">
            <a:extLst xmlns:a="http://schemas.openxmlformats.org/drawingml/2006/main">
              <a:ext uri="{FF2B5EF4-FFF2-40B4-BE49-F238E27FC236}">
                <a16:creationId xmlns:a16="http://schemas.microsoft.com/office/drawing/2014/main" id="{73F7FBFB-65DC-4956-8ACC-408318991777}"/>
              </a:ext>
            </a:extLst>
          </p:cNvPr>
          <p:cNvSpPr>
            <a:spLocks xmlns:a="http://schemas.openxmlformats.org/drawingml/2006/main" noGrp="1"/>
          </p:cNvSpPr>
          <p:nvPr/>
        </p:nvSpPr>
        <p:spPr>
          <a:xfrm xmlns:a="http://schemas.openxmlformats.org/drawingml/2006/main">
            <a:off x="4663440" y="1389888"/>
            <a:ext cx="3886200" cy="1737360"/>
          </a:xfrm>
          <a:prstGeom xmlns:a="http://schemas.openxmlformats.org/drawingml/2006/main" prst="roundRect">
            <a:avLst/>
          </a:prstGeom>
          <a:solidFill xmlns:a="http://schemas.openxmlformats.org/drawingml/2006/main">
            <a:srgbClr val="E7F7F7"/>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137160" tIns="137160" rIns="137160" bIns="137160" anchor="ctr"/>
          <a:lstStyle xmlns:a="http://schemas.openxmlformats.org/drawingml/2006/main"/>
          <a:p xmlns:a="http://schemas.openxmlformats.org/drawingml/2006/main">
            <a:pPr algn="l">
              <a:spcAft>
                <a:spcPts val="500"/>
              </a:spcAft>
              <a:buNone/>
              <a:defRPr sz="1100" b="1" i="0">
                <a:solidFill>
                  <a:srgbClr val="0097A7"/>
                </a:solidFill>
                <a:latin typeface="Aptos"/>
                <a:ea typeface="Aptos"/>
                <a:cs typeface="Aptos"/>
              </a:defRPr>
            </a:pPr>
            <a:r>
              <a:t>CONTROLLED SUBSYSTEMS</a:t>
            </a:r>
          </a:p>
          <a:p xmlns:a="http://schemas.openxmlformats.org/drawingml/2006/main">
            <a:pPr algn="l">
              <a:spcAft>
                <a:spcPts val="500"/>
              </a:spcAft>
              <a:buNone/>
              <a:defRPr sz="1120" b="1" i="0">
                <a:solidFill>
                  <a:srgbClr val="1E293B"/>
                </a:solidFill>
                <a:latin typeface="Aptos"/>
                <a:ea typeface="Aptos"/>
                <a:cs typeface="Aptos"/>
              </a:defRPr>
            </a:pPr>
            <a:r>
              <a:t>Entity, URL, graph, OCR and draft fixtures are synthetic; drafts are not human-rated</a:t>
            </a:r>
          </a:p>
          <a:p xmlns:a="http://schemas.openxmlformats.org/drawingml/2006/main">
            <a:pPr algn="l">
              <a:spcAft>
                <a:spcPts val="500"/>
              </a:spcAft>
              <a:buNone/>
              <a:defRPr sz="1040" b="0" i="0">
                <a:solidFill>
                  <a:srgbClr val="475569"/>
                </a:solidFill>
                <a:latin typeface="Aptos"/>
                <a:ea typeface="Aptos"/>
                <a:cs typeface="Aptos"/>
              </a:defRPr>
            </a:pPr>
            <a:r>
              <a:t>Response: Add blinded annotation, inter-rater agreement and field screenshots</a:t>
            </a:r>
          </a:p>
        </p:txBody>
      </p:sp>
      <p:sp>
        <p:nvSpPr>
          <p:cNvPr id="6" name="Rounded Rectangle 5">
            <a:extLst xmlns:a="http://schemas.openxmlformats.org/drawingml/2006/main">
              <a:ext uri="{FF2B5EF4-FFF2-40B4-BE49-F238E27FC236}">
                <a16:creationId xmlns:a16="http://schemas.microsoft.com/office/drawing/2014/main" id="{1AB4A97B-5C80-4609-9BB8-4498C18F8ECF}"/>
              </a:ext>
            </a:extLst>
          </p:cNvPr>
          <p:cNvSpPr>
            <a:spLocks xmlns:a="http://schemas.openxmlformats.org/drawingml/2006/main" noGrp="1"/>
          </p:cNvSpPr>
          <p:nvPr/>
        </p:nvSpPr>
        <p:spPr>
          <a:xfrm xmlns:a="http://schemas.openxmlformats.org/drawingml/2006/main">
            <a:off x="502920" y="3447288"/>
            <a:ext cx="3886200" cy="1737360"/>
          </a:xfrm>
          <a:prstGeom xmlns:a="http://schemas.openxmlformats.org/drawingml/2006/main" prst="roundRect">
            <a:avLst/>
          </a:prstGeom>
          <a:solidFill xmlns:a="http://schemas.openxmlformats.org/drawingml/2006/main">
            <a:srgbClr val="FFF8E1"/>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137160" tIns="137160" rIns="137160" bIns="137160" anchor="ctr"/>
          <a:lstStyle xmlns:a="http://schemas.openxmlformats.org/drawingml/2006/main"/>
          <a:p xmlns:a="http://schemas.openxmlformats.org/drawingml/2006/main">
            <a:pPr algn="l">
              <a:spcAft>
                <a:spcPts val="500"/>
              </a:spcAft>
              <a:buNone/>
              <a:defRPr sz="1100" b="1" i="0">
                <a:solidFill>
                  <a:srgbClr val="E2B11F"/>
                </a:solidFill>
                <a:latin typeface="Aptos"/>
                <a:ea typeface="Aptos"/>
                <a:cs typeface="Aptos"/>
              </a:defRPr>
            </a:pPr>
            <a:r>
              <a:t>GENERALIZATION</a:t>
            </a:r>
          </a:p>
          <a:p xmlns:a="http://schemas.openxmlformats.org/drawingml/2006/main">
            <a:pPr algn="l">
              <a:spcAft>
                <a:spcPts val="500"/>
              </a:spcAft>
              <a:buNone/>
              <a:defRPr sz="1120" b="1" i="0">
                <a:solidFill>
                  <a:srgbClr val="1E293B"/>
                </a:solidFill>
                <a:latin typeface="Aptos"/>
                <a:ea typeface="Aptos"/>
                <a:cs typeface="Aptos"/>
              </a:defRPr>
            </a:pPr>
            <a:r>
              <a:t>External evidence is binary SMS spam/ham, not the deployed eight-class task; no temporal drift study</a:t>
            </a:r>
          </a:p>
          <a:p xmlns:a="http://schemas.openxmlformats.org/drawingml/2006/main">
            <a:pPr algn="l">
              <a:spcAft>
                <a:spcPts val="500"/>
              </a:spcAft>
              <a:buNone/>
              <a:defRPr sz="1040" b="0" i="0">
                <a:solidFill>
                  <a:srgbClr val="475569"/>
                </a:solidFill>
                <a:latin typeface="Aptos"/>
                <a:ea typeface="Aptos"/>
                <a:cs typeface="Aptos"/>
              </a:defRPr>
            </a:pPr>
            <a:r>
              <a:t>Response: Build an authorized same-label external/temporal holdout</a:t>
            </a:r>
          </a:p>
        </p:txBody>
      </p:sp>
      <p:sp>
        <p:nvSpPr>
          <p:cNvPr id="7" name="Rounded Rectangle 6">
            <a:extLst xmlns:a="http://schemas.openxmlformats.org/drawingml/2006/main">
              <a:ext uri="{FF2B5EF4-FFF2-40B4-BE49-F238E27FC236}">
                <a16:creationId xmlns:a16="http://schemas.microsoft.com/office/drawing/2014/main" id="{544A0DD7-40DE-48FE-A9D9-32372DCE914B}"/>
              </a:ext>
            </a:extLst>
          </p:cNvPr>
          <p:cNvSpPr>
            <a:spLocks xmlns:a="http://schemas.openxmlformats.org/drawingml/2006/main" noGrp="1"/>
          </p:cNvSpPr>
          <p:nvPr/>
        </p:nvSpPr>
        <p:spPr>
          <a:xfrm xmlns:a="http://schemas.openxmlformats.org/drawingml/2006/main">
            <a:off x="4663440" y="3447288"/>
            <a:ext cx="3886200" cy="1737360"/>
          </a:xfrm>
          <a:prstGeom xmlns:a="http://schemas.openxmlformats.org/drawingml/2006/main" prst="roundRect">
            <a:avLst/>
          </a:prstGeom>
          <a:solidFill xmlns:a="http://schemas.openxmlformats.org/drawingml/2006/main">
            <a:srgbClr val="FDF1F1"/>
          </a:solidFill>
          <a:ln xmlns:a="http://schemas.openxmlformats.org/drawingml/2006/main" w="12700">
            <a:solidFill>
              <a:srgbClr val="E0E0E6"/>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137160" tIns="137160" rIns="137160" bIns="137160" anchor="ctr"/>
          <a:lstStyle xmlns:a="http://schemas.openxmlformats.org/drawingml/2006/main"/>
          <a:p xmlns:a="http://schemas.openxmlformats.org/drawingml/2006/main">
            <a:pPr algn="l">
              <a:spcAft>
                <a:spcPts val="500"/>
              </a:spcAft>
              <a:buNone/>
              <a:defRPr sz="1100" b="1" i="0">
                <a:solidFill>
                  <a:srgbClr val="A92330"/>
                </a:solidFill>
                <a:latin typeface="Aptos"/>
                <a:ea typeface="Aptos"/>
                <a:cs typeface="Aptos"/>
              </a:defRPr>
            </a:pPr>
            <a:r>
              <a:t>OPERATIONAL BOUNDARY</a:t>
            </a:r>
          </a:p>
          <a:p xmlns:a="http://schemas.openxmlformats.org/drawingml/2006/main">
            <a:pPr algn="l">
              <a:spcAft>
                <a:spcPts val="500"/>
              </a:spcAft>
              <a:buNone/>
              <a:defRPr sz="1120" b="1" i="0">
                <a:solidFill>
                  <a:srgbClr val="1E293B"/>
                </a:solidFill>
                <a:latin typeface="Aptos"/>
                <a:ea typeface="Aptos"/>
                <a:cs typeface="Aptos"/>
              </a:defRPr>
            </a:pPr>
            <a:r>
              <a:t>Shared educational deployment; no public multi-user identity, durable managed DB or field monitoring</a:t>
            </a:r>
          </a:p>
          <a:p xmlns:a="http://schemas.openxmlformats.org/drawingml/2006/main">
            <a:pPr algn="l">
              <a:spcAft>
                <a:spcPts val="500"/>
              </a:spcAft>
              <a:buNone/>
              <a:defRPr sz="1040" b="0" i="0">
                <a:solidFill>
                  <a:srgbClr val="475569"/>
                </a:solidFill>
                <a:latin typeface="Aptos"/>
                <a:ea typeface="Aptos"/>
                <a:cs typeface="Aptos"/>
              </a:defRPr>
            </a:pPr>
            <a:r>
              <a:t>Response: Add access control, rate limits and monitored durable storage before broad exposure</a:t>
            </a:r>
          </a:p>
        </p:txBody>
      </p:sp>
      <p:sp>
        <p:nvSpPr>
          <p:cNvPr id="8" name="Rounded Rectangle 7">
            <a:extLst xmlns:a="http://schemas.openxmlformats.org/drawingml/2006/main">
              <a:ext uri="{FF2B5EF4-FFF2-40B4-BE49-F238E27FC236}">
                <a16:creationId xmlns:a16="http://schemas.microsoft.com/office/drawing/2014/main" id="{0E712076-F7EC-4327-9F9E-A80AB71EE43B}"/>
              </a:ext>
            </a:extLst>
          </p:cNvPr>
          <p:cNvSpPr>
            <a:spLocks xmlns:a="http://schemas.openxmlformats.org/drawingml/2006/main" noGrp="1"/>
          </p:cNvSpPr>
          <p:nvPr/>
        </p:nvSpPr>
        <p:spPr>
          <a:xfrm xmlns:a="http://schemas.openxmlformats.org/drawingml/2006/main">
            <a:off x="1920240" y="5650992"/>
            <a:ext cx="5303520" cy="310896"/>
          </a:xfrm>
          <a:prstGeom xmlns:a="http://schemas.openxmlformats.org/drawingml/2006/main" prst="roundRect">
            <a:avLst/>
          </a:prstGeom>
          <a:solidFill xmlns:a="http://schemas.openxmlformats.org/drawingml/2006/main">
            <a:srgbClr val="371455"/>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TextBox 8">
            <a:extLst xmlns:a="http://schemas.openxmlformats.org/drawingml/2006/main">
              <a:ext uri="{FF2B5EF4-FFF2-40B4-BE49-F238E27FC236}">
                <a16:creationId xmlns:a16="http://schemas.microsoft.com/office/drawing/2014/main" id="{35005256-1976-425C-AC4A-C8A082225710}"/>
              </a:ext>
            </a:extLst>
          </p:cNvPr>
          <p:cNvSpPr>
            <a:spLocks xmlns:a="http://schemas.openxmlformats.org/drawingml/2006/main" noGrp="1"/>
          </p:cNvSpPr>
          <p:nvPr/>
        </p:nvSpPr>
        <p:spPr>
          <a:xfrm xmlns:a="http://schemas.openxmlformats.org/drawingml/2006/main">
            <a:off x="1938528" y="5664707"/>
            <a:ext cx="5266944" cy="246888"/>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lgn="ctr">
              <a:buNone/>
            </a:pPr>
            <a:r>
              <a:rPr sz="1000" b="1" i="0">
                <a:solidFill>
                  <a:srgbClr val="FFFFFF"/>
                </a:solidFill>
                <a:latin typeface="Aptos"/>
                <a:ea typeface="Aptos"/>
                <a:cs typeface="Aptos"/>
              </a:rPr>
              <a:t>Human review required | consented storage | masked graph | no automatic filing</a:t>
            </a:r>
          </a:p>
        </p:txBody>
      </p:sp>
      <p:sp>
        <p:nvSpPr>
          <p:cNvPr id="10" name="TextBox 9">
            <a:extLst xmlns:a="http://schemas.openxmlformats.org/drawingml/2006/main">
              <a:ext uri="{FF2B5EF4-FFF2-40B4-BE49-F238E27FC236}">
                <a16:creationId xmlns:a16="http://schemas.microsoft.com/office/drawing/2014/main" id="{0D44F67E-F240-4D43-8C3E-3C9BC9020852}"/>
              </a:ext>
            </a:extLst>
          </p:cNvPr>
          <p:cNvSpPr>
            <a:spLocks xmlns:a="http://schemas.openxmlformats.org/drawingml/2006/main" noGrp="1"/>
          </p:cNvSpPr>
          <p:nvPr/>
        </p:nvSpPr>
        <p:spPr>
          <a:xfrm xmlns:a="http://schemas.openxmlformats.org/drawingml/2006/main">
            <a:off x="502920" y="6528816"/>
            <a:ext cx="7818120" cy="272796"/>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830" b="0" i="0">
                <a:solidFill>
                  <a:srgbClr val="475569"/>
                </a:solidFill>
                <a:latin typeface="Aptos"/>
                <a:ea typeface="Aptos"/>
                <a:cs typeface="Aptos"/>
              </a:rPr>
              <a:t>Honest claim: reproducible college prototype with stronger external and subsystem evidence; no production-accuracy claim</a:t>
            </a:r>
          </a:p>
        </p:txBody>
      </p:sp>
      <p:sp>
        <p:nvSpPr>
          <p:cNvPr id="11" name="TextBox 10">
            <a:extLst xmlns:a="http://schemas.openxmlformats.org/drawingml/2006/main">
              <a:ext uri="{FF2B5EF4-FFF2-40B4-BE49-F238E27FC236}">
                <a16:creationId xmlns:a16="http://schemas.microsoft.com/office/drawing/2014/main" id="{89A2E74D-E3CE-4EA2-AF05-32BDDCE3B45E}"/>
              </a:ext>
            </a:extLst>
          </p:cNvPr>
          <p:cNvSpPr>
            <a:spLocks xmlns:a="http://schemas.openxmlformats.org/drawingml/2006/main" noGrp="1"/>
          </p:cNvSpPr>
          <p:nvPr/>
        </p:nvSpPr>
        <p:spPr>
          <a:xfrm xmlns:a="http://schemas.openxmlformats.org/drawingml/2006/main">
            <a:off x="8394192" y="6528816"/>
            <a:ext cx="274320" cy="182880"/>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r">
              <a:buNone/>
            </a:pPr>
            <a:r>
              <a:rPr sz="800" b="1" i="0">
                <a:solidFill>
                  <a:srgbClr val="5B1D8C"/>
                </a:solidFill>
                <a:latin typeface="Aptos"/>
                <a:ea typeface="Aptos"/>
                <a:cs typeface="Aptos"/>
              </a:rPr>
              <a:t>9</a:t>
            </a:r>
          </a:p>
        </p:txBody>
      </p:sp>
    </p:spTree>
    <p:extLst>
      <p:ext uri="{BB962C8B-B14F-4D97-AF65-F5344CB8AC3E}">
        <p14:creationId xmlns:p14="http://schemas.microsoft.com/office/powerpoint/2010/main" val="265196625"/>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sp>
        <p:nvSpPr>
          <p:cNvPr id="3" name="TextBox 2">
            <a:extLst xmlns:a="http://schemas.openxmlformats.org/drawingml/2006/main">
              <a:ext uri="{FF2B5EF4-FFF2-40B4-BE49-F238E27FC236}">
                <a16:creationId xmlns:a16="http://schemas.microsoft.com/office/drawing/2014/main" id="{ED3788BE-7771-4CB9-AD8F-C20519F433D4}"/>
              </a:ext>
            </a:extLst>
          </p:cNvPr>
          <p:cNvSpPr>
            <a:spLocks xmlns:a="http://schemas.openxmlformats.org/drawingml/2006/main" noGrp="1"/>
          </p:cNvSpPr>
          <p:nvPr/>
        </p:nvSpPr>
        <p:spPr>
          <a:xfrm xmlns:a="http://schemas.openxmlformats.org/drawingml/2006/main">
            <a:off x="502920" y="960120"/>
            <a:ext cx="8001000" cy="320040"/>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100" b="0" i="0">
                <a:solidFill>
                  <a:srgbClr val="475569"/>
                </a:solidFill>
                <a:latin typeface="Aptos"/>
                <a:ea typeface="Aptos"/>
                <a:cs typeface="Aptos"/>
              </a:rPr>
              <a:t>Completed software scope plus hybrid evidence; next target is field-valid evaluation</a:t>
            </a:r>
          </a:p>
        </p:txBody>
      </p:sp>
      <p:sp>
        <p:nvSpPr>
          <p:cNvPr id="4" name="TextBox 3">
            <a:extLst xmlns:a="http://schemas.openxmlformats.org/drawingml/2006/main">
              <a:ext uri="{FF2B5EF4-FFF2-40B4-BE49-F238E27FC236}">
                <a16:creationId xmlns:a16="http://schemas.microsoft.com/office/drawing/2014/main" id="{1D3C8FDD-E2B7-450C-921E-873BA8014995}"/>
              </a:ext>
            </a:extLst>
          </p:cNvPr>
          <p:cNvSpPr>
            <a:spLocks xmlns:a="http://schemas.openxmlformats.org/drawingml/2006/main" noGrp="1"/>
          </p:cNvSpPr>
          <p:nvPr/>
        </p:nvSpPr>
        <p:spPr>
          <a:xfrm xmlns:a="http://schemas.openxmlformats.org/drawingml/2006/main">
            <a:off x="502920" y="292608"/>
            <a:ext cx="6720840" cy="502920"/>
          </a:xfrm>
          <a:prstGeom xmlns:a="http://schemas.openxmlformats.org/drawingml/2006/main" prst="rect">
            <a:avLst/>
          </a:prstGeom>
          <a:noFill xmlns:a="http://schemas.openxmlformats.org/drawingml/2006/main"/>
        </p:spPr>
        <p:txBody>
          <a:bodyPr xmlns:a="http://schemas.openxmlformats.org/drawingml/2006/main" wrap="none" lIns="0" tIns="0" rIns="0" bIns="0" anchor="t">
            <a:spAutoFit/>
          </a:bodyPr>
          <a:lstStyle xmlns:a="http://schemas.openxmlformats.org/drawingml/2006/main"/>
          <a:p xmlns:a="http://schemas.openxmlformats.org/drawingml/2006/main">
            <a:pPr algn="l">
              <a:buNone/>
            </a:pPr>
            <a:r>
              <a:rPr sz="2800" b="1" i="0">
                <a:solidFill>
                  <a:srgbClr val="1E293B"/>
                </a:solidFill>
                <a:latin typeface="Aptos Display"/>
                <a:ea typeface="Aptos Display"/>
                <a:cs typeface="Aptos Display"/>
              </a:rPr>
              <a:t>Conclusion &amp; Future Work</a:t>
            </a:r>
          </a:p>
        </p:txBody>
      </p:sp>
      <p:sp>
        <p:nvSpPr>
          <p:cNvPr id="5" name="Rounded Rectangle 4">
            <a:extLst xmlns:a="http://schemas.openxmlformats.org/drawingml/2006/main">
              <a:ext uri="{FF2B5EF4-FFF2-40B4-BE49-F238E27FC236}">
                <a16:creationId xmlns:a16="http://schemas.microsoft.com/office/drawing/2014/main" id="{F7D6D8E5-F980-4271-B09B-4B1AA13185A6}"/>
              </a:ext>
            </a:extLst>
          </p:cNvPr>
          <p:cNvSpPr>
            <a:spLocks xmlns:a="http://schemas.openxmlformats.org/drawingml/2006/main" noGrp="1"/>
          </p:cNvSpPr>
          <p:nvPr/>
        </p:nvSpPr>
        <p:spPr>
          <a:xfrm xmlns:a="http://schemas.openxmlformats.org/drawingml/2006/main">
            <a:off x="502920" y="1371600"/>
            <a:ext cx="2880360" cy="4526280"/>
          </a:xfrm>
          <a:prstGeom xmlns:a="http://schemas.openxmlformats.org/drawingml/2006/main" prst="roundRect">
            <a:avLst/>
          </a:prstGeom>
          <a:solidFill xmlns:a="http://schemas.openxmlformats.org/drawingml/2006/main">
            <a:srgbClr val="F6EFFA"/>
          </a:solidFill>
          <a:ln xmlns:a="http://schemas.openxmlformats.org/drawingml/2006/main" w="12700">
            <a:solidFill>
              <a:srgbClr val="DAC6E7"/>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lIns="228600" tIns="228600" rIns="228600" bIns="228600" anchor="ctr"/>
          <a:lstStyle xmlns:a="http://schemas.openxmlformats.org/drawingml/2006/main"/>
          <a:p xmlns:a="http://schemas.openxmlformats.org/drawingml/2006/main">
            <a:pPr algn="l">
              <a:spcAft>
                <a:spcPts val="500"/>
              </a:spcAft>
              <a:buNone/>
              <a:defRPr sz="1200" b="1" i="0">
                <a:solidFill>
                  <a:srgbClr val="5B1D8C"/>
                </a:solidFill>
                <a:latin typeface="Aptos"/>
                <a:ea typeface="Aptos"/>
                <a:cs typeface="Aptos"/>
              </a:defRPr>
            </a:pPr>
            <a:r>
              <a:rPr sz="1200" b="1" i="0">
                <a:solidFill>
                  <a:srgbClr val="5B1D8C"/>
                </a:solidFill>
                <a:latin typeface="Aptos"/>
                <a:ea typeface="Aptos"/>
                <a:cs typeface="Aptos"/>
              </a:rPr>
              <a:t>CONCLUSION</a:t>
            </a:r>
          </a:p>
          <a:p xmlns:a="http://schemas.openxmlformats.org/drawingml/2006/main">
            <a:pPr algn="l">
              <a:spcAft>
                <a:spcPts val="500"/>
              </a:spcAft>
              <a:buNone/>
              <a:defRPr sz="1800" b="1" i="0">
                <a:solidFill>
                  <a:srgbClr val="1E293B"/>
                </a:solidFill>
                <a:latin typeface="Aptos"/>
                <a:ea typeface="Aptos"/>
                <a:cs typeface="Aptos"/>
              </a:defRPr>
            </a:pPr>
            <a:r>
              <a:rPr sz="1200" b="1" i="0">
                <a:solidFill>
                  <a:srgbClr val="1E293B"/>
                </a:solidFill>
                <a:latin typeface="Aptos"/>
                <a:ea typeface="Aptos"/>
                <a:cs typeface="Aptos"/>
              </a:rPr>
              <a:t>Integrated text + screenshot workflow</a:t>
            </a:r>
          </a:p>
          <a:p xmlns:a="http://schemas.openxmlformats.org/drawingml/2006/main">
            <a:pPr algn="l">
              <a:spcAft>
                <a:spcPts val="500"/>
              </a:spcAft>
              <a:buNone/>
              <a:defRPr sz="1250" b="0" i="0">
                <a:solidFill>
                  <a:srgbClr val="1E293B"/>
                </a:solidFill>
                <a:latin typeface="Aptos"/>
                <a:ea typeface="Aptos"/>
                <a:cs typeface="Aptos"/>
              </a:defRPr>
            </a:pPr>
            <a:r>
              <a:rPr sz="1200" b="0" i="0">
                <a:solidFill>
                  <a:srgbClr val="1E293B"/>
                </a:solidFill>
                <a:latin typeface="Aptos"/>
                <a:ea typeface="Aptos"/>
                <a:cs typeface="Aptos"/>
              </a:rPr>
              <a:t>Calibrated eight-class triage + abstention</a:t>
            </a:r>
          </a:p>
          <a:p xmlns:a="http://schemas.openxmlformats.org/drawingml/2006/main">
            <a:pPr algn="l">
              <a:spcAft>
                <a:spcPts val="500"/>
              </a:spcAft>
              <a:buNone/>
              <a:defRPr sz="1250" b="0" i="0">
                <a:solidFill>
                  <a:srgbClr val="1E293B"/>
                </a:solidFill>
                <a:latin typeface="Aptos"/>
                <a:ea typeface="Aptos"/>
                <a:cs typeface="Aptos"/>
              </a:defRPr>
            </a:pPr>
            <a:r>
              <a:rPr sz="1200" b="0" i="0">
                <a:solidFill>
                  <a:srgbClr val="1E293B"/>
                </a:solidFill>
                <a:latin typeface="Aptos"/>
                <a:ea typeface="Aptos"/>
                <a:cs typeface="Aptos"/>
              </a:rPr>
              <a:t>Masked evidence, reasons + complaint draft</a:t>
            </a:r>
          </a:p>
          <a:p xmlns:a="http://schemas.openxmlformats.org/drawingml/2006/main">
            <a:pPr algn="l">
              <a:spcAft>
                <a:spcPts val="500"/>
              </a:spcAft>
              <a:buNone/>
              <a:defRPr sz="1250" b="0" i="0">
                <a:solidFill>
                  <a:srgbClr val="1E293B"/>
                </a:solidFill>
                <a:latin typeface="Aptos"/>
                <a:ea typeface="Aptos"/>
                <a:cs typeface="Aptos"/>
              </a:defRPr>
            </a:pPr>
            <a:r>
              <a:rPr sz="1200" b="0" i="0">
                <a:solidFill>
                  <a:srgbClr val="1E293B"/>
                </a:solidFill>
                <a:latin typeface="Aptos"/>
                <a:ea typeface="Aptos"/>
                <a:cs typeface="Aptos"/>
              </a:rPr>
              <a:t>Consent, expiry + repeated-entity graph</a:t>
            </a:r>
          </a:p>
          <a:p xmlns:a="http://schemas.openxmlformats.org/drawingml/2006/main">
            <a:pPr algn="l">
              <a:spcAft>
                <a:spcPts val="500"/>
              </a:spcAft>
              <a:buNone/>
              <a:defRPr sz="1250" b="0" i="0">
                <a:solidFill>
                  <a:srgbClr val="1E293B"/>
                </a:solidFill>
                <a:latin typeface="Aptos"/>
                <a:ea typeface="Aptos"/>
                <a:cs typeface="Aptos"/>
              </a:defRPr>
            </a:pPr>
            <a:r>
              <a:rPr sz="1200" b="0" i="0">
                <a:solidFill>
                  <a:srgbClr val="1E293B"/>
                </a:solidFill>
                <a:latin typeface="Aptos"/>
                <a:ea typeface="Aptos"/>
                <a:cs typeface="Aptos"/>
              </a:rPr>
              <a:t>External binary + five subsystem benchmarks</a:t>
            </a:r>
          </a:p>
          <a:p xmlns:a="http://schemas.openxmlformats.org/drawingml/2006/main">
            <a:pPr algn="l">
              <a:spcAft>
                <a:spcPts val="1000"/>
              </a:spcAft>
              <a:buNone/>
              <a:defRPr sz="1800" b="1" i="0">
                <a:solidFill>
                  <a:srgbClr val="0097A7"/>
                </a:solidFill>
                <a:latin typeface="Aptos"/>
                <a:ea typeface="Aptos"/>
                <a:cs typeface="Aptos"/>
              </a:defRPr>
            </a:pPr>
            <a:r>
              <a:rPr sz="1200" b="1" i="0">
                <a:solidFill>
                  <a:srgbClr val="0097A7"/>
                </a:solidFill>
                <a:latin typeface="Aptos"/>
                <a:ea typeface="Aptos"/>
                <a:cs typeface="Aptos"/>
              </a:rPr>
              <a:t>Reproducible aggregate evidence</a:t>
            </a:r>
          </a:p>
          <a:p xmlns:a="http://schemas.openxmlformats.org/drawingml/2006/main">
            <a:pPr algn="l">
              <a:spcAft>
                <a:spcPts val="500"/>
              </a:spcAft>
              <a:buNone/>
              <a:defRPr sz="1100" b="1" i="0">
                <a:solidFill>
                  <a:srgbClr val="A92330"/>
                </a:solidFill>
                <a:latin typeface="Aptos"/>
                <a:ea typeface="Aptos"/>
                <a:cs typeface="Aptos"/>
              </a:defRPr>
            </a:pPr>
            <a:r>
              <a:rPr sz="1200" b="1" i="0">
                <a:solidFill>
                  <a:srgbClr val="A92330"/>
                </a:solidFill>
                <a:latin typeface="Aptos"/>
                <a:ea typeface="Aptos"/>
                <a:cs typeface="Aptos"/>
              </a:rPr>
              <a:t>Hardened, human-controlled prototype</a:t>
            </a:r>
          </a:p>
        </p:txBody>
      </p:sp>
      <p:sp>
        <p:nvSpPr>
          <p:cNvPr id="6" name="Rounded Rectangle 5">
            <a:extLst xmlns:a="http://schemas.openxmlformats.org/drawingml/2006/main">
              <a:ext uri="{FF2B5EF4-FFF2-40B4-BE49-F238E27FC236}">
                <a16:creationId xmlns:a16="http://schemas.microsoft.com/office/drawing/2014/main" id="{74D748CD-3B9A-4130-98B6-1A2436935AAB}"/>
              </a:ext>
            </a:extLst>
          </p:cNvPr>
          <p:cNvSpPr>
            <a:spLocks xmlns:a="http://schemas.openxmlformats.org/drawingml/2006/main" noGrp="1"/>
          </p:cNvSpPr>
          <p:nvPr/>
        </p:nvSpPr>
        <p:spPr>
          <a:xfrm xmlns:a="http://schemas.openxmlformats.org/drawingml/2006/main">
            <a:off x="3685032" y="1463040"/>
            <a:ext cx="438912" cy="310896"/>
          </a:xfrm>
          <a:prstGeom xmlns:a="http://schemas.openxmlformats.org/drawingml/2006/main" prst="roundRect">
            <a:avLst/>
          </a:prstGeom>
          <a:solidFill xmlns:a="http://schemas.openxmlformats.org/drawingml/2006/main">
            <a:srgbClr val="5B1D8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7" name="TextBox 6">
            <a:extLst xmlns:a="http://schemas.openxmlformats.org/drawingml/2006/main">
              <a:ext uri="{FF2B5EF4-FFF2-40B4-BE49-F238E27FC236}">
                <a16:creationId xmlns:a16="http://schemas.microsoft.com/office/drawing/2014/main" id="{B258C89E-5EA4-414C-9192-10BE65B24628}"/>
              </a:ext>
            </a:extLst>
          </p:cNvPr>
          <p:cNvSpPr>
            <a:spLocks xmlns:a="http://schemas.openxmlformats.org/drawingml/2006/main" noGrp="1"/>
          </p:cNvSpPr>
          <p:nvPr/>
        </p:nvSpPr>
        <p:spPr>
          <a:xfrm xmlns:a="http://schemas.openxmlformats.org/drawingml/2006/main">
            <a:off x="3703320" y="1476756"/>
            <a:ext cx="402336" cy="246888"/>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lgn="ctr">
              <a:buNone/>
            </a:pPr>
            <a:r>
              <a:rPr sz="1100" b="1" i="0">
                <a:solidFill>
                  <a:srgbClr val="FFFFFF"/>
                </a:solidFill>
                <a:latin typeface="Aptos"/>
                <a:ea typeface="Aptos"/>
                <a:cs typeface="Aptos"/>
              </a:rPr>
              <a:t>1</a:t>
            </a:r>
          </a:p>
        </p:txBody>
      </p:sp>
      <p:sp>
        <p:nvSpPr>
          <p:cNvPr id="8" name="Rounded Rectangle 7">
            <a:extLst xmlns:a="http://schemas.openxmlformats.org/drawingml/2006/main">
              <a:ext uri="{FF2B5EF4-FFF2-40B4-BE49-F238E27FC236}">
                <a16:creationId xmlns:a16="http://schemas.microsoft.com/office/drawing/2014/main" id="{ED3D0A7E-06DE-4AD1-A923-AA3C8F4080B3}"/>
              </a:ext>
            </a:extLst>
          </p:cNvPr>
          <p:cNvSpPr>
            <a:spLocks xmlns:a="http://schemas.openxmlformats.org/drawingml/2006/main" noGrp="1"/>
          </p:cNvSpPr>
          <p:nvPr/>
        </p:nvSpPr>
        <p:spPr>
          <a:xfrm xmlns:a="http://schemas.openxmlformats.org/drawingml/2006/main">
            <a:off x="4279392" y="1371600"/>
            <a:ext cx="4315968" cy="960120"/>
          </a:xfrm>
          <a:prstGeom xmlns:a="http://schemas.openxmlformats.org/drawingml/2006/main" prst="roundRect">
            <a:avLst/>
          </a:prstGeom>
          <a:solidFill xmlns:a="http://schemas.openxmlformats.org/drawingml/2006/main">
            <a:srgbClr val="FFFFFF"/>
          </a:solidFill>
          <a:ln xmlns:a="http://schemas.openxmlformats.org/drawingml/2006/main" w="8890">
            <a:solidFill>
              <a:srgbClr val="E1E1E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9" name="Rectangle 8">
            <a:extLst xmlns:a="http://schemas.openxmlformats.org/drawingml/2006/main">
              <a:ext uri="{FF2B5EF4-FFF2-40B4-BE49-F238E27FC236}">
                <a16:creationId xmlns:a16="http://schemas.microsoft.com/office/drawing/2014/main" id="{7972EBB3-5601-4D69-A4B5-025CD6EC6955}"/>
              </a:ext>
            </a:extLst>
          </p:cNvPr>
          <p:cNvSpPr>
            <a:spLocks xmlns:a="http://schemas.openxmlformats.org/drawingml/2006/main" noGrp="1"/>
          </p:cNvSpPr>
          <p:nvPr/>
        </p:nvSpPr>
        <p:spPr>
          <a:xfrm xmlns:a="http://schemas.openxmlformats.org/drawingml/2006/main">
            <a:off x="4279392" y="1371600"/>
            <a:ext cx="73152" cy="960120"/>
          </a:xfrm>
          <a:prstGeom xmlns:a="http://schemas.openxmlformats.org/drawingml/2006/main" prst="rect">
            <a:avLst/>
          </a:prstGeom>
          <a:solidFill xmlns:a="http://schemas.openxmlformats.org/drawingml/2006/main">
            <a:srgbClr val="5B1D8C"/>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0" name="TextBox 9">
            <a:extLst xmlns:a="http://schemas.openxmlformats.org/drawingml/2006/main">
              <a:ext uri="{FF2B5EF4-FFF2-40B4-BE49-F238E27FC236}">
                <a16:creationId xmlns:a16="http://schemas.microsoft.com/office/drawing/2014/main" id="{27DC1437-6482-498B-A4C2-C2FF71349842}"/>
              </a:ext>
            </a:extLst>
          </p:cNvPr>
          <p:cNvSpPr>
            <a:spLocks xmlns:a="http://schemas.openxmlformats.org/drawingml/2006/main" noGrp="1"/>
          </p:cNvSpPr>
          <p:nvPr/>
        </p:nvSpPr>
        <p:spPr>
          <a:xfrm xmlns:a="http://schemas.openxmlformats.org/drawingml/2006/main">
            <a:off x="4443983" y="1481328"/>
            <a:ext cx="4041648" cy="336804"/>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250" b="1" i="0">
                <a:solidFill>
                  <a:srgbClr val="5B1D8C"/>
                </a:solidFill>
                <a:latin typeface="Aptos"/>
                <a:ea typeface="Aptos"/>
                <a:cs typeface="Aptos"/>
              </a:rPr>
              <a:t>Authorized category dataset</a:t>
            </a:r>
          </a:p>
        </p:txBody>
      </p:sp>
      <p:sp>
        <p:nvSpPr>
          <p:cNvPr id="11" name="TextBox 10">
            <a:extLst xmlns:a="http://schemas.openxmlformats.org/drawingml/2006/main">
              <a:ext uri="{FF2B5EF4-FFF2-40B4-BE49-F238E27FC236}">
                <a16:creationId xmlns:a16="http://schemas.microsoft.com/office/drawing/2014/main" id="{963BDBEE-0957-43C6-A9F2-2B9BD3A59DA9}"/>
              </a:ext>
            </a:extLst>
          </p:cNvPr>
          <p:cNvSpPr>
            <a:spLocks xmlns:a="http://schemas.openxmlformats.org/drawingml/2006/main" noGrp="1"/>
          </p:cNvSpPr>
          <p:nvPr/>
        </p:nvSpPr>
        <p:spPr>
          <a:xfrm xmlns:a="http://schemas.openxmlformats.org/drawingml/2006/main">
            <a:off x="4443983" y="1810512"/>
            <a:ext cx="4041648" cy="448056"/>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050" b="0" i="0">
                <a:solidFill>
                  <a:srgbClr val="1E293B"/>
                </a:solidFill>
                <a:latin typeface="Aptos"/>
                <a:ea typeface="Aptos"/>
                <a:cs typeface="Aptos"/>
              </a:rPr>
              <a:t>200+ reviewed rows per label + legitimate controls</a:t>
            </a:r>
          </a:p>
        </p:txBody>
      </p:sp>
      <p:sp>
        <p:nvSpPr>
          <p:cNvPr id="12" name="Rounded Rectangle 11">
            <a:extLst xmlns:a="http://schemas.openxmlformats.org/drawingml/2006/main">
              <a:ext uri="{FF2B5EF4-FFF2-40B4-BE49-F238E27FC236}">
                <a16:creationId xmlns:a16="http://schemas.microsoft.com/office/drawing/2014/main" id="{38EC3EA4-EAC6-429B-8C28-2882CDBCCC29}"/>
              </a:ext>
            </a:extLst>
          </p:cNvPr>
          <p:cNvSpPr>
            <a:spLocks xmlns:a="http://schemas.openxmlformats.org/drawingml/2006/main" noGrp="1"/>
          </p:cNvSpPr>
          <p:nvPr/>
        </p:nvSpPr>
        <p:spPr>
          <a:xfrm xmlns:a="http://schemas.openxmlformats.org/drawingml/2006/main">
            <a:off x="3685032" y="2578608"/>
            <a:ext cx="438912" cy="310896"/>
          </a:xfrm>
          <a:prstGeom xmlns:a="http://schemas.openxmlformats.org/drawingml/2006/main" prst="roundRect">
            <a:avLst/>
          </a:prstGeom>
          <a:solidFill xmlns:a="http://schemas.openxmlformats.org/drawingml/2006/main">
            <a:srgbClr val="0097A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3" name="TextBox 12">
            <a:extLst xmlns:a="http://schemas.openxmlformats.org/drawingml/2006/main">
              <a:ext uri="{FF2B5EF4-FFF2-40B4-BE49-F238E27FC236}">
                <a16:creationId xmlns:a16="http://schemas.microsoft.com/office/drawing/2014/main" id="{804056A1-B18A-410E-9EBB-860A02CC7942}"/>
              </a:ext>
            </a:extLst>
          </p:cNvPr>
          <p:cNvSpPr>
            <a:spLocks xmlns:a="http://schemas.openxmlformats.org/drawingml/2006/main" noGrp="1"/>
          </p:cNvSpPr>
          <p:nvPr/>
        </p:nvSpPr>
        <p:spPr>
          <a:xfrm xmlns:a="http://schemas.openxmlformats.org/drawingml/2006/main">
            <a:off x="3703320" y="2592324"/>
            <a:ext cx="402336" cy="246888"/>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lgn="ctr">
              <a:buNone/>
            </a:pPr>
            <a:r>
              <a:rPr sz="1100" b="1" i="0">
                <a:solidFill>
                  <a:srgbClr val="FFFFFF"/>
                </a:solidFill>
                <a:latin typeface="Aptos"/>
                <a:ea typeface="Aptos"/>
                <a:cs typeface="Aptos"/>
              </a:rPr>
              <a:t>2</a:t>
            </a:r>
          </a:p>
        </p:txBody>
      </p:sp>
      <p:sp>
        <p:nvSpPr>
          <p:cNvPr id="14" name="Rounded Rectangle 13">
            <a:extLst xmlns:a="http://schemas.openxmlformats.org/drawingml/2006/main">
              <a:ext uri="{FF2B5EF4-FFF2-40B4-BE49-F238E27FC236}">
                <a16:creationId xmlns:a16="http://schemas.microsoft.com/office/drawing/2014/main" id="{700071A7-B232-40F0-A271-0C72147F690B}"/>
              </a:ext>
            </a:extLst>
          </p:cNvPr>
          <p:cNvSpPr>
            <a:spLocks xmlns:a="http://schemas.openxmlformats.org/drawingml/2006/main" noGrp="1"/>
          </p:cNvSpPr>
          <p:nvPr/>
        </p:nvSpPr>
        <p:spPr>
          <a:xfrm xmlns:a="http://schemas.openxmlformats.org/drawingml/2006/main">
            <a:off x="4279392" y="2487168"/>
            <a:ext cx="4315968" cy="960120"/>
          </a:xfrm>
          <a:prstGeom xmlns:a="http://schemas.openxmlformats.org/drawingml/2006/main" prst="roundRect">
            <a:avLst/>
          </a:prstGeom>
          <a:solidFill xmlns:a="http://schemas.openxmlformats.org/drawingml/2006/main">
            <a:srgbClr val="FFFFFF"/>
          </a:solidFill>
          <a:ln xmlns:a="http://schemas.openxmlformats.org/drawingml/2006/main" w="8890">
            <a:solidFill>
              <a:srgbClr val="E1E1E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5" name="Rectangle 14">
            <a:extLst xmlns:a="http://schemas.openxmlformats.org/drawingml/2006/main">
              <a:ext uri="{FF2B5EF4-FFF2-40B4-BE49-F238E27FC236}">
                <a16:creationId xmlns:a16="http://schemas.microsoft.com/office/drawing/2014/main" id="{7C0563E4-FE9E-4877-9A7B-426EB3CE028D}"/>
              </a:ext>
            </a:extLst>
          </p:cNvPr>
          <p:cNvSpPr>
            <a:spLocks xmlns:a="http://schemas.openxmlformats.org/drawingml/2006/main" noGrp="1"/>
          </p:cNvSpPr>
          <p:nvPr/>
        </p:nvSpPr>
        <p:spPr>
          <a:xfrm xmlns:a="http://schemas.openxmlformats.org/drawingml/2006/main">
            <a:off x="4279392" y="2487168"/>
            <a:ext cx="73152" cy="960120"/>
          </a:xfrm>
          <a:prstGeom xmlns:a="http://schemas.openxmlformats.org/drawingml/2006/main" prst="rect">
            <a:avLst/>
          </a:prstGeom>
          <a:solidFill xmlns:a="http://schemas.openxmlformats.org/drawingml/2006/main">
            <a:srgbClr val="0097A7"/>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6" name="TextBox 15">
            <a:extLst xmlns:a="http://schemas.openxmlformats.org/drawingml/2006/main">
              <a:ext uri="{FF2B5EF4-FFF2-40B4-BE49-F238E27FC236}">
                <a16:creationId xmlns:a16="http://schemas.microsoft.com/office/drawing/2014/main" id="{D2DBB12A-D9E3-4E1F-812E-DE4FB51D59BB}"/>
              </a:ext>
            </a:extLst>
          </p:cNvPr>
          <p:cNvSpPr>
            <a:spLocks xmlns:a="http://schemas.openxmlformats.org/drawingml/2006/main" noGrp="1"/>
          </p:cNvSpPr>
          <p:nvPr/>
        </p:nvSpPr>
        <p:spPr>
          <a:xfrm xmlns:a="http://schemas.openxmlformats.org/drawingml/2006/main">
            <a:off x="4443983" y="2596896"/>
            <a:ext cx="4041648" cy="336804"/>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250" b="1" i="0">
                <a:solidFill>
                  <a:srgbClr val="0097A7"/>
                </a:solidFill>
                <a:latin typeface="Aptos"/>
                <a:ea typeface="Aptos"/>
                <a:cs typeface="Aptos"/>
              </a:rPr>
              <a:t>Same-task model study</a:t>
            </a:r>
          </a:p>
        </p:txBody>
      </p:sp>
      <p:sp>
        <p:nvSpPr>
          <p:cNvPr id="17" name="TextBox 16">
            <a:extLst xmlns:a="http://schemas.openxmlformats.org/drawingml/2006/main">
              <a:ext uri="{FF2B5EF4-FFF2-40B4-BE49-F238E27FC236}">
                <a16:creationId xmlns:a16="http://schemas.microsoft.com/office/drawing/2014/main" id="{06B8539E-7FA2-4E91-8113-37AAE172BF8B}"/>
              </a:ext>
            </a:extLst>
          </p:cNvPr>
          <p:cNvSpPr>
            <a:spLocks xmlns:a="http://schemas.openxmlformats.org/drawingml/2006/main" noGrp="1"/>
          </p:cNvSpPr>
          <p:nvPr/>
        </p:nvSpPr>
        <p:spPr>
          <a:xfrm xmlns:a="http://schemas.openxmlformats.org/drawingml/2006/main">
            <a:off x="4443983" y="2926079"/>
            <a:ext cx="4041648" cy="448056"/>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050" b="0" i="0">
                <a:solidFill>
                  <a:srgbClr val="1E293B"/>
                </a:solidFill>
                <a:latin typeface="Aptos"/>
                <a:ea typeface="Aptos"/>
                <a:cs typeface="Aptos"/>
              </a:rPr>
              <a:t>Same labels, split and thresholds versus a Hinglish transformer</a:t>
            </a:r>
          </a:p>
        </p:txBody>
      </p:sp>
      <p:sp>
        <p:nvSpPr>
          <p:cNvPr id="18" name="Rounded Rectangle 17">
            <a:extLst xmlns:a="http://schemas.openxmlformats.org/drawingml/2006/main">
              <a:ext uri="{FF2B5EF4-FFF2-40B4-BE49-F238E27FC236}">
                <a16:creationId xmlns:a16="http://schemas.microsoft.com/office/drawing/2014/main" id="{88461138-0FAA-41D0-8434-1E3ACAE5A17B}"/>
              </a:ext>
            </a:extLst>
          </p:cNvPr>
          <p:cNvSpPr>
            <a:spLocks xmlns:a="http://schemas.openxmlformats.org/drawingml/2006/main" noGrp="1"/>
          </p:cNvSpPr>
          <p:nvPr/>
        </p:nvSpPr>
        <p:spPr>
          <a:xfrm xmlns:a="http://schemas.openxmlformats.org/drawingml/2006/main">
            <a:off x="3685032" y="3694176"/>
            <a:ext cx="438912" cy="310896"/>
          </a:xfrm>
          <a:prstGeom xmlns:a="http://schemas.openxmlformats.org/drawingml/2006/main" prst="roundRect">
            <a:avLst/>
          </a:prstGeom>
          <a:solidFill xmlns:a="http://schemas.openxmlformats.org/drawingml/2006/main">
            <a:srgbClr val="E2B11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19" name="TextBox 18">
            <a:extLst xmlns:a="http://schemas.openxmlformats.org/drawingml/2006/main">
              <a:ext uri="{FF2B5EF4-FFF2-40B4-BE49-F238E27FC236}">
                <a16:creationId xmlns:a16="http://schemas.microsoft.com/office/drawing/2014/main" id="{CD391BF2-E3CF-4A3F-B7A8-818DF8FACD2E}"/>
              </a:ext>
            </a:extLst>
          </p:cNvPr>
          <p:cNvSpPr>
            <a:spLocks xmlns:a="http://schemas.openxmlformats.org/drawingml/2006/main" noGrp="1"/>
          </p:cNvSpPr>
          <p:nvPr/>
        </p:nvSpPr>
        <p:spPr>
          <a:xfrm xmlns:a="http://schemas.openxmlformats.org/drawingml/2006/main">
            <a:off x="3703320" y="3707891"/>
            <a:ext cx="402336" cy="246888"/>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lgn="ctr">
              <a:buNone/>
            </a:pPr>
            <a:r>
              <a:rPr sz="1100" b="1" i="0">
                <a:solidFill>
                  <a:srgbClr val="FFFFFF"/>
                </a:solidFill>
                <a:latin typeface="Aptos"/>
                <a:ea typeface="Aptos"/>
                <a:cs typeface="Aptos"/>
              </a:rPr>
              <a:t>3</a:t>
            </a:r>
          </a:p>
        </p:txBody>
      </p:sp>
      <p:sp>
        <p:nvSpPr>
          <p:cNvPr id="20" name="Rounded Rectangle 19">
            <a:extLst xmlns:a="http://schemas.openxmlformats.org/drawingml/2006/main">
              <a:ext uri="{FF2B5EF4-FFF2-40B4-BE49-F238E27FC236}">
                <a16:creationId xmlns:a16="http://schemas.microsoft.com/office/drawing/2014/main" id="{D51AEB7B-3447-4F2B-AFBC-387F3AAE4971}"/>
              </a:ext>
            </a:extLst>
          </p:cNvPr>
          <p:cNvSpPr>
            <a:spLocks xmlns:a="http://schemas.openxmlformats.org/drawingml/2006/main" noGrp="1"/>
          </p:cNvSpPr>
          <p:nvPr/>
        </p:nvSpPr>
        <p:spPr>
          <a:xfrm xmlns:a="http://schemas.openxmlformats.org/drawingml/2006/main">
            <a:off x="4279392" y="3602736"/>
            <a:ext cx="4315968" cy="960120"/>
          </a:xfrm>
          <a:prstGeom xmlns:a="http://schemas.openxmlformats.org/drawingml/2006/main" prst="roundRect">
            <a:avLst/>
          </a:prstGeom>
          <a:solidFill xmlns:a="http://schemas.openxmlformats.org/drawingml/2006/main">
            <a:srgbClr val="FFFFFF"/>
          </a:solidFill>
          <a:ln xmlns:a="http://schemas.openxmlformats.org/drawingml/2006/main" w="8890">
            <a:solidFill>
              <a:srgbClr val="E1E1E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1" name="Rectangle 20">
            <a:extLst xmlns:a="http://schemas.openxmlformats.org/drawingml/2006/main">
              <a:ext uri="{FF2B5EF4-FFF2-40B4-BE49-F238E27FC236}">
                <a16:creationId xmlns:a16="http://schemas.microsoft.com/office/drawing/2014/main" id="{11169653-2FD9-4CA9-A64B-719765CF3070}"/>
              </a:ext>
            </a:extLst>
          </p:cNvPr>
          <p:cNvSpPr>
            <a:spLocks xmlns:a="http://schemas.openxmlformats.org/drawingml/2006/main" noGrp="1"/>
          </p:cNvSpPr>
          <p:nvPr/>
        </p:nvSpPr>
        <p:spPr>
          <a:xfrm xmlns:a="http://schemas.openxmlformats.org/drawingml/2006/main">
            <a:off x="4279392" y="3602736"/>
            <a:ext cx="73152" cy="960120"/>
          </a:xfrm>
          <a:prstGeom xmlns:a="http://schemas.openxmlformats.org/drawingml/2006/main" prst="rect">
            <a:avLst/>
          </a:prstGeom>
          <a:solidFill xmlns:a="http://schemas.openxmlformats.org/drawingml/2006/main">
            <a:srgbClr val="E2B11F"/>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2" name="TextBox 21">
            <a:extLst xmlns:a="http://schemas.openxmlformats.org/drawingml/2006/main">
              <a:ext uri="{FF2B5EF4-FFF2-40B4-BE49-F238E27FC236}">
                <a16:creationId xmlns:a16="http://schemas.microsoft.com/office/drawing/2014/main" id="{06CD8D0F-8B44-4F5F-9A52-DB9F85D77821}"/>
              </a:ext>
            </a:extLst>
          </p:cNvPr>
          <p:cNvSpPr>
            <a:spLocks xmlns:a="http://schemas.openxmlformats.org/drawingml/2006/main" noGrp="1"/>
          </p:cNvSpPr>
          <p:nvPr/>
        </p:nvSpPr>
        <p:spPr>
          <a:xfrm xmlns:a="http://schemas.openxmlformats.org/drawingml/2006/main">
            <a:off x="4443983" y="3712463"/>
            <a:ext cx="4041648" cy="336804"/>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250" b="1" i="0">
                <a:solidFill>
                  <a:srgbClr val="E2B11F"/>
                </a:solidFill>
                <a:latin typeface="Aptos"/>
                <a:ea typeface="Aptos"/>
                <a:cs typeface="Aptos"/>
              </a:rPr>
              <a:t>Field subsystem validation</a:t>
            </a:r>
          </a:p>
        </p:txBody>
      </p:sp>
      <p:sp>
        <p:nvSpPr>
          <p:cNvPr id="23" name="TextBox 22">
            <a:extLst xmlns:a="http://schemas.openxmlformats.org/drawingml/2006/main">
              <a:ext uri="{FF2B5EF4-FFF2-40B4-BE49-F238E27FC236}">
                <a16:creationId xmlns:a16="http://schemas.microsoft.com/office/drawing/2014/main" id="{9DB9D6C8-2EB3-49F5-9DFC-2071C4497945}"/>
              </a:ext>
            </a:extLst>
          </p:cNvPr>
          <p:cNvSpPr>
            <a:spLocks xmlns:a="http://schemas.openxmlformats.org/drawingml/2006/main" noGrp="1"/>
          </p:cNvSpPr>
          <p:nvPr/>
        </p:nvSpPr>
        <p:spPr>
          <a:xfrm xmlns:a="http://schemas.openxmlformats.org/drawingml/2006/main">
            <a:off x="4443983" y="4041648"/>
            <a:ext cx="4041648" cy="448056"/>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050" b="0" i="0">
                <a:solidFill>
                  <a:srgbClr val="1E293B"/>
                </a:solidFill>
                <a:latin typeface="Aptos"/>
                <a:ea typeface="Aptos"/>
                <a:cs typeface="Aptos"/>
              </a:rPr>
              <a:t>Natural screenshots + blinded labels + human draft rubric</a:t>
            </a:r>
          </a:p>
        </p:txBody>
      </p:sp>
      <p:sp>
        <p:nvSpPr>
          <p:cNvPr id="24" name="Rounded Rectangle 23">
            <a:extLst xmlns:a="http://schemas.openxmlformats.org/drawingml/2006/main">
              <a:ext uri="{FF2B5EF4-FFF2-40B4-BE49-F238E27FC236}">
                <a16:creationId xmlns:a16="http://schemas.microsoft.com/office/drawing/2014/main" id="{F092422B-C42B-41A0-81F0-DCA070B8C1EA}"/>
              </a:ext>
            </a:extLst>
          </p:cNvPr>
          <p:cNvSpPr>
            <a:spLocks xmlns:a="http://schemas.openxmlformats.org/drawingml/2006/main" noGrp="1"/>
          </p:cNvSpPr>
          <p:nvPr/>
        </p:nvSpPr>
        <p:spPr>
          <a:xfrm xmlns:a="http://schemas.openxmlformats.org/drawingml/2006/main">
            <a:off x="3685032" y="4809744"/>
            <a:ext cx="438912" cy="310896"/>
          </a:xfrm>
          <a:prstGeom xmlns:a="http://schemas.openxmlformats.org/drawingml/2006/main" prst="roundRect">
            <a:avLst/>
          </a:prstGeom>
          <a:solidFill xmlns:a="http://schemas.openxmlformats.org/drawingml/2006/main">
            <a:srgbClr val="237C5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5" name="TextBox 24">
            <a:extLst xmlns:a="http://schemas.openxmlformats.org/drawingml/2006/main">
              <a:ext uri="{FF2B5EF4-FFF2-40B4-BE49-F238E27FC236}">
                <a16:creationId xmlns:a16="http://schemas.microsoft.com/office/drawing/2014/main" id="{11E4C7AD-EEE9-41A7-826A-F650C9D9A5A6}"/>
              </a:ext>
            </a:extLst>
          </p:cNvPr>
          <p:cNvSpPr>
            <a:spLocks xmlns:a="http://schemas.openxmlformats.org/drawingml/2006/main" noGrp="1"/>
          </p:cNvSpPr>
          <p:nvPr/>
        </p:nvSpPr>
        <p:spPr>
          <a:xfrm xmlns:a="http://schemas.openxmlformats.org/drawingml/2006/main">
            <a:off x="3703320" y="4823459"/>
            <a:ext cx="402336" cy="246888"/>
          </a:xfrm>
          <a:prstGeom xmlns:a="http://schemas.openxmlformats.org/drawingml/2006/main" prst="rect">
            <a:avLst/>
          </a:prstGeom>
          <a:noFill xmlns:a="http://schemas.openxmlformats.org/drawingml/2006/main"/>
        </p:spPr>
        <p:txBody>
          <a:bodyPr xmlns:a="http://schemas.openxmlformats.org/drawingml/2006/main" wrap="none" lIns="0" tIns="0" rIns="0" bIns="0" anchor="ctr">
            <a:spAutoFit/>
          </a:bodyPr>
          <a:lstStyle xmlns:a="http://schemas.openxmlformats.org/drawingml/2006/main"/>
          <a:p xmlns:a="http://schemas.openxmlformats.org/drawingml/2006/main">
            <a:pPr algn="ctr">
              <a:buNone/>
            </a:pPr>
            <a:r>
              <a:rPr sz="1100" b="1" i="0">
                <a:solidFill>
                  <a:srgbClr val="FFFFFF"/>
                </a:solidFill>
                <a:latin typeface="Aptos"/>
                <a:ea typeface="Aptos"/>
                <a:cs typeface="Aptos"/>
              </a:rPr>
              <a:t>4</a:t>
            </a:r>
          </a:p>
        </p:txBody>
      </p:sp>
      <p:sp>
        <p:nvSpPr>
          <p:cNvPr id="26" name="Rounded Rectangle 25">
            <a:extLst xmlns:a="http://schemas.openxmlformats.org/drawingml/2006/main">
              <a:ext uri="{FF2B5EF4-FFF2-40B4-BE49-F238E27FC236}">
                <a16:creationId xmlns:a16="http://schemas.microsoft.com/office/drawing/2014/main" id="{E53F315B-C603-49F3-A0E4-D688997C413C}"/>
              </a:ext>
            </a:extLst>
          </p:cNvPr>
          <p:cNvSpPr>
            <a:spLocks xmlns:a="http://schemas.openxmlformats.org/drawingml/2006/main" noGrp="1"/>
          </p:cNvSpPr>
          <p:nvPr/>
        </p:nvSpPr>
        <p:spPr>
          <a:xfrm xmlns:a="http://schemas.openxmlformats.org/drawingml/2006/main">
            <a:off x="4279392" y="4718304"/>
            <a:ext cx="4315968" cy="960120"/>
          </a:xfrm>
          <a:prstGeom xmlns:a="http://schemas.openxmlformats.org/drawingml/2006/main" prst="roundRect">
            <a:avLst/>
          </a:prstGeom>
          <a:solidFill xmlns:a="http://schemas.openxmlformats.org/drawingml/2006/main">
            <a:srgbClr val="FFFFFF"/>
          </a:solidFill>
          <a:ln xmlns:a="http://schemas.openxmlformats.org/drawingml/2006/main" w="8890">
            <a:solidFill>
              <a:srgbClr val="E1E1E8"/>
            </a:solid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7" name="Rectangle 26">
            <a:extLst xmlns:a="http://schemas.openxmlformats.org/drawingml/2006/main">
              <a:ext uri="{FF2B5EF4-FFF2-40B4-BE49-F238E27FC236}">
                <a16:creationId xmlns:a16="http://schemas.microsoft.com/office/drawing/2014/main" id="{C8AA05C3-0F1F-4F63-8F60-6CEAFF4C25D9}"/>
              </a:ext>
            </a:extLst>
          </p:cNvPr>
          <p:cNvSpPr>
            <a:spLocks xmlns:a="http://schemas.openxmlformats.org/drawingml/2006/main" noGrp="1"/>
          </p:cNvSpPr>
          <p:nvPr/>
        </p:nvSpPr>
        <p:spPr>
          <a:xfrm xmlns:a="http://schemas.openxmlformats.org/drawingml/2006/main">
            <a:off x="4279392" y="4718304"/>
            <a:ext cx="73152" cy="960120"/>
          </a:xfrm>
          <a:prstGeom xmlns:a="http://schemas.openxmlformats.org/drawingml/2006/main" prst="rect">
            <a:avLst/>
          </a:prstGeom>
          <a:solidFill xmlns:a="http://schemas.openxmlformats.org/drawingml/2006/main">
            <a:srgbClr val="237C58"/>
          </a:solidFill>
          <a:ln xmlns:a="http://schemas.openxmlformats.org/drawingml/2006/main">
            <a:noFill/>
          </a:ln>
        </p:spPr>
        <p:style>
          <a:lnRef xmlns:a="http://schemas.openxmlformats.org/drawingml/2006/main" idx="1">
            <a:schemeClr val="accent1"/>
          </a:lnRef>
          <a:fillRef xmlns:a="http://schemas.openxmlformats.org/drawingml/2006/main" idx="3">
            <a:schemeClr val="accent1"/>
          </a:fillRef>
          <a:effectRef xmlns:a="http://schemas.openxmlformats.org/drawingml/2006/main" idx="2">
            <a:schemeClr val="accent1"/>
          </a:effectRef>
          <a:fontRef xmlns:a="http://schemas.openxmlformats.org/drawingml/2006/main" idx="minor">
            <a:schemeClr val="lt1"/>
          </a:fontRef>
        </p:style>
        <p:txBody>
          <a:bodyPr xmlns:a="http://schemas.openxmlformats.org/drawingml/2006/main" anchor="ctr"/>
          <a:lstStyle xmlns:a="http://schemas.openxmlformats.org/drawingml/2006/main"/>
          <a:p xmlns:a="http://schemas.openxmlformats.org/drawingml/2006/main">
            <a:pPr algn="ctr">
              <a:buNone/>
            </a:pPr>
          </a:p>
        </p:txBody>
      </p:sp>
      <p:sp>
        <p:nvSpPr>
          <p:cNvPr id="28" name="TextBox 27">
            <a:extLst xmlns:a="http://schemas.openxmlformats.org/drawingml/2006/main">
              <a:ext uri="{FF2B5EF4-FFF2-40B4-BE49-F238E27FC236}">
                <a16:creationId xmlns:a16="http://schemas.microsoft.com/office/drawing/2014/main" id="{73582ECC-EFDE-4A01-A89A-06FC50D17C0B}"/>
              </a:ext>
            </a:extLst>
          </p:cNvPr>
          <p:cNvSpPr>
            <a:spLocks xmlns:a="http://schemas.openxmlformats.org/drawingml/2006/main" noGrp="1"/>
          </p:cNvSpPr>
          <p:nvPr/>
        </p:nvSpPr>
        <p:spPr>
          <a:xfrm xmlns:a="http://schemas.openxmlformats.org/drawingml/2006/main">
            <a:off x="4443983" y="4828032"/>
            <a:ext cx="4041648" cy="336804"/>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250" b="1" i="0">
                <a:solidFill>
                  <a:srgbClr val="237C58"/>
                </a:solidFill>
                <a:latin typeface="Aptos"/>
                <a:ea typeface="Aptos"/>
                <a:cs typeface="Aptos"/>
              </a:rPr>
              <a:t>User + operations study</a:t>
            </a:r>
          </a:p>
        </p:txBody>
      </p:sp>
      <p:sp>
        <p:nvSpPr>
          <p:cNvPr id="29" name="TextBox 28">
            <a:extLst xmlns:a="http://schemas.openxmlformats.org/drawingml/2006/main">
              <a:ext uri="{FF2B5EF4-FFF2-40B4-BE49-F238E27FC236}">
                <a16:creationId xmlns:a16="http://schemas.microsoft.com/office/drawing/2014/main" id="{78DF4792-B8AA-4734-91A9-307900FFD439}"/>
              </a:ext>
            </a:extLst>
          </p:cNvPr>
          <p:cNvSpPr>
            <a:spLocks xmlns:a="http://schemas.openxmlformats.org/drawingml/2006/main" noGrp="1"/>
          </p:cNvSpPr>
          <p:nvPr/>
        </p:nvSpPr>
        <p:spPr>
          <a:xfrm xmlns:a="http://schemas.openxmlformats.org/drawingml/2006/main">
            <a:off x="4443983" y="5157216"/>
            <a:ext cx="4041648" cy="448056"/>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1050" b="0" i="0">
                <a:solidFill>
                  <a:srgbClr val="1E293B"/>
                </a:solidFill>
                <a:latin typeface="Aptos"/>
                <a:ea typeface="Aptos"/>
                <a:cs typeface="Aptos"/>
              </a:rPr>
              <a:t>Reviewer study + latency/RAM + access control + drift monitoring</a:t>
            </a:r>
          </a:p>
        </p:txBody>
      </p:sp>
      <p:sp>
        <p:nvSpPr>
          <p:cNvPr id="30" name="TextBox 29">
            <a:extLst xmlns:a="http://schemas.openxmlformats.org/drawingml/2006/main">
              <a:ext uri="{FF2B5EF4-FFF2-40B4-BE49-F238E27FC236}">
                <a16:creationId xmlns:a16="http://schemas.microsoft.com/office/drawing/2014/main" id="{3C56B256-1CAF-4314-9A7C-21F9084A433F}"/>
              </a:ext>
            </a:extLst>
          </p:cNvPr>
          <p:cNvSpPr>
            <a:spLocks xmlns:a="http://schemas.openxmlformats.org/drawingml/2006/main" noGrp="1"/>
          </p:cNvSpPr>
          <p:nvPr/>
        </p:nvSpPr>
        <p:spPr>
          <a:xfrm xmlns:a="http://schemas.openxmlformats.org/drawingml/2006/main">
            <a:off x="3675887" y="5925312"/>
            <a:ext cx="4892040" cy="384048"/>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ctr">
              <a:buNone/>
            </a:pPr>
            <a:r>
              <a:rPr sz="1150" b="1" i="0">
                <a:solidFill>
                  <a:srgbClr val="371455"/>
                </a:solidFill>
                <a:latin typeface="Aptos"/>
                <a:ea typeface="Aptos"/>
                <a:cs typeface="Aptos"/>
              </a:rPr>
              <a:t>Explainable evidence for a human decision, not an automated fraud verdict.</a:t>
            </a:r>
          </a:p>
        </p:txBody>
      </p:sp>
      <p:sp>
        <p:nvSpPr>
          <p:cNvPr id="31" name="TextBox 30">
            <a:extLst xmlns:a="http://schemas.openxmlformats.org/drawingml/2006/main">
              <a:ext uri="{FF2B5EF4-FFF2-40B4-BE49-F238E27FC236}">
                <a16:creationId xmlns:a16="http://schemas.microsoft.com/office/drawing/2014/main" id="{EAC73D14-6AB2-4988-B153-728A2AD9CC21}"/>
              </a:ext>
            </a:extLst>
          </p:cNvPr>
          <p:cNvSpPr>
            <a:spLocks xmlns:a="http://schemas.openxmlformats.org/drawingml/2006/main" noGrp="1"/>
          </p:cNvSpPr>
          <p:nvPr/>
        </p:nvSpPr>
        <p:spPr>
          <a:xfrm xmlns:a="http://schemas.openxmlformats.org/drawingml/2006/main">
            <a:off x="502920" y="6528816"/>
            <a:ext cx="7818120" cy="272796"/>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l">
              <a:buNone/>
            </a:pPr>
            <a:r>
              <a:rPr sz="830" b="0" i="0">
                <a:solidFill>
                  <a:srgbClr val="475569"/>
                </a:solidFill>
                <a:latin typeface="Aptos"/>
                <a:ea typeface="Aptos"/>
                <a:cs typeface="Aptos"/>
              </a:rPr>
              <a:t>Final release 1.0.0 | Evidence-backed, human-controlled | Thank you</a:t>
            </a:r>
          </a:p>
        </p:txBody>
      </p:sp>
      <p:sp>
        <p:nvSpPr>
          <p:cNvPr id="32" name="TextBox 31">
            <a:extLst xmlns:a="http://schemas.openxmlformats.org/drawingml/2006/main">
              <a:ext uri="{FF2B5EF4-FFF2-40B4-BE49-F238E27FC236}">
                <a16:creationId xmlns:a16="http://schemas.microsoft.com/office/drawing/2014/main" id="{2F2F6BE5-979B-4137-AF7B-85573150CEFB}"/>
              </a:ext>
            </a:extLst>
          </p:cNvPr>
          <p:cNvSpPr>
            <a:spLocks xmlns:a="http://schemas.openxmlformats.org/drawingml/2006/main" noGrp="1"/>
          </p:cNvSpPr>
          <p:nvPr/>
        </p:nvSpPr>
        <p:spPr>
          <a:xfrm xmlns:a="http://schemas.openxmlformats.org/drawingml/2006/main">
            <a:off x="8394192" y="6528816"/>
            <a:ext cx="274320" cy="182880"/>
          </a:xfrm>
          <a:prstGeom xmlns:a="http://schemas.openxmlformats.org/drawingml/2006/main" prst="rect">
            <a:avLst/>
          </a:prstGeom>
          <a:noFill xmlns:a="http://schemas.openxmlformats.org/drawingml/2006/main"/>
        </p:spPr>
        <p:txBody>
          <a:bodyPr xmlns:a="http://schemas.openxmlformats.org/drawingml/2006/main" wrap="none" lIns="73152" tIns="73152" rIns="73152" bIns="73152" anchor="t">
            <a:spAutoFit/>
          </a:bodyPr>
          <a:lstStyle xmlns:a="http://schemas.openxmlformats.org/drawingml/2006/main"/>
          <a:p xmlns:a="http://schemas.openxmlformats.org/drawingml/2006/main">
            <a:pPr algn="r">
              <a:buNone/>
            </a:pPr>
            <a:r>
              <a:rPr sz="800" b="1" i="0">
                <a:solidFill>
                  <a:srgbClr val="5B1D8C"/>
                </a:solidFill>
                <a:latin typeface="Aptos"/>
                <a:ea typeface="Aptos"/>
                <a:cs typeface="Aptos"/>
              </a:rPr>
              <a:t>10</a:t>
            </a:r>
          </a:p>
        </p:txBody>
      </p:sp>
    </p:spTree>
    <p:extLst>
      <p:ext uri="{BB962C8B-B14F-4D97-AF65-F5344CB8AC3E}">
        <p14:creationId xmlns:p14="http://schemas.microsoft.com/office/powerpoint/2010/main" val="1377888185"/>
      </p:ext>
    </p:extLst>
  </p:cSld>
</p:sld>
</file>

<file path=ppt/theme/theme1.xml><?xml version="1.0" encoding="utf-8"?>
<a:theme xmlns:a="http://schemas.openxmlformats.org/drawingml/2006/main" name="Capstone Meeting">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2026-08-12T18:42:43.7880000Z</dcterms:created>
  <dcterms:modified xsi:type="dcterms:W3CDTF">2026-08-12T18:42:43.7880000Z</dcterms:modified>
</coreProperties>
</file>